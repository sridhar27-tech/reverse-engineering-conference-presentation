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260" r:id="rId5"/>
    <p:sldId id="270" r:id="rId6"/>
    <p:sldId id="280" r:id="rId7"/>
    <p:sldId id="261" r:id="rId8"/>
    <p:sldId id="262" r:id="rId9"/>
    <p:sldId id="272" r:id="rId10"/>
    <p:sldId id="263" r:id="rId11"/>
    <p:sldId id="282" r:id="rId12"/>
    <p:sldId id="279" r:id="rId13"/>
    <p:sldId id="281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76600" y="152400"/>
            <a:ext cx="63150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15254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24000" y="1219200"/>
            <a:ext cx="8907145" cy="48710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Operations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Sub-Domain          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Explainable &amp; Deployable AI for Mental Health Risk Prediction</a:t>
            </a:r>
            <a:endParaRPr lang="en-US" altLang="en-US" sz="2000" b="1" dirty="0">
              <a:solidFill>
                <a:schemeClr val="tx1"/>
              </a:solidFill>
              <a:latin typeface="Calibri" panose="020F05020202040302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</a:t>
            </a: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Calibri" panose="020F05020202040302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  <a:latin typeface="Calibri" panose="020F0502020204030204"/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>
                <a:latin typeface="Calibri" panose="020F0502020204030204"/>
              </a:rPr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libri" panose="020F0502020204030204"/>
              </a:rPr>
              <a:t>Abstract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/>
              </a:rPr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b="1" dirty="0">
                <a:latin typeface="Calibri" panose="020F0502020204030204"/>
              </a:rPr>
              <a:t>Research Objectives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/>
              </a:rPr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/>
              </a:rPr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/>
              </a:rPr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/>
              </a:rPr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>
                <a:latin typeface="Calibri" panose="020F0502020204030204"/>
              </a:rPr>
              <a:t>Project Improvements &amp; Key Innovations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Calibri" panose="020F0502020204030204"/>
              </a:rPr>
              <a:t> </a:t>
            </a:r>
            <a:r>
              <a:rPr lang="en-US" altLang="en-US" sz="2000" b="1" dirty="0">
                <a:latin typeface="Calibri" panose="020F0502020204030204"/>
              </a:rPr>
              <a:t>Before (Baseline): </a:t>
            </a:r>
            <a:endParaRPr lang="en-US" altLang="en-US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/>
              </a:rPr>
              <a:t>Black-box BERT models with high accuracy but no transparency, minimal deployment readiness, and limited clinical trust.</a:t>
            </a:r>
            <a:endParaRPr lang="en-US" altLang="en-US" sz="16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Current Improvements:</a:t>
            </a:r>
            <a:endParaRPr lang="en-US" altLang="en-US" sz="2000" b="1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Systematic reverse engineering of fine-tuned BERT/MentalBERT models to uncover learned linguistic/emotional patterns (hopelessness, urgency, isolation).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Implementing SHAP attributions, attention visualization, and probing to understand model internals.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Laying foundations for MLOps (tracking, basic versioning).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Starting model compression for on-device inference.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Early bias audits and ethical/privacy reviews.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Progress toward cross-platform deployment.</a:t>
            </a:r>
            <a:endParaRPr lang="en-US" altLang="en-US" sz="2000" b="1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Impact So Far: </a:t>
            </a:r>
            <a:endParaRPr lang="en-US" altLang="en-US" sz="2000" b="1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Better model understanding, initial explainability, and a clearer path to responsible deployment.</a:t>
            </a:r>
            <a:endParaRPr lang="en-US" altLang="en-US" sz="1600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Interpreting complex attention patterns in transformer layers</a:t>
            </a:r>
            <a:endParaRPr lang="en-US" altLang="en-US" sz="16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Deployment Direction: </a:t>
            </a:r>
            <a:endParaRPr lang="en-US" altLang="en-US" sz="2000" b="1" dirty="0"/>
          </a:p>
          <a:p>
            <a:pPr algn="just"/>
            <a:r>
              <a:rPr lang="en-US" altLang="en-US" sz="1600" dirty="0">
                <a:latin typeface="Calibri" panose="020F0502020204030204"/>
              </a:rPr>
              <a:t>TensorFlow Lite, ONNX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altLang="en-US" sz="3200" b="1" i="1" dirty="0">
                <a:latin typeface="Calibri" panose="020F0502020204030204"/>
                <a:sym typeface="+mn-ea"/>
              </a:rPr>
              <a:t>Technical Stack &amp; Algorithms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983595" cy="5226685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Core Models: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BERT-base-uncased, MentalBERT (fine-tuned on UMD/CLPsych datasets)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Reverse Engineering Techniques: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SHAP (KernelSHAP for token importance).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Attention visualization (BertViz).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Probing experiments on hidden layers.</a:t>
            </a:r>
            <a:endParaRPr lang="en-US" altLang="en-US" sz="2000" b="1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Current Tools: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Python + Hugging Face Transformers.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Basic scripts (main.py, model.py, pipeline.py).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Early MLOps: MLflow/Optuna explorations.</a:t>
            </a:r>
            <a:endParaRPr lang="en-US" altLang="en-US" sz="2000" b="1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Algorithms in Focus: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Token attribution, attention analysis, quantization/pruning.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Concept Activation Vectors (TCAV), Early experiments to measure alignment between model activations and clinical concepts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altLang="en-US" sz="3200" b="1" i="1" dirty="0">
                <a:latin typeface="Calibri" panose="020F0502020204030204"/>
                <a:sym typeface="+mn-ea"/>
              </a:rPr>
              <a:t>Dataset Details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983595" cy="5226685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Source: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 UMD Reddit Suicidality Dataset and CLPsych Shared Task corpus (clinician-annotated, de-identified Reddit posts).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Size: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~500 users / ~11,000 posts across risk categories (No Risk, Low, Moderate, Severe, Attempt), per CLPsych 2019 annotation scheme.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Features: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Raw post text, timestamp, subreddit metadata, and derived linguistic features (LIWC categories, sentiment scores, n-grams) used alongside BERT embeddings.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Preprocessing: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De-identification, tokenization (WordPiece), removal of moderator/bot posts, class-imbalance handling via stratified sampling, and train/validation/test splits by user (not by post) to avoid leakage.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Relevance to Proposed Work: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 Provides the clinically-annotated ground truth needed to validate that reverse-engineered model signals (hopelessness, urgency, isolation) align with real clinical risk levels.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>
                <a:latin typeface="Calibri" panose="020F0502020204030204"/>
              </a:rPr>
              <a:t>Project State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Before state of the project: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Basic prediction scripts.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Raw risk scores with no explanations.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No auditing or compression.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Desktop-only, privacy risks.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Current state of the project(version 0):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Reverse-engineered insights into model behavior.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Initial SHAP-highlighted explanations.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Versioned pipeline improvements 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Early on-device readiness and XAI integration.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Better understanding and auditability</a:t>
            </a:r>
            <a:r>
              <a:rPr lang="en-US" altLang="en-US" sz="1600" b="1" dirty="0">
                <a:latin typeface="Calibri" panose="020F0502020204030204"/>
              </a:rPr>
              <a:t>.</a:t>
            </a:r>
            <a:endParaRPr lang="en-US" altLang="en-US" sz="1600" b="1" dirty="0"/>
          </a:p>
          <a:p>
            <a:pPr marL="0" indent="0">
              <a:buNone/>
            </a:pPr>
            <a:endParaRPr lang="en-US" altLang="en-US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7346950" cy="768985"/>
          </a:xfrm>
        </p:spPr>
        <p:txBody>
          <a:bodyPr>
            <a:normAutofit/>
          </a:bodyPr>
          <a:lstStyle/>
          <a:p>
            <a:r>
              <a:rPr lang="en-US" altLang="en-US" sz="3200" b="1" i="1" dirty="0">
                <a:latin typeface="Calibri" panose="020F0502020204030204"/>
              </a:rPr>
              <a:t>Loopholes/Gaps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44729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Before: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Opaque black-box decisions (low trust).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No explainability or clinical alignment.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Deployment and privacy issues.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Unaddressed biases and robustness gaps.</a:t>
            </a:r>
            <a:endParaRPr lang="en-US" altLang="en-US" sz="1800" dirty="0"/>
          </a:p>
          <a:p>
            <a:pPr algn="just"/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Current: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Addressed: Initial transparency via SHAP/attention; better pattern understanding; privacy foundations.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Remaining Loopholes: Full MLOps not complete, comprehensive clinical validation pending, multimodal expansion needed, full cross-platform testing ongoing.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Overall: Significant reduction in opacity; stronger foundation for responsible AI.</a:t>
            </a:r>
            <a:endParaRPr lang="en-US" altLang="en-US" sz="1800" dirty="0"/>
          </a:p>
          <a:p>
            <a:pPr algn="just"/>
            <a:endParaRPr lang="en-US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948930" cy="805815"/>
          </a:xfrm>
        </p:spPr>
        <p:txBody>
          <a:bodyPr/>
          <a:p>
            <a:r>
              <a:rPr lang="en-US" b="1" dirty="0">
                <a:latin typeface="Calibri" panose="020F0502020204030204"/>
                <a:sym typeface="+mn-ea"/>
              </a:rPr>
              <a:t>   </a:t>
            </a:r>
            <a:r>
              <a:rPr lang="en-US" sz="3200" b="1" i="1" dirty="0">
                <a:latin typeface="Calibri" panose="020F0502020204030204"/>
                <a:sym typeface="+mn-ea"/>
              </a:rPr>
              <a:t> </a:t>
            </a:r>
            <a:r>
              <a:rPr lang="en-US" altLang="en-US" sz="3200" b="1" i="1" dirty="0">
                <a:latin typeface="Calibri" panose="020F0502020204030204"/>
                <a:sym typeface="+mn-ea"/>
              </a:rPr>
              <a:t>Challenges, Lessons &amp; Roadmap Ahead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490"/>
            <a:ext cx="10515600" cy="4351338"/>
          </a:xfrm>
        </p:spPr>
        <p:txBody>
          <a:bodyPr/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Challenges in Reverse Engineering So Far: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Interpreting complex attention patterns in transformer layers.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Balancing model compression with accuracy retention.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Handling dataset biases (Reddit-heavy data vs. clinical diversity).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Computational constraints during probing/SHAP on large models.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Ethical navigation (sensitive mental health domain).</a:t>
            </a:r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Key Lessons Learned: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Reverse engineering reveals clinically meaningful signals even without explicit training.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Early XAI integration saves time in later validation.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Version control and modular code  are essential.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On-device focus forces efficient, privacy-first design from the start.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605145" y="70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altLang="en-US" sz="3200" b="1" i="1" dirty="0">
                <a:latin typeface="Calibri" panose="020F0502020204030204"/>
              </a:rPr>
              <a:t>Challenges, Lessons &amp; Roadmap Ahead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Calibri" panose="020F0502020204030204"/>
              </a:rPr>
              <a:t> </a:t>
            </a:r>
            <a:r>
              <a:rPr lang="en-US" altLang="en-US" sz="2000" b="1" dirty="0">
                <a:latin typeface="Calibri" panose="020F0502020204030204"/>
              </a:rPr>
              <a:t>Next Steps for improving: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Complete full MLOps pipeline and CI/CD.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Expand to multimodal (text + EEG if available).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Larger clinician feedback loop for explanations.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Full cross-platform testing and adversarial robustness hardening.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Prepare for conference submission with quantitative benchmarks.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>
                <a:latin typeface="Calibri" panose="020F0502020204030204"/>
              </a:rPr>
              <a:t>Plan of Implementation in the Operating System:</a:t>
            </a:r>
            <a:endParaRPr lang="en-US" altLang="en-US" sz="2000" b="1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Use eBPF + kprobes as the Core Engine (Safe, powerful, and production-grade)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Use inotify or D-Bus to watch specific allowed directories/files (with permission)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Rate limiting on monitoring.</a:t>
            </a:r>
            <a:endParaRPr lang="en-US" altLang="en-US" sz="1800" dirty="0"/>
          </a:p>
          <a:p>
            <a:pPr algn="just"/>
            <a:r>
              <a:rPr lang="en-US" altLang="en-US" sz="1800" dirty="0">
                <a:latin typeface="Calibri" panose="020F0502020204030204"/>
              </a:rPr>
              <a:t>Kill switch and audit logs for the user.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altLang="en-US" sz="3200" b="1" i="1" dirty="0">
                <a:latin typeface="Calibri" panose="020F0502020204030204"/>
              </a:rPr>
              <a:t>Construction Flow</a:t>
            </a:r>
            <a:endParaRPr lang="en-US" altLang="en-US" sz="3200" b="1" i="1" dirty="0"/>
          </a:p>
        </p:txBody>
      </p:sp>
      <p:pic>
        <p:nvPicPr>
          <p:cNvPr id="4" name="Construction Flow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2580" y="1242060"/>
            <a:ext cx="3927475" cy="4606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250"/>
          </a:xfrm>
        </p:spPr>
        <p:txBody>
          <a:bodyPr/>
          <a:p>
            <a:r>
              <a:rPr lang="en-US" altLang="en-US" sz="2800" b="1">
                <a:latin typeface="Calibri" panose="020F0502020204030204"/>
              </a:rPr>
              <a:t>Literature Survey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665"/>
            <a:ext cx="10515600" cy="4697095"/>
          </a:xfrm>
        </p:spPr>
        <p:txBody>
          <a:bodyPr>
            <a:normAutofit lnSpcReduction="10000"/>
          </a:bodyPr>
          <a:p>
            <a:pPr algn="just"/>
            <a:r>
              <a:rPr lang="en-US" altLang="en-US" sz="2000">
                <a:latin typeface="Calibri" panose="020F0502020204030204"/>
                <a:sym typeface="+mn-ea"/>
              </a:rPr>
              <a:t>Pascal Penava et al.(2025)—</a:t>
            </a:r>
            <a:r>
              <a:rPr lang="en-US" altLang="en-US" sz="2000">
                <a:latin typeface="Calibri" panose="020F0502020204030204"/>
              </a:rPr>
              <a:t>Early-Stage Non-Severe Depression Detection Using a Novel CNN Approach on Resting-State EEG Data (2024) — IEEE.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Ji et al. (2021) — Review of machine learning methods for suicidal ideation detection.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Ophir et al. (2020) — Deep neural networks applied to Facebook posts for risk detection.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Tadesse et al. (2020) — Deep learning approaches on social media forums.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Gaur et al. (2019) — Knowledge-aware severity assessment of suicidal ideation.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Coppersmith et al. (2018) — NLP of social media for suicide risk screening.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Lundberg &amp; Lee (2017) — SHAP: A unified approach to interpreting model predictions.</a:t>
            </a:r>
            <a:endParaRPr lang="en-US" altLang="en-US" sz="2000"/>
          </a:p>
          <a:p>
            <a:pPr algn="just"/>
            <a:r>
              <a:rPr lang="en-US" altLang="en-US" sz="2000">
                <a:latin typeface="Calibri" panose="020F0502020204030204"/>
              </a:rPr>
              <a:t>Ribeiro et al. (2016) — LIME: Explaining the predictions of any classifier.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250"/>
          </a:xfrm>
        </p:spPr>
        <p:txBody>
          <a:bodyPr/>
          <a:p>
            <a:r>
              <a:rPr lang="en-US" altLang="en-US" sz="2800" b="1">
                <a:latin typeface="Calibri" panose="020F0502020204030204"/>
              </a:rPr>
              <a:t>References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665"/>
            <a:ext cx="10515600" cy="4697095"/>
          </a:xfrm>
        </p:spPr>
        <p:txBody>
          <a:bodyPr>
            <a:normAutofit/>
          </a:bodyPr>
          <a:p>
            <a:pPr algn="just"/>
            <a:r>
              <a:rPr lang="en-US" altLang="en-US" sz="2000" b="1">
                <a:latin typeface="Calibri" panose="020F0502020204030204"/>
              </a:rPr>
              <a:t>Book References:</a:t>
            </a:r>
            <a:endParaRPr lang="en-US" altLang="en-US" sz="2000" b="1">
              <a:latin typeface="Calibri" panose="020F0502020204030204"/>
            </a:endParaRPr>
          </a:p>
          <a:p>
            <a:pPr lvl="1" algn="just"/>
            <a:r>
              <a:rPr lang="en-US" altLang="en-US" sz="2000">
                <a:latin typeface="Calibri" panose="020F0502020204030204"/>
              </a:rPr>
              <a:t>Molnar, C. (2022). Interpretable Machine Learning: A Guide for Making Black Box Models Explainable (2nd ed.). independently published.</a:t>
            </a:r>
            <a:endParaRPr lang="en-US" altLang="en-US" sz="2000">
              <a:latin typeface="Calibri" panose="020F0502020204030204"/>
            </a:endParaRPr>
          </a:p>
          <a:p>
            <a:pPr algn="just"/>
            <a:r>
              <a:rPr lang="en-US" altLang="en-US" sz="2000" b="0">
                <a:latin typeface="Calibri" panose="020F0502020204030204"/>
              </a:rPr>
              <a:t> </a:t>
            </a:r>
            <a:r>
              <a:rPr lang="en-US" altLang="en-US" sz="2000" b="1">
                <a:latin typeface="Calibri" panose="020F0502020204030204"/>
              </a:rPr>
              <a:t>Web References:</a:t>
            </a:r>
            <a:endParaRPr lang="en-US" altLang="en-US" sz="2000"/>
          </a:p>
          <a:p>
            <a:pPr algn="just"/>
            <a:r>
              <a:rPr lang="en-US" altLang="en-US" sz="2000" b="0">
                <a:latin typeface="Calibri" panose="020F0502020204030204"/>
              </a:rPr>
              <a:t> Pascal Penava et al.(2025) </a:t>
            </a:r>
            <a:r>
              <a:rPr lang="en-US" altLang="en-US" sz="2000">
                <a:latin typeface="Calibri" panose="020F0502020204030204"/>
                <a:sym typeface="+mn-ea"/>
              </a:rPr>
              <a:t>— </a:t>
            </a:r>
            <a:r>
              <a:rPr lang="en-US" altLang="en-US" sz="2000" b="0">
                <a:latin typeface="Calibri" panose="020F0502020204030204"/>
              </a:rPr>
              <a:t>Early-Stage Non-Severe Depression Detection Using a Novel CNN Approach on Resting-State EEG Data — https://ieeexplore.ieee.org/document/10757418</a:t>
            </a:r>
            <a:endParaRPr lang="en-US" altLang="en-US" sz="2000"/>
          </a:p>
          <a:p>
            <a:pPr algn="just"/>
            <a:r>
              <a:rPr lang="en-US" altLang="en-US" sz="2000" b="0">
                <a:latin typeface="Calibri" panose="020F0502020204030204"/>
              </a:rPr>
              <a:t> Coppersmith et al. (2018) — https://journals.sagepub.com/doi/full/10.1177/1178222618792860</a:t>
            </a:r>
            <a:endParaRPr lang="en-US" altLang="en-US" sz="2000"/>
          </a:p>
          <a:p>
            <a:pPr algn="just"/>
            <a:r>
              <a:rPr lang="en-US" altLang="en-US" sz="2000" b="0">
                <a:latin typeface="Calibri" panose="020F0502020204030204"/>
              </a:rPr>
              <a:t> Ji et al. (2021) — https://ieeexplore.ieee.org/document/9199553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                                                              </a:t>
            </a:r>
            <a:r>
              <a:rPr lang="en-US" sz="38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    </a:t>
            </a:r>
            <a:r>
              <a:rPr lang="en-US" sz="28800" b="1" i="1">
                <a:latin typeface="Calibri" panose="020F0502020204030204"/>
              </a:rPr>
              <a:t>THANK YOU</a:t>
            </a:r>
            <a:r>
              <a:rPr lang="en-US" sz="38400" b="1" i="1">
                <a:latin typeface="Calibri" panose="020F0502020204030204"/>
              </a:rPr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7316</Words>
  <Application>WPS Presentation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Helvetica</vt:lpstr>
      <vt:lpstr>Calibri</vt:lpstr>
      <vt:lpstr>Times New Roman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Project Improvements &amp; Key Innovations</vt:lpstr>
      <vt:lpstr>Technical Stack &amp; Algorithms</vt:lpstr>
      <vt:lpstr>Dataset Details</vt:lpstr>
      <vt:lpstr>Project State – Before vs. Current</vt:lpstr>
      <vt:lpstr>Loopholes/Gaps – Before vs. Current</vt:lpstr>
      <vt:lpstr>    Challenges, Lessons &amp; Roadmap Ahead</vt:lpstr>
      <vt:lpstr>Challenges, Lessons &amp; Roadmap Ahead</vt:lpstr>
      <vt:lpstr>Construction Flow</vt:lpstr>
      <vt:lpstr>Literature Survey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Sridhar.M</cp:lastModifiedBy>
  <cp:revision>165</cp:revision>
  <dcterms:created xsi:type="dcterms:W3CDTF">2006-08-16T00:00:00Z</dcterms:created>
  <dcterms:modified xsi:type="dcterms:W3CDTF">2026-07-15T03:49:50Z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3B150D46A83F426F81CA23F6F2AEFF82_13</vt:lpwstr>
  </property>
  <property fmtid="{D5CDD505-2E9C-101B-9397-08002B2CF9AE}" pid="4" name="ContentTypeId">
    <vt:lpwstr>0x01010098F1BCB14E108D43AB233A31F986D556</vt:lpwstr>
  </property>
</Properties>
</file>