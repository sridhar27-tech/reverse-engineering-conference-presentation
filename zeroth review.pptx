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60" r:id="rId5"/>
    <p:sldId id="270" r:id="rId6"/>
    <p:sldId id="261" r:id="rId7"/>
    <p:sldId id="262" r:id="rId8"/>
    <p:sldId id="272" r:id="rId9"/>
    <p:sldId id="263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ustomXml" Target="../customXml/item3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A17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Machine Learning (MLOps)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4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Suicide Risk Prediction Models with Clinical Explainability</a:t>
            </a:r>
            <a:endParaRPr lang="en-US" altLang="en-US" sz="1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Ms.M. RAJALAKSHMI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Maha mathesh raja B (727624BAD031)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irfan basha R (727624BAD009)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Sridhar M (727624BAD091)</a:t>
            </a:r>
            <a:endParaRPr lang="en-IN" sz="24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Reverse Engineering Suicide Prediction Models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530"/>
            <a:ext cx="10515600" cy="460375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sz="2400" b="1" dirty="0"/>
              <a:t>Abstract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/>
              <a:t>Over 700,000 people die by suicide worldwide every year. This paper reverse-engineers what BERT-based suicide risk classifiers actually learn — identifying linguistic patterns, emotional signals, and phrasing structures — and builds a complete MLOps pipeline for cross-platform deployment (Android, iOS, Windows, macOS, Linux) with clinician-facing explainability.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Research Objectives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/>
              <a:t>1.  Understand what a trained suicide prediction model has actually learned — features, patterns, and clinical alignment.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2.  Design and implement an MLOps pipeline from research notebook to production system with versioning, testing, and monitoring.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3.  Deploy across mobile (Android, iOS) and desktop (Windows, macOS, Linux) without sacrificing meaningful accuracy.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4.  Make predictions explainable in terms clinicians — not just data scientists — can act 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1305"/>
          </a:xfrm>
        </p:spPr>
        <p:txBody>
          <a:bodyPr>
            <a:normAutofit fontScale="90000"/>
          </a:bodyPr>
          <a:lstStyle/>
          <a:p>
            <a:r>
              <a:rPr lang="en-US" altLang="en-US" sz="3200" b="1" i="1" dirty="0"/>
              <a:t>Project Improvements &amp; Key Innovations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8830"/>
            <a:ext cx="10515600" cy="549846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/>
              <a:t> </a:t>
            </a:r>
            <a:r>
              <a:rPr lang="en-US" altLang="en-US" sz="2000" b="1" dirty="0"/>
              <a:t>Before (Baseline): </a:t>
            </a:r>
            <a:endParaRPr lang="en-US" altLang="en-US" sz="2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/>
              <a:t>Black-box BERT models with high accuracy but no transparency, minimal deployment readiness, and limited clinical trust.</a:t>
            </a:r>
            <a:endParaRPr lang="en-US" altLang="en-US" sz="1600" dirty="0"/>
          </a:p>
          <a:p>
            <a:pPr marL="0" indent="0">
              <a:buNone/>
            </a:pPr>
            <a:r>
              <a:rPr lang="en-US" altLang="en-US" sz="2000" b="1" dirty="0"/>
              <a:t>Current Improvements:</a:t>
            </a:r>
            <a:endParaRPr lang="en-US" altLang="en-US" sz="2000" b="1" dirty="0"/>
          </a:p>
          <a:p>
            <a:r>
              <a:rPr lang="en-US" altLang="en-US" sz="1600" dirty="0"/>
              <a:t>Systematic reverse engineering of fine-tuned BERT/MentalBERT models to uncover learned linguistic/emotional patterns (hopelessness, urgency, isolation).</a:t>
            </a:r>
            <a:endParaRPr lang="en-US" altLang="en-US" sz="1600" dirty="0"/>
          </a:p>
          <a:p>
            <a:r>
              <a:rPr lang="en-US" altLang="en-US" sz="1600" dirty="0"/>
              <a:t>Implementing SHAP attributions, attention visualization, and probing to understand model internals.</a:t>
            </a:r>
            <a:endParaRPr lang="en-US" altLang="en-US" sz="1600" dirty="0"/>
          </a:p>
          <a:p>
            <a:r>
              <a:rPr lang="en-US" altLang="en-US" sz="1600" dirty="0"/>
              <a:t>Laying foundations for MLOps (tracking, basic versioning).</a:t>
            </a:r>
            <a:endParaRPr lang="en-US" altLang="en-US" sz="1600" dirty="0"/>
          </a:p>
          <a:p>
            <a:r>
              <a:rPr lang="en-US" altLang="en-US" sz="1600" dirty="0"/>
              <a:t>Starting model compression for on-device inference.</a:t>
            </a:r>
            <a:endParaRPr lang="en-US" altLang="en-US" sz="1600" dirty="0"/>
          </a:p>
          <a:p>
            <a:r>
              <a:rPr lang="en-US" altLang="en-US" sz="1600" dirty="0"/>
              <a:t>Early bias audits and ethical/privacy reviews.</a:t>
            </a:r>
            <a:endParaRPr lang="en-US" altLang="en-US" sz="1600" dirty="0"/>
          </a:p>
          <a:p>
            <a:r>
              <a:rPr lang="en-US" altLang="en-US" sz="1600" dirty="0"/>
              <a:t>Progress toward cross-platform deployment.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Impact So Far: </a:t>
            </a:r>
            <a:endParaRPr lang="en-US" altLang="en-US" sz="2000" b="1" dirty="0"/>
          </a:p>
          <a:p>
            <a:r>
              <a:rPr lang="en-US" altLang="en-US" sz="1600" dirty="0"/>
              <a:t>Better model understanding, initial explainability, and a clearer path to responsible deployment.</a:t>
            </a:r>
            <a:endParaRPr lang="en-US" altLang="en-US" sz="1600" dirty="0"/>
          </a:p>
          <a:p>
            <a:r>
              <a:rPr lang="en-US" altLang="en-US" sz="1600" dirty="0"/>
              <a:t>Interpreting complex attention patterns in transformer layers</a:t>
            </a:r>
            <a:endParaRPr lang="en-US" altLang="en-US" sz="1600" dirty="0"/>
          </a:p>
          <a:p>
            <a:pPr marL="0" indent="0">
              <a:buNone/>
            </a:pPr>
            <a:r>
              <a:rPr lang="en-US" altLang="en-US" sz="2000" b="1" dirty="0"/>
              <a:t>Deployment Direction: </a:t>
            </a:r>
            <a:endParaRPr lang="en-US" altLang="en-US" sz="2000" b="1" dirty="0"/>
          </a:p>
          <a:p>
            <a:r>
              <a:rPr lang="en-US" altLang="en-US" sz="1600" dirty="0"/>
              <a:t>TensorFlow Lite, ONNX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132715"/>
          </a:xfrm>
        </p:spPr>
        <p:txBody>
          <a:bodyPr>
            <a:noAutofit/>
          </a:bodyPr>
          <a:p>
            <a:r>
              <a:rPr lang="en-US" altLang="en-US" sz="3200" b="1" i="1" dirty="0">
                <a:sym typeface="+mn-ea"/>
              </a:rPr>
              <a:t>Technical Stack &amp; Algorithms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7700"/>
            <a:ext cx="10983595" cy="52266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 dirty="0"/>
              <a:t>Core Models:</a:t>
            </a:r>
            <a:endParaRPr lang="en-US" altLang="en-US" sz="2000" b="1" dirty="0"/>
          </a:p>
          <a:p>
            <a:r>
              <a:rPr lang="en-US" altLang="en-US" sz="1800" dirty="0"/>
              <a:t> BERT-base-uncased, MentalBERT (fine-tuned on UMD/CLPsych datasets)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Reverse Engineering Techniques:</a:t>
            </a:r>
            <a:endParaRPr lang="en-US" altLang="en-US" sz="2000" b="1" dirty="0"/>
          </a:p>
          <a:p>
            <a:r>
              <a:rPr lang="en-US" altLang="en-US" sz="1800" dirty="0"/>
              <a:t>SHAP (KernelSHAP for token importance).</a:t>
            </a:r>
            <a:endParaRPr lang="en-US" altLang="en-US" sz="1800" dirty="0"/>
          </a:p>
          <a:p>
            <a:r>
              <a:rPr lang="en-US" altLang="en-US" sz="1800" dirty="0"/>
              <a:t>Attention visualization (BertViz).</a:t>
            </a:r>
            <a:endParaRPr lang="en-US" altLang="en-US" sz="1800" dirty="0"/>
          </a:p>
          <a:p>
            <a:r>
              <a:rPr lang="en-US" altLang="en-US" sz="1800" dirty="0"/>
              <a:t>Probing experiments on hidden layers.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Current Tools:</a:t>
            </a:r>
            <a:endParaRPr lang="en-US" altLang="en-US" sz="2000" b="1" dirty="0"/>
          </a:p>
          <a:p>
            <a:r>
              <a:rPr lang="en-US" altLang="en-US" sz="1800" dirty="0"/>
              <a:t>Python + Hugging Face Transformers.</a:t>
            </a:r>
            <a:endParaRPr lang="en-US" altLang="en-US" sz="1800" dirty="0"/>
          </a:p>
          <a:p>
            <a:r>
              <a:rPr lang="en-US" altLang="en-US" sz="1800" dirty="0"/>
              <a:t>Basic scripts (main.py, model.py, pipeline.py).</a:t>
            </a:r>
            <a:endParaRPr lang="en-US" altLang="en-US" sz="1800" dirty="0"/>
          </a:p>
          <a:p>
            <a:r>
              <a:rPr lang="en-US" altLang="en-US" sz="1800" dirty="0"/>
              <a:t>Early MLOps: MLflow/Optuna explorations.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Algorithms in Focus:</a:t>
            </a:r>
            <a:endParaRPr lang="en-US" altLang="en-US" sz="2000" b="1" dirty="0"/>
          </a:p>
          <a:p>
            <a:r>
              <a:rPr lang="en-US" altLang="en-US" sz="1800" dirty="0"/>
              <a:t> Token attribution, attention analysis, quantization/pruning.</a:t>
            </a:r>
            <a:endParaRPr lang="en-US" altLang="en-US" sz="1800" dirty="0"/>
          </a:p>
          <a:p>
            <a:r>
              <a:rPr lang="en-US" altLang="en-US" sz="1800" dirty="0"/>
              <a:t>Concept Activation Vectors (TCAV), Early experiments to measure alignment between model activations and clinical concepts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5135"/>
          </a:xfrm>
        </p:spPr>
        <p:txBody>
          <a:bodyPr>
            <a:normAutofit fontScale="90000"/>
          </a:bodyPr>
          <a:lstStyle/>
          <a:p>
            <a:r>
              <a:rPr lang="en-US" altLang="en-US" sz="3200" b="1" i="1" dirty="0"/>
              <a:t>Project State – Before vs. Current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6315"/>
            <a:ext cx="10515600" cy="518096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sz="2000" b="1" dirty="0"/>
              <a:t>Before state of the project:</a:t>
            </a:r>
            <a:endParaRPr lang="en-US" altLang="en-US" sz="2000" b="1" dirty="0"/>
          </a:p>
          <a:p>
            <a:r>
              <a:rPr lang="en-US" altLang="en-US" sz="1800" dirty="0"/>
              <a:t>Basic prediction scripts.</a:t>
            </a:r>
            <a:endParaRPr lang="en-US" altLang="en-US" sz="1800" dirty="0"/>
          </a:p>
          <a:p>
            <a:r>
              <a:rPr lang="en-US" altLang="en-US" sz="1800" dirty="0"/>
              <a:t>Raw risk scores with no explanations.</a:t>
            </a:r>
            <a:endParaRPr lang="en-US" altLang="en-US" sz="1800" dirty="0"/>
          </a:p>
          <a:p>
            <a:r>
              <a:rPr lang="en-US" altLang="en-US" sz="1800" dirty="0"/>
              <a:t>No auditing or compression.</a:t>
            </a:r>
            <a:endParaRPr lang="en-US" altLang="en-US" sz="1800" dirty="0"/>
          </a:p>
          <a:p>
            <a:r>
              <a:rPr lang="en-US" altLang="en-US" sz="1800" dirty="0"/>
              <a:t>Desktop-only, privacy risks.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Current state of the project(version 0):</a:t>
            </a:r>
            <a:endParaRPr lang="en-US" altLang="en-US" sz="2000" b="1" dirty="0"/>
          </a:p>
          <a:p>
            <a:r>
              <a:rPr lang="en-US" altLang="en-US" sz="1800" dirty="0"/>
              <a:t>Reverse-engineered insights into model behavior.</a:t>
            </a:r>
            <a:endParaRPr lang="en-US" altLang="en-US" sz="1800" dirty="0"/>
          </a:p>
          <a:p>
            <a:r>
              <a:rPr lang="en-US" altLang="en-US" sz="1800" dirty="0"/>
              <a:t>Initial SHAP-highlighted explanations.</a:t>
            </a:r>
            <a:endParaRPr lang="en-US" altLang="en-US" sz="1800" dirty="0"/>
          </a:p>
          <a:p>
            <a:r>
              <a:rPr lang="en-US" altLang="en-US" sz="1800" dirty="0"/>
              <a:t>Versioned pipeline improvements .</a:t>
            </a:r>
            <a:endParaRPr lang="en-US" altLang="en-US" sz="1800" dirty="0"/>
          </a:p>
          <a:p>
            <a:r>
              <a:rPr lang="en-US" altLang="en-US" sz="1800" dirty="0"/>
              <a:t>Early on-device readiness and XAI integration.</a:t>
            </a:r>
            <a:endParaRPr lang="en-US" altLang="en-US" sz="1800" dirty="0"/>
          </a:p>
          <a:p>
            <a:r>
              <a:rPr lang="en-US" altLang="en-US" sz="1800" dirty="0"/>
              <a:t>Better understanding and auditability</a:t>
            </a:r>
            <a:r>
              <a:rPr lang="en-US" altLang="en-US" sz="1600" b="1" dirty="0"/>
              <a:t>.</a:t>
            </a:r>
            <a:endParaRPr lang="en-US" altLang="en-US" sz="1600" b="1" dirty="0"/>
          </a:p>
          <a:p>
            <a:pPr marL="0" indent="0">
              <a:buNone/>
            </a:pPr>
            <a:endParaRPr lang="en-US" altLang="en-US"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304800"/>
            <a:ext cx="7346950" cy="768985"/>
          </a:xfrm>
        </p:spPr>
        <p:txBody>
          <a:bodyPr>
            <a:normAutofit/>
          </a:bodyPr>
          <a:lstStyle/>
          <a:p>
            <a:r>
              <a:rPr lang="en-US" altLang="en-US" sz="3200" b="1" i="1" dirty="0"/>
              <a:t>Loopholes/Gaps – Before vs. Current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323340"/>
            <a:ext cx="10939780" cy="44729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000" b="1" dirty="0"/>
              <a:t>Before:</a:t>
            </a:r>
            <a:endParaRPr lang="en-US" altLang="en-US" sz="2000" b="1" dirty="0"/>
          </a:p>
          <a:p>
            <a:pPr algn="just"/>
            <a:r>
              <a:rPr lang="en-US" altLang="en-US" sz="1800" dirty="0"/>
              <a:t>Opaque black-box decisions (low trust).</a:t>
            </a:r>
            <a:endParaRPr lang="en-US" altLang="en-US" sz="1800" dirty="0"/>
          </a:p>
          <a:p>
            <a:pPr algn="just"/>
            <a:r>
              <a:rPr lang="en-US" altLang="en-US" sz="1800" dirty="0"/>
              <a:t>No explainability or clinical alignment.</a:t>
            </a:r>
            <a:endParaRPr lang="en-US" altLang="en-US" sz="1800" dirty="0"/>
          </a:p>
          <a:p>
            <a:pPr algn="just"/>
            <a:r>
              <a:rPr lang="en-US" altLang="en-US" sz="1800" dirty="0"/>
              <a:t>Deployment and privacy issues.</a:t>
            </a:r>
            <a:endParaRPr lang="en-US" altLang="en-US" sz="1800" dirty="0"/>
          </a:p>
          <a:p>
            <a:pPr algn="just"/>
            <a:r>
              <a:rPr lang="en-US" altLang="en-US" sz="1800" dirty="0"/>
              <a:t>Unaddressed biases and robustness gaps.</a:t>
            </a:r>
            <a:endParaRPr lang="en-US" altLang="en-US" sz="1800" dirty="0"/>
          </a:p>
          <a:p>
            <a:pPr algn="just"/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/>
              <a:t>Current:</a:t>
            </a:r>
            <a:endParaRPr lang="en-US" altLang="en-US" sz="2000" b="1" dirty="0"/>
          </a:p>
          <a:p>
            <a:pPr algn="just"/>
            <a:r>
              <a:rPr lang="en-US" altLang="en-US" sz="1800" dirty="0"/>
              <a:t>Addressed: Initial transparency via SHAP/attention; better pattern understanding; privacy foundations.</a:t>
            </a:r>
            <a:endParaRPr lang="en-US" altLang="en-US" sz="1800" dirty="0"/>
          </a:p>
          <a:p>
            <a:pPr algn="just"/>
            <a:r>
              <a:rPr lang="en-US" altLang="en-US" sz="1800" dirty="0"/>
              <a:t>Remaining Loopholes: Full MLOps not complete, comprehensive clinical validation pending, multimodal expansion needed, full cross-platform testing ongoing.</a:t>
            </a:r>
            <a:endParaRPr lang="en-US" altLang="en-US" sz="1800" dirty="0"/>
          </a:p>
          <a:p>
            <a:pPr algn="just"/>
            <a:r>
              <a:rPr lang="en-US" altLang="en-US" sz="1800" dirty="0"/>
              <a:t>Overall: Significant reduction in opacity; stronger foundation for responsible AI.</a:t>
            </a:r>
            <a:endParaRPr lang="en-US" altLang="en-US" sz="1800" dirty="0"/>
          </a:p>
          <a:p>
            <a:pPr algn="just"/>
            <a:endParaRPr lang="en-US" alt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7948930" cy="805815"/>
          </a:xfrm>
        </p:spPr>
        <p:txBody>
          <a:bodyPr/>
          <a:p>
            <a:r>
              <a:rPr lang="en-US" b="1" dirty="0">
                <a:sym typeface="+mn-ea"/>
              </a:rPr>
              <a:t>   </a:t>
            </a:r>
            <a:r>
              <a:rPr lang="en-US" sz="3200" b="1" i="1" dirty="0">
                <a:sym typeface="+mn-ea"/>
              </a:rPr>
              <a:t> </a:t>
            </a:r>
            <a:r>
              <a:rPr lang="en-US" altLang="en-US" sz="3200" b="1" i="1" dirty="0">
                <a:sym typeface="+mn-ea"/>
              </a:rPr>
              <a:t>Challenges, Lessons &amp; Roadmap Ahead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349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US" sz="2000" b="1" dirty="0"/>
              <a:t>Challenges in Reverse Engineering So Far:</a:t>
            </a:r>
            <a:endParaRPr lang="en-US" altLang="en-US" sz="2000" b="1" dirty="0"/>
          </a:p>
          <a:p>
            <a:r>
              <a:rPr lang="en-US" altLang="en-US" sz="1800" dirty="0"/>
              <a:t>Interpreting complex attention patterns in transformer layers.</a:t>
            </a:r>
            <a:endParaRPr lang="en-US" altLang="en-US" sz="1800" dirty="0"/>
          </a:p>
          <a:p>
            <a:r>
              <a:rPr lang="en-US" altLang="en-US" sz="1800" dirty="0"/>
              <a:t>Balancing model compression with accuracy retention.</a:t>
            </a:r>
            <a:endParaRPr lang="en-US" altLang="en-US" sz="1800" dirty="0"/>
          </a:p>
          <a:p>
            <a:r>
              <a:rPr lang="en-US" altLang="en-US" sz="1800" dirty="0"/>
              <a:t>Handling dataset biases (Reddit-heavy data vs. clinical diversity).</a:t>
            </a:r>
            <a:endParaRPr lang="en-US" altLang="en-US" sz="1800" dirty="0"/>
          </a:p>
          <a:p>
            <a:r>
              <a:rPr lang="en-US" altLang="en-US" sz="1800" dirty="0"/>
              <a:t>Computational constraints during probing/SHAP on large models.</a:t>
            </a:r>
            <a:endParaRPr lang="en-US" altLang="en-US" sz="1800" dirty="0"/>
          </a:p>
          <a:p>
            <a:r>
              <a:rPr lang="en-US" altLang="en-US" sz="1800" dirty="0"/>
              <a:t>Ethical navigation (sensitive mental health domain).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Key Lessons Learned:</a:t>
            </a:r>
            <a:endParaRPr lang="en-US" altLang="en-US" sz="2000" b="1" dirty="0"/>
          </a:p>
          <a:p>
            <a:r>
              <a:rPr lang="en-US" altLang="en-US" sz="1800" dirty="0"/>
              <a:t>Reverse engineering reveals clinically meaningful signals even without explicit training.</a:t>
            </a:r>
            <a:endParaRPr lang="en-US" altLang="en-US" sz="1800" dirty="0"/>
          </a:p>
          <a:p>
            <a:r>
              <a:rPr lang="en-US" altLang="en-US" sz="1800" dirty="0"/>
              <a:t>Early XAI integration saves time in later validation.</a:t>
            </a:r>
            <a:endParaRPr lang="en-US" altLang="en-US" sz="1800" dirty="0"/>
          </a:p>
          <a:p>
            <a:r>
              <a:rPr lang="en-US" altLang="en-US" sz="1800" dirty="0"/>
              <a:t>Version control and modular code  are essential.</a:t>
            </a:r>
            <a:endParaRPr lang="en-US" altLang="en-US" sz="1800" dirty="0"/>
          </a:p>
          <a:p>
            <a:r>
              <a:rPr lang="en-US" altLang="en-US" sz="1800" dirty="0"/>
              <a:t>On-device focus forces efficient, privacy-first design from the start.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605145" y="702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altLang="en-US" sz="3200" b="1" i="1" dirty="0"/>
              <a:t>Challenges, Lessons &amp; Roadmap Ahead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45199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altLang="en-US" sz="2000" b="1" dirty="0"/>
              <a:t>Next Steps for improving:</a:t>
            </a:r>
            <a:endParaRPr lang="en-US" altLang="en-US" sz="2000" b="1" dirty="0"/>
          </a:p>
          <a:p>
            <a:r>
              <a:rPr lang="en-US" altLang="en-US" sz="1800" dirty="0"/>
              <a:t>Complete full MLOps pipeline and CI/CD.</a:t>
            </a:r>
            <a:endParaRPr lang="en-US" altLang="en-US" sz="1800" dirty="0"/>
          </a:p>
          <a:p>
            <a:r>
              <a:rPr lang="en-US" altLang="en-US" sz="1800" dirty="0"/>
              <a:t>Expand to multimodal (text + EEG if available).</a:t>
            </a:r>
            <a:endParaRPr lang="en-US" altLang="en-US" sz="1800" dirty="0"/>
          </a:p>
          <a:p>
            <a:r>
              <a:rPr lang="en-US" altLang="en-US" sz="1800" dirty="0"/>
              <a:t>Larger clinician feedback loop for explanations.</a:t>
            </a:r>
            <a:endParaRPr lang="en-US" altLang="en-US" sz="1800" dirty="0"/>
          </a:p>
          <a:p>
            <a:r>
              <a:rPr lang="en-US" altLang="en-US" sz="1800" dirty="0"/>
              <a:t>Full cross-platform testing and adversarial robustness hardening.</a:t>
            </a:r>
            <a:endParaRPr lang="en-US" altLang="en-US" sz="1800" dirty="0"/>
          </a:p>
          <a:p>
            <a:r>
              <a:rPr lang="en-US" altLang="en-US" sz="1800" dirty="0"/>
              <a:t>Prepare for conference submission with quantitative benchmarks.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Plan of Implementation in the Operating System:</a:t>
            </a:r>
            <a:endParaRPr lang="en-US" altLang="en-US" sz="2000" b="1" dirty="0"/>
          </a:p>
          <a:p>
            <a:r>
              <a:rPr lang="en-US" altLang="en-US" sz="1800" dirty="0"/>
              <a:t>Use eBPF + kprobes as the Core Engine (Safe, powerful, and production-grade)</a:t>
            </a:r>
            <a:endParaRPr lang="en-US" altLang="en-US" sz="1800" dirty="0"/>
          </a:p>
          <a:p>
            <a:r>
              <a:rPr lang="en-US" altLang="en-US" sz="1800" dirty="0"/>
              <a:t>Use inotify or D-Bus to watch specific allowed directories/files (with permission)</a:t>
            </a:r>
            <a:endParaRPr lang="en-US" altLang="en-US" sz="1800" dirty="0"/>
          </a:p>
          <a:p>
            <a:r>
              <a:rPr lang="en-US" altLang="en-US" sz="1800" dirty="0"/>
              <a:t>Rate limiting on monitoring.</a:t>
            </a:r>
            <a:endParaRPr lang="en-US" altLang="en-US" sz="1800" dirty="0"/>
          </a:p>
          <a:p>
            <a:r>
              <a:rPr lang="en-US" altLang="en-US" sz="1800" dirty="0"/>
              <a:t>Kill switch and audit logs for the user.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391400" y="7086600"/>
            <a:ext cx="7825740" cy="1325880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0"/>
            <a:ext cx="10515600" cy="1818640"/>
          </a:xfrm>
        </p:spPr>
        <p:txBody>
          <a:bodyPr>
            <a:normAutofit fontScale="25000"/>
          </a:bodyPr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</a:t>
            </a:r>
            <a:r>
              <a:rPr lang="en-US" sz="38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8800" b="1" i="1"/>
              <a:t>THANK YOU</a:t>
            </a:r>
            <a:r>
              <a:rPr lang="en-US" sz="38400" b="1" i="1"/>
              <a:t> </a:t>
            </a:r>
            <a:endParaRPr lang="en-US" sz="38400" b="1" i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5125</Words>
  <Application>WPS Presentation</Application>
  <PresentationFormat>Widescreen</PresentationFormat>
  <Paragraphs>123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Reverse Engineering Suicide Prediction Models</vt:lpstr>
      <vt:lpstr>Review of Related work</vt:lpstr>
      <vt:lpstr>Review of Related work</vt:lpstr>
      <vt:lpstr>Theoretical Framework &amp; Methodology</vt:lpstr>
      <vt:lpstr>Reverse Engineering Pipeline</vt:lpstr>
      <vt:lpstr>    Reverse Engineering Pipeline</vt:lpstr>
      <vt:lpstr>MLOps Pipeline Architecture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Sridhar.M</cp:lastModifiedBy>
  <cp:revision>159</cp:revision>
  <dcterms:created xsi:type="dcterms:W3CDTF">2006-08-16T00:00:00Z</dcterms:created>
  <dcterms:modified xsi:type="dcterms:W3CDTF">2026-07-13T17:20:22Z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90D5525622F449CD954D57DC3F1C6D1E_13</vt:lpwstr>
  </property>
  <property fmtid="{D5CDD505-2E9C-101B-9397-08002B2CF9AE}" pid="4" name="ContentTypeId">
    <vt:lpwstr>0x01010098F1BCB14E108D43AB233A31F986D556</vt:lpwstr>
  </property>
</Properties>
</file>