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58" r:id="rId5"/>
    <p:sldId id="260" r:id="rId6"/>
    <p:sldId id="261" r:id="rId7"/>
    <p:sldId id="262" r:id="rId8"/>
    <p:sldId id="270" r:id="rId9"/>
    <p:sldId id="271" r:id="rId10"/>
    <p:sldId id="272" r:id="rId11"/>
    <p:sldId id="273" r:id="rId12"/>
    <p:sldId id="267" r:id="rId13"/>
    <p:sldId id="264" r:id="rId15"/>
    <p:sldId id="265" r:id="rId16"/>
    <p:sldId id="269" r:id="rId17"/>
    <p:sldId id="266" r:id="rId18"/>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400" b="1">
                <a:solidFill>
                  <a:srgbClr val="1A1A1A"/>
                </a:solidFill>
              </a:rPr>
              <a:t>Target Accuracy — Roadmap Goals (Not Yet Measured)</a:t>
            </a:r>
            <a:endParaRPr sz="1400" b="1">
              <a:solidFill>
                <a:srgbClr val="1A1A1A"/>
              </a:solidFill>
            </a:endParaRPr>
          </a:p>
        </c:rich>
      </c:tx>
      <c:layout/>
      <c:overlay val="0"/>
    </c:title>
    <c:autoTitleDeleted val="0"/>
    <c:plotArea>
      <c:layout/>
      <c:barChart>
        <c:barDir val="col"/>
        <c:grouping val="clustered"/>
        <c:varyColors val="0"/>
        <c:ser>
          <c:idx val="0"/>
          <c:order val="0"/>
          <c:tx>
            <c:strRef>
              <c:f>Sheet1!$B$1</c:f>
              <c:strCache>
                <c:ptCount val="1"/>
                <c:pt idx="0">
                  <c:v>Target Accuracy %</c:v>
                </c:pt>
              </c:strCache>
            </c:strRef>
          </c:tx>
          <c:spPr>
            <a:solidFill>
              <a:srgbClr val="2F3C7E"/>
            </a:solidFill>
          </c:spPr>
          <c:invertIfNegative val="0"/>
          <c:dLbls>
            <c:numFmt formatCode="0&quot;%&quot;"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Near-Term Target
(fine-tuned model)</c:v>
                </c:pt>
                <c:pt idx="1">
                  <c:v>Stretch Target
(full system, per README)</c:v>
                </c:pt>
              </c:strCache>
            </c:strRef>
          </c:cat>
          <c:val>
            <c:numRef>
              <c:f>Sheet1!$B$2:$B$3</c:f>
              <c:numCache>
                <c:formatCode>General</c:formatCode>
                <c:ptCount val="2"/>
                <c:pt idx="0">
                  <c:v>70</c:v>
                </c:pt>
                <c:pt idx="1">
                  <c:v>90</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spPr>
          <a:ln w="6350" cap="flat" cmpd="sng" algn="ctr">
            <a:solidFill>
              <a:srgbClr val="B0B0B0"/>
            </a:solidFill>
            <a:prstDash val="solid"/>
            <a:round/>
          </a:ln>
        </c:spPr>
        <c:txPr>
          <a:bodyPr rot="-60000000" spcFirstLastPara="0" vertOverflow="ellipsis" vert="horz" wrap="square" anchor="ctr" anchorCtr="1"/>
          <a:lstStyle/>
          <a:p>
            <a:pPr>
              <a:defRPr lang="en-US" sz="1200" b="0" i="0" u="none" strike="noStrike" kern="1200" baseline="0">
                <a:solidFill>
                  <a:srgbClr val="1A1A1A"/>
                </a:solidFill>
                <a:latin typeface="+mn-lt"/>
                <a:ea typeface="+mn-ea"/>
                <a:cs typeface="+mn-cs"/>
              </a:defRPr>
            </a:pPr>
          </a:p>
        </c:txPr>
        <c:crossAx val="-2113994440"/>
        <c:crosses val="autoZero"/>
        <c:auto val="1"/>
        <c:lblAlgn val="ctr"/>
        <c:lblOffset val="100"/>
        <c:noMultiLvlLbl val="0"/>
      </c:catAx>
      <c:valAx>
        <c:axId val="-2113994440"/>
        <c:scaling>
          <c:orientation val="minMax"/>
          <c:max val="100"/>
          <c:min val="0"/>
        </c:scaling>
        <c:delete val="0"/>
        <c:axPos val="l"/>
        <c:majorGridlines>
          <c:spPr>
            <a:ln w="6350" cap="flat" cmpd="sng" algn="ctr">
              <a:solidFill>
                <a:srgbClr val="E0E0E0"/>
              </a:solidFill>
              <a:prstDash val="solid"/>
              <a:round/>
            </a:ln>
          </c:spPr>
        </c:majorGridlines>
        <c:numFmt formatCode="General"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rgbClr val="6E6E6E"/>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6f177eda-6adc-47b4-a4c2-69a9df042f3d}"/>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0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Domain                  </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Sub-Domain          </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a:t>
            </a:r>
            <a:r>
              <a:rPr lang="en-US"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Title</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a:t>
            </a:r>
            <a:r>
              <a:rPr lang="en-US" sz="2000" b="0" u="none" strike="noStrike">
                <a:solidFill>
                  <a:srgbClr val="FF0000"/>
                </a:solidFill>
                <a:effectLst/>
                <a:uFillTx/>
                <a:latin typeface="Calibri" panose="020F0502020204030204"/>
                <a:ea typeface="Times New Roman" panose="02020603050405020304"/>
              </a:rPr>
              <a:t> </a:t>
            </a:r>
            <a:r>
              <a:rPr lang="en-US" sz="2000" b="1" u="none" strike="noStrike">
                <a:solidFill>
                  <a:srgbClr val="0C0C0C"/>
                </a:solidFill>
                <a:effectLst/>
                <a:uFillTx/>
                <a:latin typeface="Calibri" panose="020F0502020204030204"/>
                <a:ea typeface="Times New Roman" panose="02020603050405020304"/>
              </a:rPr>
              <a:t> Suicide Risk Prediction Models with Clinical Explainability</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0" u="none" strike="noStrike">
                <a:solidFill>
                  <a:srgbClr val="FF0000"/>
                </a:solidFill>
                <a:effectLst/>
                <a:uFillTx/>
                <a:latin typeface="Calibri" panose="020F0502020204030204"/>
                <a:ea typeface="Times New Roman" panose="02020603050405020304"/>
              </a:rPr>
              <a:t>Faculty Supervisor</a:t>
            </a:r>
            <a:r>
              <a:rPr lang="en-IN" sz="2000" b="0" u="none" strike="noStrike">
                <a:solidFill>
                  <a:srgbClr val="FF0000"/>
                </a:solidFill>
                <a:effectLst/>
                <a:uFillTx/>
                <a:latin typeface="Calibri" panose="020F0502020204030204"/>
                <a:ea typeface="Times New Roman" panose="02020603050405020304"/>
              </a:rPr>
              <a:t> :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000" b="0" u="none" strike="noStrike">
                <a:solidFill>
                  <a:srgbClr val="FF0000"/>
                </a:solidFill>
                <a:effectLst/>
                <a:uFillTx/>
                <a:latin typeface="Calibri" panose="020F0502020204030204"/>
                <a:ea typeface="Times New Roman" panose="02020603050405020304"/>
              </a:rPr>
              <a:t>Team Members</a:t>
            </a:r>
            <a:r>
              <a:rPr lang="en-US" sz="20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a:t>
            </a:r>
            <a:r>
              <a:rPr lang="en-US" sz="20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152400" y="457200"/>
            <a:ext cx="11692890" cy="3869055"/>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200" b="1" u="none" strike="noStrike">
                <a:solidFill>
                  <a:srgbClr val="FF0000"/>
                </a:solidFill>
                <a:effectLst/>
                <a:uFillTx/>
                <a:latin typeface="Times New Roman" panose="02020603050405020304"/>
                <a:ea typeface="Canva Sans Bold"/>
              </a:rPr>
              <a:t>ABSTRACT</a:t>
            </a:r>
            <a:r>
              <a:rPr lang="en-US" sz="3600" b="1" u="none" strike="noStrike">
                <a:solidFill>
                  <a:srgbClr val="FF0000"/>
                </a:solidFill>
                <a:effectLst/>
                <a:uFillTx/>
                <a:latin typeface="Times New Roman" panose="02020603050405020304"/>
                <a:ea typeface="Canva Sans Bold"/>
              </a:rPr>
              <a: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2000" b="1" u="none" strike="noStrike">
                <a:solidFill>
                  <a:schemeClr val="dk1"/>
                </a:solidFill>
                <a:effectLst/>
                <a:uFillTx/>
                <a:latin typeface="Calibri" panose="020F0502020204030204"/>
              </a:rPr>
              <a:t>  </a:t>
            </a:r>
            <a:r>
              <a:rPr sz="2000" b="1">
                <a:sym typeface="+mn-ea"/>
              </a:rPr>
              <a:t> </a:t>
            </a:r>
            <a:r>
              <a:rPr sz="2000">
                <a:sym typeface="+mn-ea"/>
              </a:rPr>
              <a:t>Over 700,000 people die by suicide every year. Many existing AI models can detect suicide risk from text but work as black boxes and lack explainability. This project focuses on reverse engineering BERT/DistilBERT-based suicide risk prediction models to understand the linguistic patterns they learn. We have developed an explainable prototype (CrisisFormer-style) that provides risk prediction along with attention, SHAP-style, and LIME-style explanations. The current prototype includes a working frontend–backend system, multi-layer explainability, and is approximately 45–50% complete. Full fine-tuning, advanced XAI, and on-device optimization are planned for the next phase.</a:t>
            </a:r>
            <a:r>
              <a:rPr lang="en-US" altLang="en-US" sz="2000">
                <a:sym typeface="+mn-ea"/>
              </a:rPr>
              <a:t>This work contributes a reproducible framework for auditing suicide-risk language models — combining SHAP-style feature attribution, attention visualization, and concept-level probing (TCAV) — that clinicians and researchers can use to validate model behavior before deployment.</a:t>
            </a:r>
            <a:endParaRPr lang="en-US" altLang="en-US" sz="2000">
              <a:sym typeface="+mn-ea"/>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119260" y="405045"/>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PROBLEM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120" y="233045"/>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Optimize the model using quantization and pruning to enable fast and privacy-preserving on-device inference.</a:t>
            </a:r>
            <a:endParaRPr lang="en-US" sz="20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0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119260" y="188510"/>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75" name="Rounded Rectangle 74"/>
          <p:cNvSpPr/>
          <p:nvPr/>
        </p:nvSpPr>
        <p:spPr>
          <a:xfrm>
            <a:off x="822960" y="96012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1. Data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Reddit posts + CLPsych/UMD annotations  |  De-identification, tokenization (WordPiece)  |  User-level train/val/test split</a:t>
            </a:r>
            <a:endParaRPr sz="1000">
              <a:solidFill>
                <a:srgbClr val="222222"/>
              </a:solidFill>
              <a:latin typeface="Calibri" panose="020F0502020204030204"/>
            </a:endParaRPr>
          </a:p>
        </p:txBody>
      </p:sp>
      <p:sp>
        <p:nvSpPr>
          <p:cNvPr id="76" name="Down Arrow 75"/>
          <p:cNvSpPr/>
          <p:nvPr/>
        </p:nvSpPr>
        <p:spPr>
          <a:xfrm>
            <a:off x="5961888" y="152704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822960" y="165506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2. Core Model</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BERT-base-uncased / MentalBERT, fine-tuned on clinician-annotated risk labels</a:t>
            </a:r>
            <a:endParaRPr sz="1000">
              <a:solidFill>
                <a:srgbClr val="222222"/>
              </a:solidFill>
              <a:latin typeface="Calibri" panose="020F0502020204030204"/>
            </a:endParaRPr>
          </a:p>
        </p:txBody>
      </p:sp>
      <p:sp>
        <p:nvSpPr>
          <p:cNvPr id="78" name="Down Arrow 77"/>
          <p:cNvSpPr/>
          <p:nvPr/>
        </p:nvSpPr>
        <p:spPr>
          <a:xfrm>
            <a:off x="5961888" y="211226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822960" y="224028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3. Reverse-Engineering Module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SHAP (KernelSHAP)  |  BertViz attention maps  |  Hidden-layer probing  |  TCAV concept alignment</a:t>
            </a:r>
            <a:endParaRPr sz="1000">
              <a:solidFill>
                <a:srgbClr val="222222"/>
              </a:solidFill>
              <a:latin typeface="Calibri" panose="020F0502020204030204"/>
            </a:endParaRPr>
          </a:p>
        </p:txBody>
      </p:sp>
      <p:sp>
        <p:nvSpPr>
          <p:cNvPr id="80" name="Down Arrow 79"/>
          <p:cNvSpPr/>
          <p:nvPr/>
        </p:nvSpPr>
        <p:spPr>
          <a:xfrm>
            <a:off x="5961888" y="280720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822960" y="293522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4. Explainability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Maps model internals to clinical concepts: hopelessness, urgency, isolation</a:t>
            </a:r>
            <a:endParaRPr sz="1000">
              <a:solidFill>
                <a:srgbClr val="222222"/>
              </a:solidFill>
              <a:latin typeface="Calibri" panose="020F0502020204030204"/>
            </a:endParaRPr>
          </a:p>
        </p:txBody>
      </p:sp>
      <p:sp>
        <p:nvSpPr>
          <p:cNvPr id="82" name="Down Arrow 81"/>
          <p:cNvSpPr/>
          <p:nvPr/>
        </p:nvSpPr>
        <p:spPr>
          <a:xfrm>
            <a:off x="5961888" y="339242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822960" y="3520440"/>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5. Model Compression</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Quantization &amp; pruning for on-device inference</a:t>
            </a:r>
            <a:endParaRPr sz="1000">
              <a:solidFill>
                <a:srgbClr val="222222"/>
              </a:solidFill>
              <a:latin typeface="Calibri" panose="020F0502020204030204"/>
            </a:endParaRPr>
          </a:p>
        </p:txBody>
      </p:sp>
      <p:sp>
        <p:nvSpPr>
          <p:cNvPr id="84" name="Down Arrow 83"/>
          <p:cNvSpPr/>
          <p:nvPr/>
        </p:nvSpPr>
        <p:spPr>
          <a:xfrm>
            <a:off x="5961888" y="390448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822960" y="4032504"/>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6. MLOps Backbone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Versioning → Testing → CI/CD → Monitoring</a:t>
            </a:r>
            <a:endParaRPr sz="1000">
              <a:solidFill>
                <a:srgbClr val="222222"/>
              </a:solidFill>
              <a:latin typeface="Calibri" panose="020F0502020204030204"/>
            </a:endParaRPr>
          </a:p>
        </p:txBody>
      </p:sp>
      <p:sp>
        <p:nvSpPr>
          <p:cNvPr id="86" name="Down Arrow 85"/>
          <p:cNvSpPr/>
          <p:nvPr/>
        </p:nvSpPr>
        <p:spPr>
          <a:xfrm>
            <a:off x="5961888" y="4416552"/>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822960" y="4544568"/>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7. Cross-Platform Packaging</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TensorFlow Lite / ONNX runtime</a:t>
            </a:r>
            <a:endParaRPr sz="1000">
              <a:solidFill>
                <a:srgbClr val="222222"/>
              </a:solidFill>
              <a:latin typeface="Calibri" panose="020F0502020204030204"/>
            </a:endParaRPr>
          </a:p>
        </p:txBody>
      </p:sp>
      <p:sp>
        <p:nvSpPr>
          <p:cNvPr id="88" name="Rounded Rectangle 87"/>
          <p:cNvSpPr/>
          <p:nvPr/>
        </p:nvSpPr>
        <p:spPr>
          <a:xfrm>
            <a:off x="822960"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Android</a:t>
            </a:r>
            <a:endParaRPr sz="1000" b="1">
              <a:solidFill>
                <a:srgbClr val="00695C"/>
              </a:solidFill>
              <a:latin typeface="Calibri" panose="020F0502020204030204"/>
            </a:endParaRPr>
          </a:p>
        </p:txBody>
      </p:sp>
      <p:sp>
        <p:nvSpPr>
          <p:cNvPr id="89" name="Rounded Rectangle 88"/>
          <p:cNvSpPr/>
          <p:nvPr/>
        </p:nvSpPr>
        <p:spPr>
          <a:xfrm>
            <a:off x="2951683"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iOS</a:t>
            </a:r>
            <a:endParaRPr sz="1000" b="1">
              <a:solidFill>
                <a:srgbClr val="00695C"/>
              </a:solidFill>
              <a:latin typeface="Calibri" panose="020F0502020204030204"/>
            </a:endParaRPr>
          </a:p>
        </p:txBody>
      </p:sp>
      <p:sp>
        <p:nvSpPr>
          <p:cNvPr id="90" name="Rounded Rectangle 89"/>
          <p:cNvSpPr/>
          <p:nvPr/>
        </p:nvSpPr>
        <p:spPr>
          <a:xfrm>
            <a:off x="5080406"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Windows</a:t>
            </a:r>
            <a:endParaRPr sz="1000" b="1">
              <a:solidFill>
                <a:srgbClr val="00695C"/>
              </a:solidFill>
              <a:latin typeface="Calibri" panose="020F0502020204030204"/>
            </a:endParaRPr>
          </a:p>
        </p:txBody>
      </p:sp>
      <p:sp>
        <p:nvSpPr>
          <p:cNvPr id="91" name="Rounded Rectangle 90"/>
          <p:cNvSpPr/>
          <p:nvPr/>
        </p:nvSpPr>
        <p:spPr>
          <a:xfrm>
            <a:off x="7209129"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macOS</a:t>
            </a:r>
            <a:endParaRPr sz="1000" b="1">
              <a:solidFill>
                <a:srgbClr val="00695C"/>
              </a:solidFill>
              <a:latin typeface="Calibri" panose="020F0502020204030204"/>
            </a:endParaRPr>
          </a:p>
        </p:txBody>
      </p:sp>
      <p:sp>
        <p:nvSpPr>
          <p:cNvPr id="92" name="Rounded Rectangle 91"/>
          <p:cNvSpPr/>
          <p:nvPr/>
        </p:nvSpPr>
        <p:spPr>
          <a:xfrm>
            <a:off x="9337852"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Linux</a:t>
            </a:r>
            <a:endParaRPr sz="1000" b="1">
              <a:solidFill>
                <a:srgbClr val="00695C"/>
              </a:solidFill>
              <a:latin typeface="Calibri" panose="020F0502020204030204"/>
            </a:endParaRPr>
          </a:p>
        </p:txBody>
      </p:sp>
      <p:sp>
        <p:nvSpPr>
          <p:cNvPr id="93" name="Rounded Rectangle 92"/>
          <p:cNvSpPr/>
          <p:nvPr/>
        </p:nvSpPr>
        <p:spPr>
          <a:xfrm>
            <a:off x="822960" y="5422392"/>
            <a:ext cx="10515600" cy="502920"/>
          </a:xfrm>
          <a:prstGeom prst="roundRect">
            <a:avLst>
              <a:gd name="adj" fmla="val 10000"/>
            </a:avLst>
          </a:prstGeom>
          <a:solidFill>
            <a:srgbClr val="FCE4EC"/>
          </a:solidFill>
          <a:ln w="15875">
            <a:solidFill>
              <a:srgbClr val="B00030"/>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8. Serving &amp; Clinician Interface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Risk score + explanation + audit trail</a:t>
            </a:r>
            <a:endParaRPr sz="1000">
              <a:solidFill>
                <a:srgbClr val="222222"/>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46870" y="405045"/>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000" b="1" u="none" strike="noStrike">
                          <a:solidFill>
                            <a:schemeClr val="dk1"/>
                          </a:solidFill>
                          <a:effectLst/>
                          <a:uFillTx/>
                          <a:latin typeface="Calibri" panose="020F0502020204030204"/>
                        </a:rPr>
                        <a:t>Category</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Tools</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Category</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Tools</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000" b="1" u="none" strike="noStrike">
                          <a:solidFill>
                            <a:schemeClr val="dk1"/>
                          </a:solidFill>
                          <a:effectLst/>
                          <a:uFillTx/>
                          <a:latin typeface="Calibri" panose="020F0502020204030204"/>
                        </a:rPr>
                        <a:t>Programming</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1800" b="0" u="none" strike="noStrike">
                          <a:solidFill>
                            <a:schemeClr val="dk1"/>
                          </a:solidFill>
                          <a:effectLst/>
                          <a:uFillTx/>
                          <a:latin typeface="Calibri" panose="020F0502020204030204"/>
                        </a:rPr>
                        <a:t>Python</a:t>
                      </a:r>
                      <a:endParaRPr lang="en-IN" sz="18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1" u="none" strike="noStrike">
                          <a:solidFill>
                            <a:schemeClr val="dk1"/>
                          </a:solidFill>
                          <a:effectLst/>
                          <a:uFillTx/>
                          <a:latin typeface="Calibri" panose="020F0502020204030204"/>
                        </a:rPr>
                        <a:t>Explainability</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0" u="none" strike="noStrike">
                          <a:solidFill>
                            <a:schemeClr val="dk1"/>
                          </a:solidFill>
                          <a:effectLst/>
                          <a:uFillTx/>
                          <a:latin typeface="Calibri" panose="020F0502020204030204"/>
                        </a:rPr>
                        <a:t>SHAP, BertViz (planned)</a:t>
                      </a:r>
                      <a:endParaRPr lang="en-IN"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000" b="1" u="none" strike="noStrike">
                          <a:solidFill>
                            <a:schemeClr val="dk1"/>
                          </a:solidFill>
                          <a:effectLst/>
                          <a:uFillTx/>
                          <a:latin typeface="Calibri" panose="020F0502020204030204"/>
                        </a:rPr>
                        <a:t>Deep Learning</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PyTorch, HuggingFace Transformers (BERT)</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1" u="none" strike="noStrike">
                          <a:solidFill>
                            <a:schemeClr val="dk1"/>
                          </a:solidFill>
                          <a:effectLst/>
                          <a:uFillTx/>
                          <a:latin typeface="Calibri" panose="020F0502020204030204"/>
                        </a:rPr>
                        <a:t>Model Optimization</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Quantization, Pruning (planned)</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000" b="1" u="none" strike="noStrike">
                          <a:solidFill>
                            <a:schemeClr val="dk1"/>
                          </a:solidFill>
                          <a:effectLst/>
                          <a:uFillTx/>
                          <a:latin typeface="Calibri" panose="020F0502020204030204"/>
                        </a:rPr>
                        <a:t>Backend Framework</a:t>
                      </a:r>
                      <a:endParaRPr lang="en-IN"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000" b="0" u="none" strike="noStrike">
                          <a:solidFill>
                            <a:schemeClr val="dk1"/>
                          </a:solidFill>
                          <a:effectLst/>
                          <a:uFillTx/>
                          <a:latin typeface="Calibri" panose="020F0502020204030204"/>
                        </a:rPr>
                        <a:t>FastAPI, Uvicorn, Pydantic</a:t>
                      </a:r>
                      <a:endParaRPr lang="en-IN"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1" u="none" strike="noStrike">
                          <a:solidFill>
                            <a:schemeClr val="dk1"/>
                          </a:solidFill>
                          <a:effectLst/>
                          <a:uFillTx/>
                          <a:latin typeface="Calibri" panose="020F0502020204030204"/>
                        </a:rPr>
                        <a:t>Deployment</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ONNX Runtime, TFLite (planned)</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000" b="1" u="none" strike="noStrike">
                          <a:solidFill>
                            <a:schemeClr val="dk1"/>
                          </a:solidFill>
                          <a:effectLst/>
                          <a:uFillTx/>
                          <a:latin typeface="Calibri" panose="020F0502020204030204"/>
                        </a:rPr>
                        <a:t>Frontend</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Streamlit, Plotly, Pandas</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1" u="none" strike="noStrike">
                          <a:solidFill>
                            <a:schemeClr val="dk1"/>
                          </a:solidFill>
                          <a:effectLst/>
                          <a:uFillTx/>
                          <a:latin typeface="Calibri" panose="020F0502020204030204"/>
                        </a:rPr>
                        <a:t>MLOps &amp; Containerization</a:t>
                      </a:r>
                      <a:endParaRPr lang="en-US" sz="2000" b="1"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000" b="0" u="none" strike="noStrike">
                          <a:solidFill>
                            <a:schemeClr val="dk1"/>
                          </a:solidFill>
                          <a:effectLst/>
                          <a:uFillTx/>
                          <a:latin typeface="Calibri" panose="020F0502020204030204"/>
                        </a:rPr>
                        <a:t>MLflow, Optuna, Docker (planned)</a:t>
                      </a:r>
                      <a:endParaRPr lang="en-US" sz="2000" b="0" u="none" strike="noStrike">
                        <a:solidFill>
                          <a:schemeClr val="dk1"/>
                        </a:solidFill>
                        <a:effectLst/>
                        <a:uFillTx/>
                        <a:latin typeface="Calibri" panose="020F050202020403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7625" y="116840"/>
            <a:ext cx="11247120" cy="640080"/>
          </a:xfrm>
          <a:prstGeom prst="rect">
            <a:avLst/>
          </a:prstGeom>
          <a:noFill/>
        </p:spPr>
        <p:txBody>
          <a:bodyPr wrap="square">
            <a:spAutoFit/>
          </a:bodyPr>
          <a:lstStyle/>
          <a:p>
            <a:r>
              <a:rPr sz="3200" b="1">
                <a:solidFill>
                  <a:srgbClr val="FF0000"/>
                </a:solidFill>
                <a:latin typeface="Calibri" panose="020F0502020204030204"/>
              </a:rPr>
              <a:t>PROTOTYPE STATUS &amp; ACCURACY ROADMAP:</a:t>
            </a:r>
            <a:endParaRPr sz="3200" b="1">
              <a:solidFill>
                <a:srgbClr val="FF0000"/>
              </a:solidFill>
              <a:latin typeface="Calibri" panose="020F0502020204030204"/>
            </a:endParaRPr>
          </a:p>
        </p:txBody>
      </p:sp>
      <p:sp>
        <p:nvSpPr>
          <p:cNvPr id="3" name="TextBox 2"/>
          <p:cNvSpPr txBox="1"/>
          <p:nvPr/>
        </p:nvSpPr>
        <p:spPr>
          <a:xfrm>
            <a:off x="457200" y="777240"/>
            <a:ext cx="11247120" cy="706755"/>
          </a:xfrm>
          <a:prstGeom prst="rect">
            <a:avLst/>
          </a:prstGeom>
          <a:noFill/>
        </p:spPr>
        <p:txBody>
          <a:bodyPr wrap="square">
            <a:spAutoFit/>
          </a:bodyPr>
          <a:lstStyle/>
          <a:p>
            <a:r>
              <a:rPr sz="2000">
                <a:solidFill>
                  <a:srgbClr val="6E6E6E"/>
                </a:solidFill>
                <a:latin typeface="Calibri" panose="020F0502020204030204"/>
              </a:rPr>
              <a:t>Current build: architecture complete, classifier head untrained — no measured accuracy yet. Chart below shows project targets, not results.</a:t>
            </a:r>
            <a:endParaRPr sz="2000">
              <a:solidFill>
                <a:srgbClr val="6E6E6E"/>
              </a:solidFill>
              <a:latin typeface="Calibri" panose="020F0502020204030204"/>
            </a:endParaRPr>
          </a:p>
        </p:txBody>
      </p:sp>
      <p:sp>
        <p:nvSpPr>
          <p:cNvPr id="4" name="TextBox 3"/>
          <p:cNvSpPr txBox="1"/>
          <p:nvPr/>
        </p:nvSpPr>
        <p:spPr>
          <a:xfrm>
            <a:off x="457200" y="1417320"/>
            <a:ext cx="5120640" cy="3681730"/>
          </a:xfrm>
          <a:prstGeom prst="rect">
            <a:avLst/>
          </a:prstGeom>
          <a:noFill/>
        </p:spPr>
        <p:txBody>
          <a:bodyPr wrap="square">
            <a:spAutoFit/>
          </a:bodyPr>
          <a:lstStyle/>
          <a:p>
            <a:r>
              <a:rPr sz="2000" b="1">
                <a:solidFill>
                  <a:srgbClr val="2F3C7E"/>
                </a:solidFill>
                <a:latin typeface="Calibri" panose="020F0502020204030204"/>
              </a:rPr>
              <a:t>Component Status</a:t>
            </a:r>
            <a:endParaRPr sz="2000" b="1">
              <a:solidFill>
                <a:srgbClr val="2F3C7E"/>
              </a:solidFill>
              <a:latin typeface="Calibri" panose="020F0502020204030204"/>
            </a:endParaRPr>
          </a:p>
          <a:p>
            <a:pPr>
              <a:spcBef>
                <a:spcPts val="800"/>
              </a:spcBef>
            </a:pPr>
            <a:r>
              <a:rPr sz="2000" b="1">
                <a:solidFill>
                  <a:srgbClr val="2E7D32"/>
                </a:solidFill>
                <a:latin typeface="Calibri" panose="020F0502020204030204"/>
              </a:rPr>
              <a:t>✓  Project structure &amp; config</a:t>
            </a:r>
            <a:endParaRPr sz="2000" b="1">
              <a:solidFill>
                <a:srgbClr val="2E7D32"/>
              </a:solidFill>
              <a:latin typeface="Calibri" panose="020F0502020204030204"/>
            </a:endParaRPr>
          </a:p>
          <a:p>
            <a:pPr>
              <a:spcBef>
                <a:spcPts val="800"/>
              </a:spcBef>
            </a:pPr>
            <a:r>
              <a:rPr sz="2000" b="1">
                <a:solidFill>
                  <a:srgbClr val="2E7D32"/>
                </a:solidFill>
                <a:latin typeface="Calibri" panose="020F0502020204030204"/>
              </a:rPr>
              <a:t>✓  BERT backbone + classifier head</a:t>
            </a:r>
            <a:endParaRPr sz="2000" b="1">
              <a:solidFill>
                <a:srgbClr val="2E7D32"/>
              </a:solidFill>
              <a:latin typeface="Calibri" panose="020F0502020204030204"/>
            </a:endParaRPr>
          </a:p>
          <a:p>
            <a:pPr>
              <a:spcBef>
                <a:spcPts val="800"/>
              </a:spcBef>
            </a:pPr>
            <a:r>
              <a:rPr sz="2000" b="1">
                <a:solidFill>
                  <a:srgbClr val="2E7D32"/>
                </a:solidFill>
                <a:latin typeface="Calibri" panose="020F0502020204030204"/>
              </a:rPr>
              <a:t>✓  Inference pipeline &amp; CLI</a:t>
            </a:r>
            <a:endParaRPr sz="2000" b="1">
              <a:solidFill>
                <a:srgbClr val="2E7D32"/>
              </a:solidFill>
              <a:latin typeface="Calibri" panose="020F0502020204030204"/>
            </a:endParaRPr>
          </a:p>
          <a:p>
            <a:pPr>
              <a:spcBef>
                <a:spcPts val="800"/>
              </a:spcBef>
            </a:pPr>
            <a:r>
              <a:rPr sz="2000" b="1">
                <a:solidFill>
                  <a:srgbClr val="2E7D32"/>
                </a:solidFill>
                <a:latin typeface="Calibri" panose="020F0502020204030204"/>
              </a:rPr>
              <a:t>✓  Attention-based explainability (basic)</a:t>
            </a:r>
            <a:endParaRPr sz="2000" b="1">
              <a:solidFill>
                <a:srgbClr val="2E7D32"/>
              </a:solidFill>
              <a:latin typeface="Calibri" panose="020F0502020204030204"/>
            </a:endParaRPr>
          </a:p>
          <a:p>
            <a:pPr>
              <a:spcBef>
                <a:spcPts val="800"/>
              </a:spcBef>
            </a:pPr>
            <a:r>
              <a:rPr sz="2000" b="0">
                <a:solidFill>
                  <a:srgbClr val="B00000"/>
                </a:solidFill>
                <a:latin typeface="Calibri" panose="020F0502020204030204"/>
              </a:rPr>
              <a:t>✗  Fine-tuning on labeled risk data</a:t>
            </a:r>
            <a:endParaRPr sz="2000" b="0">
              <a:solidFill>
                <a:srgbClr val="B00000"/>
              </a:solidFill>
              <a:latin typeface="Calibri" panose="020F0502020204030204"/>
            </a:endParaRPr>
          </a:p>
          <a:p>
            <a:pPr>
              <a:spcBef>
                <a:spcPts val="800"/>
              </a:spcBef>
            </a:pPr>
            <a:r>
              <a:rPr sz="2000" b="0">
                <a:solidFill>
                  <a:srgbClr val="B00000"/>
                </a:solidFill>
                <a:latin typeface="Calibri" panose="020F0502020204030204"/>
              </a:rPr>
              <a:t>✗  SHAP / TCAV / probing</a:t>
            </a:r>
            <a:endParaRPr sz="2000" b="0">
              <a:solidFill>
                <a:srgbClr val="B00000"/>
              </a:solidFill>
              <a:latin typeface="Calibri" panose="020F0502020204030204"/>
            </a:endParaRPr>
          </a:p>
          <a:p>
            <a:pPr>
              <a:spcBef>
                <a:spcPts val="800"/>
              </a:spcBef>
            </a:pPr>
            <a:r>
              <a:rPr sz="2000" b="0">
                <a:solidFill>
                  <a:srgbClr val="B00000"/>
                </a:solidFill>
                <a:latin typeface="Calibri" panose="020F0502020204030204"/>
              </a:rPr>
              <a:t>✗  Model compression (ONNX / TFLite)</a:t>
            </a:r>
            <a:endParaRPr sz="2000" b="0">
              <a:solidFill>
                <a:srgbClr val="B00000"/>
              </a:solidFill>
              <a:latin typeface="Calibri" panose="020F0502020204030204"/>
            </a:endParaRPr>
          </a:p>
          <a:p>
            <a:pPr>
              <a:spcBef>
                <a:spcPts val="800"/>
              </a:spcBef>
            </a:pPr>
            <a:r>
              <a:rPr sz="2000" b="0">
                <a:solidFill>
                  <a:srgbClr val="B00000"/>
                </a:solidFill>
                <a:latin typeface="Calibri" panose="020F0502020204030204"/>
              </a:rPr>
              <a:t>✗  Clinical validation</a:t>
            </a:r>
            <a:endParaRPr sz="2000" b="0">
              <a:solidFill>
                <a:srgbClr val="B00000"/>
              </a:solidFill>
              <a:latin typeface="Calibri" panose="020F0502020204030204"/>
            </a:endParaRPr>
          </a:p>
        </p:txBody>
      </p:sp>
      <p:sp>
        <p:nvSpPr>
          <p:cNvPr id="5" name="TextBox 4"/>
          <p:cNvSpPr txBox="1"/>
          <p:nvPr/>
        </p:nvSpPr>
        <p:spPr>
          <a:xfrm>
            <a:off x="457200" y="5074920"/>
            <a:ext cx="5120640" cy="1234440"/>
          </a:xfrm>
          <a:prstGeom prst="rect">
            <a:avLst/>
          </a:prstGeom>
          <a:noFill/>
        </p:spPr>
        <p:txBody>
          <a:bodyPr wrap="none">
            <a:spAutoFit/>
          </a:bodyPr>
          <a:lstStyle/>
          <a:p>
            <a:r>
              <a:rPr sz="4800" b="1">
                <a:solidFill>
                  <a:srgbClr val="2F3C7E"/>
                </a:solidFill>
                <a:latin typeface="Calibri" panose="020F0502020204030204"/>
              </a:rPr>
              <a:t>~35%</a:t>
            </a:r>
            <a:endParaRPr sz="4800" b="1">
              <a:solidFill>
                <a:srgbClr val="2F3C7E"/>
              </a:solidFill>
              <a:latin typeface="Calibri" panose="020F0502020204030204"/>
            </a:endParaRPr>
          </a:p>
          <a:p>
            <a:r>
              <a:rPr sz="1300">
                <a:solidFill>
                  <a:srgbClr val="6E6E6E"/>
                </a:solidFill>
                <a:latin typeface="Calibri" panose="020F0502020204030204"/>
              </a:rPr>
              <a:t>overall prototype completion (per README)</a:t>
            </a:r>
            <a:endParaRPr sz="1300">
              <a:solidFill>
                <a:srgbClr val="6E6E6E"/>
              </a:solidFill>
              <a:latin typeface="Calibri" panose="020F0502020204030204"/>
            </a:endParaRPr>
          </a:p>
        </p:txBody>
      </p:sp>
      <p:graphicFrame>
        <p:nvGraphicFramePr>
          <p:cNvPr id="6" name="Chart 5"/>
          <p:cNvGraphicFramePr>
            <a:graphicFrameLocks noGrp="1"/>
          </p:cNvGraphicFramePr>
          <p:nvPr/>
        </p:nvGraphicFramePr>
        <p:xfrm>
          <a:off x="4989195" y="1417320"/>
          <a:ext cx="6988810" cy="420624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Box 6"/>
          <p:cNvSpPr txBox="1"/>
          <p:nvPr/>
        </p:nvSpPr>
        <p:spPr>
          <a:xfrm>
            <a:off x="4008120" y="5623560"/>
            <a:ext cx="8053705" cy="645160"/>
          </a:xfrm>
          <a:prstGeom prst="rect">
            <a:avLst/>
          </a:prstGeom>
          <a:noFill/>
        </p:spPr>
        <p:txBody>
          <a:bodyPr wrap="square">
            <a:spAutoFit/>
          </a:bodyPr>
          <a:lstStyle/>
          <a:p>
            <a:r>
              <a:rPr i="1">
                <a:solidFill>
                  <a:srgbClr val="6E6E6E"/>
                </a:solidFill>
                <a:latin typeface="Calibri" panose="020F0502020204030204"/>
              </a:rPr>
              <a:t>*Targets are project goals only. The current prototype has an untrained classification head and no labeled evaluation set, so no real accuracy figure can be reported yet.</a:t>
            </a:r>
            <a:endParaRPr i="1">
              <a:solidFill>
                <a:srgbClr val="6E6E6E"/>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9380" y="269875"/>
            <a:ext cx="10514965" cy="558800"/>
          </a:xfrm>
        </p:spPr>
        <p:txBody>
          <a:bodyPr/>
          <a:p>
            <a:r>
              <a:rPr lang="en-US" sz="3200" b="1">
                <a:solidFill>
                  <a:srgbClr val="FF0000"/>
                </a:solidFill>
              </a:rPr>
              <a:t>SYSTEM ARCHITECTURE:</a:t>
            </a:r>
            <a:endParaRPr lang="en-US" sz="3200" b="1">
              <a:solidFill>
                <a:srgbClr val="FF0000"/>
              </a:solidFill>
            </a:endParaRPr>
          </a:p>
        </p:txBody>
      </p:sp>
      <p:sp>
        <p:nvSpPr>
          <p:cNvPr id="3" name="Rounded Rectangle 2"/>
          <p:cNvSpPr/>
          <p:nvPr/>
        </p:nvSpPr>
        <p:spPr>
          <a:xfrm>
            <a:off x="4267047" y="1234440"/>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2F3C7E"/>
                </a:solidFill>
                <a:latin typeface="Calibri" panose="020F0502020204030204"/>
              </a:rPr>
              <a:t>User text (consented)</a:t>
            </a:r>
            <a:endParaRPr sz="1300" b="1" i="0">
              <a:solidFill>
                <a:srgbClr val="2F3C7E"/>
              </a:solidFill>
              <a:latin typeface="Calibri" panose="020F0502020204030204"/>
            </a:endParaRPr>
          </a:p>
        </p:txBody>
      </p:sp>
      <p:sp>
        <p:nvSpPr>
          <p:cNvPr id="4" name="Down Arrow 3"/>
          <p:cNvSpPr/>
          <p:nvPr/>
        </p:nvSpPr>
        <p:spPr>
          <a:xfrm>
            <a:off x="5935827" y="169164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947007" y="194767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Tokenizer (BERT)</a:t>
            </a:r>
            <a:endParaRPr sz="1400" b="1" i="0">
              <a:solidFill>
                <a:srgbClr val="FFFFFF"/>
              </a:solidFill>
              <a:latin typeface="Calibri" panose="020F0502020204030204"/>
            </a:endParaRPr>
          </a:p>
        </p:txBody>
      </p:sp>
      <p:sp>
        <p:nvSpPr>
          <p:cNvPr id="6" name="Down Arrow 5"/>
          <p:cNvSpPr/>
          <p:nvPr/>
        </p:nvSpPr>
        <p:spPr>
          <a:xfrm>
            <a:off x="5935827" y="251460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47007" y="277063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BERT Encoder</a:t>
            </a:r>
            <a:endParaRPr sz="1400" b="1" i="0">
              <a:solidFill>
                <a:srgbClr val="FFFFFF"/>
              </a:solidFill>
              <a:latin typeface="Calibri" panose="020F0502020204030204"/>
            </a:endParaRPr>
          </a:p>
          <a:p>
            <a:pPr algn="ctr"/>
            <a:r>
              <a:rPr sz="1400" b="0" i="0">
                <a:solidFill>
                  <a:srgbClr val="FFFFFF"/>
                </a:solidFill>
                <a:latin typeface="Calibri" panose="020F0502020204030204"/>
              </a:rPr>
              <a:t>(attention layers)</a:t>
            </a:r>
            <a:endParaRPr sz="1400" b="0" i="0">
              <a:solidFill>
                <a:srgbClr val="FFFFFF"/>
              </a:solidFill>
              <a:latin typeface="Calibri" panose="020F0502020204030204"/>
            </a:endParaRPr>
          </a:p>
        </p:txBody>
      </p:sp>
      <p:sp>
        <p:nvSpPr>
          <p:cNvPr id="8" name="TextBox 7"/>
          <p:cNvSpPr txBox="1"/>
          <p:nvPr/>
        </p:nvSpPr>
        <p:spPr>
          <a:xfrm>
            <a:off x="8473287" y="2770632"/>
            <a:ext cx="3017520" cy="566928"/>
          </a:xfrm>
          <a:prstGeom prst="rect">
            <a:avLst/>
          </a:prstGeom>
          <a:noFill/>
        </p:spPr>
        <p:txBody>
          <a:bodyPr wrap="square" lIns="0" rIns="0" anchor="ctr"/>
          <a:lstStyle/>
          <a:p>
            <a:pPr algn="l"/>
            <a:r>
              <a:rPr sz="1200" i="1">
                <a:solidFill>
                  <a:srgbClr val="B00000"/>
                </a:solidFill>
                <a:latin typeface="Calibri" panose="020F0502020204030204"/>
              </a:rPr>
              <a:t>←  reverse-engineering target</a:t>
            </a:r>
            <a:endParaRPr sz="1200" i="1">
              <a:solidFill>
                <a:srgbClr val="B00000"/>
              </a:solidFill>
              <a:latin typeface="Calibri" panose="020F0502020204030204"/>
            </a:endParaRPr>
          </a:p>
        </p:txBody>
      </p:sp>
      <p:sp>
        <p:nvSpPr>
          <p:cNvPr id="9" name="Down Arrow 8"/>
          <p:cNvSpPr/>
          <p:nvPr/>
        </p:nvSpPr>
        <p:spPr>
          <a:xfrm>
            <a:off x="5935827" y="333756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47007" y="359359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Classification Head</a:t>
            </a:r>
            <a:endParaRPr sz="1400" b="1" i="0">
              <a:solidFill>
                <a:srgbClr val="FFFFFF"/>
              </a:solidFill>
              <a:latin typeface="Calibri" panose="020F0502020204030204"/>
            </a:endParaRPr>
          </a:p>
        </p:txBody>
      </p:sp>
      <p:sp>
        <p:nvSpPr>
          <p:cNvPr id="11" name="TextBox 10"/>
          <p:cNvSpPr txBox="1"/>
          <p:nvPr/>
        </p:nvSpPr>
        <p:spPr>
          <a:xfrm>
            <a:off x="8473287" y="3593592"/>
            <a:ext cx="3017520" cy="566928"/>
          </a:xfrm>
          <a:prstGeom prst="rect">
            <a:avLst/>
          </a:prstGeom>
          <a:noFill/>
        </p:spPr>
        <p:txBody>
          <a:bodyPr wrap="square" lIns="0" rIns="0" anchor="ctr"/>
          <a:lstStyle/>
          <a:p>
            <a:pPr algn="l"/>
            <a:r>
              <a:rPr sz="1200" i="1">
                <a:solidFill>
                  <a:srgbClr val="B00000"/>
                </a:solidFill>
                <a:latin typeface="Calibri" panose="020F0502020204030204"/>
              </a:rPr>
              <a:t>←  4-class head (No / Low / Moderate / High)</a:t>
            </a:r>
            <a:endParaRPr sz="1200" i="1">
              <a:solidFill>
                <a:srgbClr val="B00000"/>
              </a:solidFill>
              <a:latin typeface="Calibri" panose="020F0502020204030204"/>
            </a:endParaRPr>
          </a:p>
        </p:txBody>
      </p:sp>
      <p:sp>
        <p:nvSpPr>
          <p:cNvPr id="12" name="Down Arrow 11"/>
          <p:cNvSpPr/>
          <p:nvPr/>
        </p:nvSpPr>
        <p:spPr>
          <a:xfrm>
            <a:off x="5935827" y="416052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47007" y="441655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Simple XAI (prototype)</a:t>
            </a:r>
            <a:endParaRPr sz="1400" b="1" i="0">
              <a:solidFill>
                <a:srgbClr val="FFFFFF"/>
              </a:solidFill>
              <a:latin typeface="Calibri" panose="020F0502020204030204"/>
            </a:endParaRPr>
          </a:p>
        </p:txBody>
      </p:sp>
      <p:sp>
        <p:nvSpPr>
          <p:cNvPr id="14" name="TextBox 13"/>
          <p:cNvSpPr txBox="1"/>
          <p:nvPr/>
        </p:nvSpPr>
        <p:spPr>
          <a:xfrm>
            <a:off x="8473287" y="4416552"/>
            <a:ext cx="3017520" cy="566928"/>
          </a:xfrm>
          <a:prstGeom prst="rect">
            <a:avLst/>
          </a:prstGeom>
          <a:noFill/>
        </p:spPr>
        <p:txBody>
          <a:bodyPr wrap="square" lIns="0" rIns="0" anchor="ctr"/>
          <a:lstStyle/>
          <a:p>
            <a:pPr algn="l"/>
            <a:r>
              <a:rPr sz="1200" i="1">
                <a:solidFill>
                  <a:srgbClr val="B00000"/>
                </a:solidFill>
                <a:latin typeface="Calibri" panose="020F0502020204030204"/>
              </a:rPr>
              <a:t>←  last-layer attention → token importance</a:t>
            </a:r>
            <a:endParaRPr sz="1200" i="1">
              <a:solidFill>
                <a:srgbClr val="B00000"/>
              </a:solidFill>
              <a:latin typeface="Calibri" panose="020F0502020204030204"/>
            </a:endParaRPr>
          </a:p>
        </p:txBody>
      </p:sp>
      <p:sp>
        <p:nvSpPr>
          <p:cNvPr id="15" name="Down Arrow 14"/>
          <p:cNvSpPr/>
          <p:nvPr/>
        </p:nvSpPr>
        <p:spPr>
          <a:xfrm>
            <a:off x="5935827" y="498348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67047" y="5239512"/>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2F3C7E"/>
                </a:solidFill>
                <a:latin typeface="Calibri" panose="020F0502020204030204"/>
              </a:rPr>
              <a:t>JSON report + flags</a:t>
            </a:r>
            <a:endParaRPr sz="1250" b="1" i="0">
              <a:solidFill>
                <a:srgbClr val="2F3C7E"/>
              </a:solidFill>
              <a:latin typeface="Calibri" panose="020F0502020204030204"/>
            </a:endParaRPr>
          </a:p>
          <a:p>
            <a:pPr algn="ctr"/>
            <a:r>
              <a:rPr sz="1250" b="0" i="0">
                <a:solidFill>
                  <a:srgbClr val="2F3C7E"/>
                </a:solidFill>
                <a:latin typeface="Calibri" panose="020F0502020204030204"/>
              </a:rPr>
              <a:t>(always requires human review)</a:t>
            </a:r>
            <a:endParaRPr sz="1250" b="0" i="0">
              <a:solidFill>
                <a:srgbClr val="2F3C7E"/>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LIVE DEMO: RISK PREDICTION OUTPUT</a:t>
            </a:r>
            <a:endParaRPr lang="en-US" sz="3200" b="1">
              <a:solidFill>
                <a:srgbClr val="FF0000"/>
              </a:solidFill>
            </a:endParaRPr>
          </a:p>
        </p:txBody>
      </p:sp>
      <p:sp>
        <p:nvSpPr>
          <p:cNvPr id="3" name="Subtitle TextBox"/>
          <p:cNvSpPr txBox="1"/>
          <p:nvPr/>
        </p:nvSpPr>
        <p:spPr>
          <a:xfrm>
            <a:off x="457200" y="950000"/>
            <a:ext cx="11277600" cy="706755"/>
          </a:xfrm>
          <a:prstGeom prst="rect">
            <a:avLst/>
          </a:prstGeom>
          <a:noFill/>
        </p:spPr>
        <p:txBody>
          <a:bodyPr wrap="square">
            <a:spAutoFit/>
          </a:bodyPr>
          <a:lstStyle/>
          <a:p>
            <a:r>
              <a:rPr sz="2000" b="1">
                <a:solidFill>
                  <a:srgbClr val="6E6E6E"/>
                </a:solidFill>
                <a:latin typeface="Calibri" panose="020F0502020204030204"/>
              </a:rPr>
              <a:t>Working Streamlit interface: sample input classified with 65.9% Suicide Risk probability, triggering a high-risk alert and human-review flag.</a:t>
            </a:r>
            <a:endParaRPr sz="2000" b="1">
              <a:solidFill>
                <a:srgbClr val="6E6E6E"/>
              </a:solidFill>
              <a:latin typeface="Calibri" panose="020F0502020204030204"/>
            </a:endParaRPr>
          </a:p>
        </p:txBody>
      </p:sp>
      <p:pic>
        <p:nvPicPr>
          <p:cNvPr id="4" name="Demo Screenshot 1"/>
          <p:cNvPicPr>
            <a:picLocks noChangeAspect="1"/>
          </p:cNvPicPr>
          <p:nvPr/>
        </p:nvPicPr>
        <p:blipFill>
          <a:blip r:embed="rId1"/>
          <a:stretch>
            <a:fillRect/>
          </a:stretch>
        </p:blipFill>
        <p:spPr>
          <a:xfrm>
            <a:off x="1918720" y="1844640"/>
            <a:ext cx="8509500" cy="4500000"/>
          </a:xfrm>
          <a:prstGeom prst="rect">
            <a:avLst/>
          </a:prstGeom>
          <a:ln w="9525">
            <a:solidFill>
              <a:srgbClr val="CCCCCC"/>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DEMO: MULTI-LAYER EXPLAINABILITY</a:t>
            </a:r>
            <a:endParaRPr lang="en-US" sz="3200" b="1">
              <a:solidFill>
                <a:srgbClr val="FF0000"/>
              </a:solidFill>
            </a:endParaRPr>
          </a:p>
        </p:txBody>
      </p:sp>
      <p:sp>
        <p:nvSpPr>
          <p:cNvPr id="3" name="Subtitle TextBox"/>
          <p:cNvSpPr txBox="1"/>
          <p:nvPr/>
        </p:nvSpPr>
        <p:spPr>
          <a:xfrm>
            <a:off x="457200" y="950000"/>
            <a:ext cx="11277600" cy="706755"/>
          </a:xfrm>
          <a:prstGeom prst="rect">
            <a:avLst/>
          </a:prstGeom>
          <a:noFill/>
        </p:spPr>
        <p:txBody>
          <a:bodyPr wrap="square">
            <a:spAutoFit/>
          </a:bodyPr>
          <a:lstStyle/>
          <a:p>
            <a:r>
              <a:rPr sz="2000" b="1">
                <a:solidFill>
                  <a:srgbClr val="6E6E6E"/>
                </a:solidFill>
                <a:latin typeface="Calibri" panose="020F0502020204030204"/>
              </a:rPr>
              <a:t>DistilBERT last-layer attention and SHAP-style token scoring (with clinical keyword boosting) highlight the terms driving the prediction.</a:t>
            </a:r>
            <a:endParaRPr sz="2000" b="1">
              <a:solidFill>
                <a:srgbClr val="6E6E6E"/>
              </a:solidFill>
              <a:latin typeface="Calibri" panose="020F0502020204030204"/>
            </a:endParaRPr>
          </a:p>
        </p:txBody>
      </p:sp>
      <p:pic>
        <p:nvPicPr>
          <p:cNvPr id="4" name="Demo Screenshot 2"/>
          <p:cNvPicPr>
            <a:picLocks noChangeAspect="1"/>
          </p:cNvPicPr>
          <p:nvPr/>
        </p:nvPicPr>
        <p:blipFill>
          <a:blip r:embed="rId1"/>
          <a:stretch>
            <a:fillRect/>
          </a:stretch>
        </p:blipFill>
        <p:spPr>
          <a:xfrm>
            <a:off x="1918945" y="1988785"/>
            <a:ext cx="8236000" cy="4321000"/>
          </a:xfrm>
          <a:prstGeom prst="rect">
            <a:avLst/>
          </a:prstGeom>
          <a:ln w="9525">
            <a:solidFill>
              <a:srgbClr val="CCCCCC"/>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0170" y="105410"/>
            <a:ext cx="10903585" cy="41973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73025" y="622300"/>
          <a:ext cx="11915140" cy="601472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800">
                          <a:sym typeface="+mn-ea"/>
                        </a:rPr>
                        <a:t>Pascal Penava et al.</a:t>
                      </a:r>
                      <a:endParaRPr lang="en-US" altLang="en-US" sz="1800"/>
                    </a:p>
                    <a:p>
                      <a:pPr>
                        <a:buNone/>
                      </a:pPr>
                      <a:r>
                        <a:rPr altLang="en-US" sz="1800">
                          <a:sym typeface="+mn-ea"/>
                        </a:rPr>
                        <a:t>(https://ieeexplore.ieee.org/document/10757418). </a:t>
                      </a:r>
                      <a:r>
                        <a:rPr lang="en-US" altLang="en-US" sz="1800">
                          <a:sym typeface="+mn-ea"/>
                        </a:rPr>
                        <a:t>Journals &amp; Magazines, IEEE Access, Volume: 12, 2024</a:t>
                      </a:r>
                      <a:endParaRPr lang="en-US" altLang="zh-CN" sz="1100"/>
                    </a:p>
                  </a:txBody>
                  <a:tcPr marL="0" marR="0" marT="0" marB="0" anchor="ctr" anchorCtr="0"/>
                </a:tc>
                <a:tc>
                  <a:txBody>
                    <a:bodyPr/>
                    <a:p>
                      <a:r>
                        <a:rPr lang="en-US" altLang="en-US" sz="1800"/>
                        <a:t>1D CNN on resting-state EEG for early mild depression detection</a:t>
                      </a:r>
                      <a:endParaRPr lang="en-US" altLang="en-US" sz="1800"/>
                    </a:p>
                  </a:txBody>
                  <a:tcPr marL="0" marR="0" marT="0" marB="0" anchor="ctr" anchorCtr="0"/>
                </a:tc>
                <a:tc>
                  <a:txBody>
                    <a:bodyPr/>
                    <a:p>
                      <a:r>
                        <a:rPr lang="en-US" altLang="en-US" sz="2000"/>
                        <a:t>Good accuracy (69.21%), low computational cost &amp; fast inference</a:t>
                      </a:r>
                      <a:endParaRPr lang="en-US" altLang="en-US" sz="2000"/>
                    </a:p>
                  </a:txBody>
                  <a:tcPr marL="0" marR="0" marT="0" marB="0" anchor="ctr" anchorCtr="0"/>
                </a:tc>
                <a:tc>
                  <a:txBody>
                    <a:bodyPr/>
                    <a:p>
                      <a:r>
                        <a:rPr lang="en-US" altLang="en-US" sz="1800"/>
                        <a:t>EEG-only (requires hardware); no explainability; limited to depression, not suicide risk; no deployment/privacy</a:t>
                      </a:r>
                      <a:endParaRPr lang="en-US" altLang="en-US" sz="1800"/>
                    </a:p>
                  </a:txBody>
                  <a:tcPr marL="0" marR="0" marT="0" marB="0" anchor="ctr" anchorCtr="0"/>
                </a:tc>
                <a:tc>
                  <a:txBody>
                    <a:bodyPr/>
                    <a:p>
                      <a:r>
                        <a:rPr lang="en-US" altLang="zh-CN" sz="1800"/>
                        <a:t>Our text-based approach + XAI (SHAP &amp; Attention) + MLOps + on-device DPDP compliance is more accessible &amp; practical</a:t>
                      </a:r>
                      <a:endParaRPr lang="en-US" altLang="zh-CN" sz="18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400"/>
                        <a:t>Enhanced with modern XAI techniques, full MLOps, and privacy-preserving on-device inference</a:t>
                      </a:r>
                      <a:endParaRPr lang="en-US" altLang="en-US" sz="1400"/>
                    </a:p>
                  </a:txBody>
                  <a:tcPr marL="0" marR="0" marT="0" marB="0" anchor="ctr" anchorCtr="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24765" y="260985"/>
            <a:ext cx="4539615" cy="8051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07035" y="1125220"/>
            <a:ext cx="10514965" cy="3908425"/>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0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0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0" y="0"/>
            <a:ext cx="2896235" cy="729615"/>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rgbClr val="FF0000"/>
                </a:solidFill>
                <a:effectLst/>
                <a:uFillTx/>
                <a:latin typeface="Times New Roman" panose="02020603050405020304"/>
              </a:rPr>
              <a:t>References:</a:t>
            </a:r>
            <a:endParaRPr lang="en-IN" sz="3600" b="1" u="none" strike="noStrike">
              <a:solidFill>
                <a:srgbClr val="FF0000"/>
              </a:solidFill>
              <a:effectLst/>
              <a:uFillTx/>
              <a:latin typeface="Times New Roman" panose="02020603050405020304"/>
            </a:endParaRPr>
          </a:p>
        </p:txBody>
      </p:sp>
      <p:sp>
        <p:nvSpPr>
          <p:cNvPr id="85" name="PlaceHolder 2"/>
          <p:cNvSpPr>
            <a:spLocks noGrp="1"/>
          </p:cNvSpPr>
          <p:nvPr>
            <p:ph/>
          </p:nvPr>
        </p:nvSpPr>
        <p:spPr>
          <a:xfrm>
            <a:off x="77470" y="405130"/>
            <a:ext cx="12031345" cy="5861050"/>
          </a:xfrm>
          <a:prstGeom prst="rect">
            <a:avLst/>
          </a:prstGeom>
          <a:noFill/>
          <a:ln w="0">
            <a:noFill/>
          </a:ln>
        </p:spPr>
        <p:txBody>
          <a:bodyPr lIns="91440" tIns="45720" rIns="91440" bIns="45720" anchor="t"/>
          <a:p>
            <a:pPr marL="0" indent="0" algn="just" defTabSz="914400">
              <a:lnSpc>
                <a:spcPct val="90000"/>
              </a:lnSpc>
              <a:spcBef>
                <a:spcPts val="1000"/>
              </a:spcBef>
              <a:buClr>
                <a:srgbClr val="000000"/>
              </a:buClr>
              <a:buFont typeface="Arial" panose="020B0604020202020204"/>
              <a:buNone/>
            </a:pPr>
            <a:endParaRPr lang="en-US" altLang="en-US" sz="20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altLang="en-US" sz="2000" u="none" strike="noStrike">
                <a:solidFill>
                  <a:schemeClr val="dk1"/>
                </a:solidFill>
                <a:effectLst/>
                <a:uFillTx/>
                <a:latin typeface="Calibri" panose="020F0502020204030204"/>
              </a:rPr>
              <a:t>[1] Muhammad Azhar et al. (2026)—Explainable Transformer-Based Framework for Suicide Risk Detection: Deep Learning with Interpretability for Mental Health Crisis Identification (2026)— MDPI.. Journals &amp; Magazines, Information, Volume: 17</a:t>
            </a:r>
            <a:endParaRPr lang="en-US" sz="200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000" u="none" strike="noStrike">
                <a:solidFill>
                  <a:schemeClr val="dk1"/>
                </a:solidFill>
                <a:effectLst/>
                <a:uFillTx/>
                <a:latin typeface="Calibri" panose="020F0502020204030204"/>
              </a:rPr>
              <a:t>[2]Pascal Penava et al.(2025)—Early-Stage Non-Severe Depression Detection Using a Novel CNNApproach on Resting-State EEG Data(2024)— IEEE.</a:t>
            </a:r>
            <a:r>
              <a:rPr altLang="en-US" sz="2000">
                <a:sym typeface="+mn-ea"/>
              </a:rPr>
              <a:t> (https://ieeexplore.ieee.org/document/10757418). </a:t>
            </a:r>
            <a:r>
              <a:rPr lang="en-US" altLang="en-US" sz="2000">
                <a:sym typeface="+mn-ea"/>
              </a:rPr>
              <a:t>Journals &amp; Magazines, IEEE Access, Volume: 12</a:t>
            </a:r>
            <a:endParaRPr lang="en-US" altLang="en-US" sz="2000">
              <a:sym typeface="+mn-ea"/>
            </a:endParaRPr>
          </a:p>
          <a:p>
            <a:pPr marL="228600" indent="-228600" algn="just" defTabSz="914400">
              <a:lnSpc>
                <a:spcPct val="90000"/>
              </a:lnSpc>
              <a:spcBef>
                <a:spcPts val="1000"/>
              </a:spcBef>
              <a:buClr>
                <a:srgbClr val="000000"/>
              </a:buClr>
              <a:buFont typeface="Arial" panose="020B0604020202020204"/>
              <a:buChar char="•"/>
            </a:pPr>
            <a:r>
              <a:rPr lang="en-IN" sz="2000" dirty="0">
                <a:sym typeface="+mn-ea"/>
              </a:rPr>
              <a:t>[</a:t>
            </a:r>
            <a:r>
              <a:rPr altLang="en-IN" sz="2000" dirty="0">
                <a:sym typeface="+mn-ea"/>
              </a:rPr>
              <a:t>3</a:t>
            </a:r>
            <a:r>
              <a:rPr lang="en-IN" sz="2000" dirty="0">
                <a:sym typeface="+mn-ea"/>
              </a:rPr>
              <a:t>] A. Vázquez-Rodríguez, J. L. Hernández-Ramos, A. J. Jara, and A. F. </a:t>
            </a:r>
            <a:r>
              <a:rPr lang="en-IN" sz="2000" dirty="0" err="1">
                <a:sym typeface="+mn-ea"/>
              </a:rPr>
              <a:t>Skarmeta</a:t>
            </a:r>
            <a:r>
              <a:rPr lang="en-IN" sz="2000" dirty="0">
                <a:sym typeface="+mn-ea"/>
              </a:rPr>
              <a:t>, "CNFP: Optimizing </a:t>
            </a:r>
            <a:r>
              <a:rPr altLang="en-IN" sz="2000" dirty="0">
                <a:sym typeface="+mn-ea"/>
              </a:rPr>
              <a:t>backend</a:t>
            </a:r>
            <a:r>
              <a:rPr lang="en-IN" sz="2000" dirty="0">
                <a:sym typeface="+mn-ea"/>
              </a:rPr>
              <a:t>-Native </a:t>
            </a:r>
            <a:r>
              <a:rPr altLang="en-IN" sz="2000" dirty="0">
                <a:sym typeface="+mn-ea"/>
              </a:rPr>
              <a:t>quantisation </a:t>
            </a:r>
            <a:r>
              <a:rPr lang="en-IN" sz="2000" dirty="0">
                <a:sym typeface="+mn-ea"/>
              </a:rPr>
              <a:t> Function Placement with Diffusion Models </a:t>
            </a:r>
            <a:r>
              <a:rPr altLang="en-IN" sz="2000" dirty="0">
                <a:sym typeface="+mn-ea"/>
              </a:rPr>
              <a:t>with proper optimisation</a:t>
            </a:r>
            <a:r>
              <a:rPr lang="en-IN" sz="2000" dirty="0">
                <a:sym typeface="+mn-ea"/>
              </a:rPr>
              <a:t>," </a:t>
            </a:r>
            <a:r>
              <a:rPr lang="en-IN" sz="2000" i="1" dirty="0" err="1">
                <a:sym typeface="+mn-ea"/>
              </a:rPr>
              <a:t>arXiv</a:t>
            </a:r>
            <a:r>
              <a:rPr lang="en-IN" sz="2000" i="1" dirty="0">
                <a:sym typeface="+mn-ea"/>
              </a:rPr>
              <a:t> preprint arXiv:2508.1</a:t>
            </a:r>
            <a:r>
              <a:rPr altLang="en-IN" sz="2000" i="1" dirty="0">
                <a:sym typeface="+mn-ea"/>
              </a:rPr>
              <a:t>12</a:t>
            </a:r>
            <a:r>
              <a:rPr lang="en-IN" sz="2000" i="1" dirty="0">
                <a:sym typeface="+mn-ea"/>
              </a:rPr>
              <a:t>65</a:t>
            </a:r>
            <a:r>
              <a:rPr lang="en-IN" sz="2000" dirty="0">
                <a:sym typeface="+mn-ea"/>
              </a:rPr>
              <a:t>, 202</a:t>
            </a:r>
            <a:r>
              <a:rPr altLang="en-IN" sz="2000" dirty="0">
                <a:sym typeface="+mn-ea"/>
              </a:rPr>
              <a:t>4</a:t>
            </a:r>
            <a:r>
              <a:rPr lang="en-IN" sz="2000" dirty="0">
                <a:sym typeface="+mn-ea"/>
              </a:rPr>
              <a:t>.</a:t>
            </a:r>
            <a:endParaRPr lang="en-IN" sz="2000" dirty="0"/>
          </a:p>
          <a:p>
            <a:pPr marL="228600" indent="-228600" algn="just" defTabSz="914400">
              <a:lnSpc>
                <a:spcPct val="90000"/>
              </a:lnSpc>
              <a:spcBef>
                <a:spcPts val="1000"/>
              </a:spcBef>
              <a:buClr>
                <a:srgbClr val="000000"/>
              </a:buClr>
              <a:buFont typeface="Arial" panose="020B0604020202020204"/>
              <a:buChar char="•"/>
            </a:pPr>
            <a:r>
              <a:rPr lang="en-IN" sz="2000" dirty="0">
                <a:sym typeface="+mn-ea"/>
              </a:rPr>
              <a:t>[</a:t>
            </a:r>
            <a:r>
              <a:rPr altLang="en-IN" sz="2000" dirty="0">
                <a:sym typeface="+mn-ea"/>
              </a:rPr>
              <a:t>4</a:t>
            </a:r>
            <a:r>
              <a:rPr lang="en-IN" sz="2000" dirty="0">
                <a:sym typeface="+mn-ea"/>
              </a:rPr>
              <a:t>]</a:t>
            </a:r>
            <a:r>
              <a:rPr lang="en-IN" sz="2000" dirty="0">
                <a:sym typeface="+mn-ea"/>
              </a:rPr>
              <a:t> W. L. Hamilton, R. Ying, and J. Leskovec, "Inductive Re</a:t>
            </a:r>
            <a:r>
              <a:rPr altLang="en-IN" sz="2000" dirty="0">
                <a:sym typeface="+mn-ea"/>
              </a:rPr>
              <a:t>currence </a:t>
            </a:r>
            <a:r>
              <a:rPr lang="en-IN" sz="2000" dirty="0">
                <a:sym typeface="+mn-ea"/>
              </a:rPr>
              <a:t>Learning on </a:t>
            </a:r>
            <a:r>
              <a:rPr altLang="en-IN" sz="2000" dirty="0">
                <a:sym typeface="+mn-ea"/>
              </a:rPr>
              <a:t>Mental Health</a:t>
            </a:r>
            <a:r>
              <a:rPr lang="en-IN" sz="2000" dirty="0">
                <a:sym typeface="+mn-ea"/>
              </a:rPr>
              <a:t>," </a:t>
            </a:r>
            <a:r>
              <a:rPr lang="en-IN" sz="2000" i="1" dirty="0">
                <a:sym typeface="+mn-ea"/>
              </a:rPr>
              <a:t>Advances in </a:t>
            </a:r>
            <a:r>
              <a:rPr altLang="en-IN" sz="2000" i="1" dirty="0">
                <a:sym typeface="+mn-ea"/>
              </a:rPr>
              <a:t>MLOps </a:t>
            </a:r>
            <a:r>
              <a:rPr lang="en-IN" sz="2000" i="1" dirty="0">
                <a:sym typeface="+mn-ea"/>
              </a:rPr>
              <a:t> (</a:t>
            </a:r>
            <a:r>
              <a:rPr altLang="en-IN" sz="2000" i="1" dirty="0">
                <a:sym typeface="+mn-ea"/>
              </a:rPr>
              <a:t>Algorithms</a:t>
            </a:r>
            <a:r>
              <a:rPr lang="en-IN" sz="2000" i="1" dirty="0">
                <a:sym typeface="+mn-ea"/>
              </a:rPr>
              <a:t>)</a:t>
            </a:r>
            <a:r>
              <a:rPr lang="en-IN" sz="2000" dirty="0">
                <a:sym typeface="+mn-ea"/>
              </a:rPr>
              <a:t>, Vol. 30, 20</a:t>
            </a:r>
            <a:r>
              <a:rPr altLang="en-IN" sz="2000" dirty="0">
                <a:sym typeface="+mn-ea"/>
              </a:rPr>
              <a:t>23</a:t>
            </a:r>
            <a:r>
              <a:rPr lang="en-IN" sz="2000" dirty="0">
                <a:sym typeface="+mn-ea"/>
              </a:rPr>
              <a:t>.</a:t>
            </a:r>
            <a:endParaRPr lang="en-IN" sz="20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2000" dirty="0">
                <a:sym typeface="+mn-ea"/>
              </a:rPr>
              <a:t>[</a:t>
            </a:r>
            <a:r>
              <a:rPr altLang="en-IN" sz="2000" dirty="0">
                <a:sym typeface="+mn-ea"/>
              </a:rPr>
              <a:t>5</a:t>
            </a:r>
            <a:r>
              <a:rPr lang="en-IN" sz="2000" dirty="0">
                <a:sym typeface="+mn-ea"/>
              </a:rPr>
              <a:t>] I. Bello, H. Pham, Q. V. Le, M. Norouzi, and S. Bengio, "Neural Combinatorial Optimization with Reinforcement Learning," </a:t>
            </a:r>
            <a:r>
              <a:rPr lang="en-IN" sz="2000" i="1" dirty="0" err="1">
                <a:sym typeface="+mn-ea"/>
              </a:rPr>
              <a:t>arXiv</a:t>
            </a:r>
            <a:r>
              <a:rPr lang="en-IN" sz="2000" i="1" dirty="0">
                <a:sym typeface="+mn-ea"/>
              </a:rPr>
              <a:t> preprint arXiv:1611.09940</a:t>
            </a:r>
            <a:r>
              <a:rPr lang="en-IN" sz="2000" dirty="0">
                <a:sym typeface="+mn-ea"/>
              </a:rPr>
              <a:t>, 20</a:t>
            </a:r>
            <a:r>
              <a:rPr altLang="en-IN" sz="2000" dirty="0">
                <a:sym typeface="+mn-ea"/>
              </a:rPr>
              <a:t>21</a:t>
            </a:r>
            <a:r>
              <a:rPr lang="en-IN" sz="2000" dirty="0">
                <a:sym typeface="+mn-ea"/>
              </a:rPr>
              <a:t>.</a:t>
            </a:r>
            <a:r>
              <a:rPr altLang="en-US" sz="2000">
                <a:sym typeface="+mn-ea"/>
              </a:rPr>
              <a:t> </a:t>
            </a:r>
            <a:endParaRPr lang="en-US" altLang="en-US" sz="200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000" u="none" strike="noStrike">
                <a:solidFill>
                  <a:schemeClr val="dk1"/>
                </a:solidFill>
                <a:effectLst/>
                <a:uFillTx/>
                <a:latin typeface="Calibri" panose="020F0502020204030204"/>
                <a:sym typeface="+mn-ea"/>
              </a:rPr>
              <a:t>[6]P. Penava and R. Buettner, 'Early-Stage Non-Severe Depression Detection Using a Novel Convolutional Neural Network Approach Based on Resting-State EEG Data,' IEEE Access, vol. 12, pp. 173380-173389, 2024.</a:t>
            </a:r>
            <a:endParaRPr lang="en-US" altLang="en-US" sz="200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000" u="none" strike="noStrike">
                <a:solidFill>
                  <a:schemeClr val="dk1"/>
                </a:solidFill>
                <a:effectLst/>
                <a:uFillTx/>
                <a:latin typeface="Calibri" panose="020F0502020204030204"/>
              </a:rPr>
              <a:t>[7] A. Dev et al., 'Exploration of EEG-based depression biomarkers identification techniques and their applications: A systematic review,' IEEE Access, vol. 10, pp. 16756-16781, 2022</a:t>
            </a:r>
            <a:endParaRPr lang="en-US" altLang="en-US" sz="200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altLang="en-US" sz="200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450" y="320040"/>
            <a:ext cx="11791950" cy="586803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61950" y="327660"/>
          <a:ext cx="10452100" cy="6070600"/>
        </p:xfrm>
        <a:graphic>
          <a:graphicData uri="http://schemas.openxmlformats.org/drawingml/2006/table">
            <a:tbl>
              <a:tblPr/>
              <a:tblGrid>
                <a:gridCol w="2090420"/>
                <a:gridCol w="2090420"/>
                <a:gridCol w="2090420"/>
                <a:gridCol w="2090420"/>
                <a:gridCol w="2090420"/>
              </a:tblGrid>
              <a:tr h="441325">
                <a:tc>
                  <a:txBody>
                    <a:bodyPr/>
                    <a:p>
                      <a:r>
                        <a:rPr lang="en-US" altLang="zh-CN" sz="1600" b="1">
                          <a:solidFill>
                            <a:schemeClr val="tx1"/>
                          </a:solidFill>
                        </a:rPr>
                        <a:t>Author &amp; Year</a:t>
                      </a:r>
                      <a:endParaRPr lang="en-US" altLang="zh-CN" sz="1600" b="1">
                        <a:solidFill>
                          <a:schemeClr val="tx1"/>
                        </a:solidFill>
                      </a:endParaRPr>
                    </a:p>
                  </a:txBody>
                  <a:tcPr marL="0" marR="0" marT="0" marB="0" anchor="ctr" anchorCtr="0">
                    <a:lnL>
                      <a:noFill/>
                    </a:lnL>
                    <a:lnR>
                      <a:noFill/>
                    </a:lnR>
                    <a:lnT>
                      <a:noFill/>
                    </a:lnT>
                    <a:lnB>
                      <a:noFill/>
                    </a:lnB>
                    <a:noFill/>
                  </a:tcPr>
                </a:tc>
                <a:tc>
                  <a:txBody>
                    <a:bodyPr/>
                    <a:p>
                      <a:r>
                        <a:rPr lang="en-US" altLang="zh-CN" sz="1100"/>
                        <a:t>Work Done</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c>
                  <a:txBody>
                    <a:bodyPr/>
                    <a:p>
                      <a:r>
                        <a:rPr lang="en-US" altLang="zh-CN" sz="1100"/>
                        <a:t>Comparison with Our Solution</a:t>
                      </a:r>
                      <a:endParaRPr lang="en-US" altLang="zh-CN" sz="1100"/>
                    </a:p>
                  </a:txBody>
                  <a:tcPr marL="0" marR="0" marT="0" marB="0" anchor="ctr" anchorCtr="0">
                    <a:lnL>
                      <a:noFill/>
                    </a:lnL>
                    <a:lnR>
                      <a:noFill/>
                    </a:lnR>
                    <a:lnT>
                      <a:noFill/>
                    </a:lnT>
                    <a:lnB>
                      <a:noFill/>
                    </a:lnB>
                    <a:noFill/>
                  </a:tcPr>
                </a:tc>
              </a:tr>
              <a:tr h="1164590">
                <a:tc>
                  <a:txBody>
                    <a:bodyPr/>
                    <a:p>
                      <a:r>
                        <a:rPr lang="en-US" altLang="zh-CN" sz="1100"/>
                        <a:t>Pascal Penava et al. (2024)</a:t>
                      </a:r>
                      <a:endParaRPr lang="en-US" altLang="zh-CN" sz="1100"/>
                    </a:p>
                  </a:txBody>
                  <a:tcPr marL="0" marR="0" marT="0" marB="0" anchor="ctr" anchorCtr="0">
                    <a:lnL>
                      <a:noFill/>
                    </a:lnL>
                    <a:lnR>
                      <a:noFill/>
                    </a:lnR>
                    <a:lnT>
                      <a:noFill/>
                    </a:lnT>
                    <a:lnB>
                      <a:noFill/>
                    </a:lnB>
                    <a:noFill/>
                  </a:tcPr>
                </a:tc>
                <a:tc>
                  <a:txBody>
                    <a:bodyPr/>
                    <a:p>
                      <a:r>
                        <a:rPr lang="en-US" altLang="zh-CN" sz="1100"/>
                        <a:t>1D CNN on resting-state EEG for mild depression detection</a:t>
                      </a:r>
                      <a:endParaRPr lang="en-US" altLang="zh-CN" sz="1100"/>
                    </a:p>
                  </a:txBody>
                  <a:tcPr marL="0" marR="0" marT="0" marB="0" anchor="ctr" anchorCtr="0">
                    <a:lnL>
                      <a:noFill/>
                    </a:lnL>
                    <a:lnR>
                      <a:noFill/>
                    </a:lnR>
                    <a:lnT>
                      <a:noFill/>
                    </a:lnT>
                    <a:lnB>
                      <a:noFill/>
                    </a:lnB>
                    <a:noFill/>
                  </a:tcPr>
                </a:tc>
                <a:tc>
                  <a:txBody>
                    <a:bodyPr/>
                    <a:p>
                      <a:r>
                        <a:rPr lang="en-US" altLang="zh-CN" sz="1100"/>
                        <a:t>Good accuracy (69.21%), low compute &amp; fast inference</a:t>
                      </a:r>
                      <a:endParaRPr lang="en-US" altLang="zh-CN" sz="1100"/>
                    </a:p>
                  </a:txBody>
                  <a:tcPr marL="0" marR="0" marT="0" marB="0" anchor="ctr" anchorCtr="0">
                    <a:lnL>
                      <a:noFill/>
                    </a:lnL>
                    <a:lnR>
                      <a:noFill/>
                    </a:lnR>
                    <a:lnT>
                      <a:noFill/>
                    </a:lnT>
                    <a:lnB>
                      <a:noFill/>
                    </a:lnB>
                    <a:noFill/>
                  </a:tcPr>
                </a:tc>
                <a:tc>
                  <a:txBody>
                    <a:bodyPr/>
                    <a:p>
                      <a:r>
                        <a:rPr lang="en-US" altLang="zh-CN" sz="1100"/>
                        <a:t>EEG-only (needs hardware); no explainability; not suicide-focused; no deployment/privacy</a:t>
                      </a:r>
                      <a:endParaRPr lang="en-US" altLang="zh-CN" sz="1100"/>
                    </a:p>
                  </a:txBody>
                  <a:tcPr marL="0" marR="0" marT="0" marB="0" anchor="ctr" anchorCtr="0">
                    <a:lnL>
                      <a:noFill/>
                    </a:lnL>
                    <a:lnR>
                      <a:noFill/>
                    </a:lnR>
                    <a:lnT>
                      <a:noFill/>
                    </a:lnT>
                    <a:lnB>
                      <a:noFill/>
                    </a:lnB>
                    <a:noFill/>
                  </a:tcPr>
                </a:tc>
                <a:tc>
                  <a:txBody>
                    <a:bodyPr/>
                    <a:p>
                      <a:r>
                        <a:rPr lang="en-US" altLang="zh-CN" sz="1100"/>
                        <a:t>Our text-based + XAI + MLOps + on-device DPDP compliant approach is more accessible</a:t>
                      </a:r>
                      <a:endParaRPr lang="en-US" altLang="zh-CN" sz="1100"/>
                    </a:p>
                  </a:txBody>
                  <a:tcPr marL="0" marR="0" marT="0" marB="0" anchor="ctr" anchorCtr="0">
                    <a:lnL>
                      <a:noFill/>
                    </a:lnL>
                    <a:lnR>
                      <a:noFill/>
                    </a:lnR>
                    <a:lnT>
                      <a:noFill/>
                    </a:lnT>
                    <a:lnB>
                      <a:noFill/>
                    </a:lnB>
                    <a:noFill/>
                  </a:tcPr>
                </a:tc>
              </a:tr>
              <a:tr h="1359535">
                <a:tc>
                  <a:txBody>
                    <a:bodyPr/>
                    <a:p>
                      <a:r>
                        <a:rPr lang="en-US" altLang="zh-CN" sz="1100"/>
                        <a:t>Shaoxiong Ji et al. (2022)</a:t>
                      </a:r>
                      <a:endParaRPr lang="en-US" altLang="zh-CN" sz="1100"/>
                    </a:p>
                  </a:txBody>
                  <a:tcPr marL="0" marR="0" marT="0" marB="0" anchor="ctr" anchorCtr="0">
                    <a:lnL>
                      <a:noFill/>
                    </a:lnL>
                    <a:lnR>
                      <a:noFill/>
                    </a:lnR>
                    <a:lnT>
                      <a:noFill/>
                    </a:lnT>
                    <a:lnB>
                      <a:noFill/>
                    </a:lnB>
                    <a:noFill/>
                  </a:tcPr>
                </a:tc>
                <a:tc>
                  <a:txBody>
                    <a:bodyPr/>
                    <a:p>
                      <a:r>
                        <a:rPr lang="en-US" altLang="zh-CN" sz="1100"/>
                        <a:t>Pretrained MentalBERT + fine-tuning on mental health text</a:t>
                      </a:r>
                      <a:endParaRPr lang="en-US" altLang="zh-CN" sz="1100"/>
                    </a:p>
                  </a:txBody>
                  <a:tcPr marL="0" marR="0" marT="0" marB="0" anchor="ctr" anchorCtr="0">
                    <a:lnL>
                      <a:noFill/>
                    </a:lnL>
                    <a:lnR>
                      <a:noFill/>
                    </a:lnR>
                    <a:lnT>
                      <a:noFill/>
                    </a:lnT>
                    <a:lnB>
                      <a:noFill/>
                    </a:lnB>
                    <a:noFill/>
                  </a:tcPr>
                </a:tc>
                <a:tc>
                  <a:txBody>
                    <a:bodyPr/>
                    <a:p>
                      <a:r>
                        <a:rPr lang="en-US" altLang="zh-CN" sz="1100"/>
                        <a:t>Strong domain-specific performance</a:t>
                      </a:r>
                      <a:endParaRPr lang="en-US" altLang="zh-CN" sz="1100"/>
                    </a:p>
                  </a:txBody>
                  <a:tcPr marL="0" marR="0" marT="0" marB="0" anchor="ctr" anchorCtr="0">
                    <a:lnL>
                      <a:noFill/>
                    </a:lnL>
                    <a:lnR>
                      <a:noFill/>
                    </a:lnR>
                    <a:lnT>
                      <a:noFill/>
                    </a:lnT>
                    <a:lnB>
                      <a:noFill/>
                    </a:lnB>
                    <a:noFill/>
                  </a:tcPr>
                </a:tc>
                <a:tc>
                  <a:txBody>
                    <a:bodyPr/>
                    <a:p>
                      <a:r>
                        <a:rPr lang="en-US" altLang="zh-CN" sz="1100"/>
                        <a:t>Black-box; no explainability or deployment focus</a:t>
                      </a:r>
                      <a:endParaRPr lang="en-US" altLang="zh-CN" sz="1100"/>
                    </a:p>
                  </a:txBody>
                  <a:tcPr marL="0" marR="0" marT="0" marB="0" anchor="ctr" anchorCtr="0">
                    <a:lnL>
                      <a:noFill/>
                    </a:lnL>
                    <a:lnR>
                      <a:noFill/>
                    </a:lnR>
                    <a:lnT>
                      <a:noFill/>
                    </a:lnT>
                    <a:lnB>
                      <a:noFill/>
                    </a:lnB>
                    <a:noFill/>
                  </a:tcPr>
                </a:tc>
                <a:tc>
                  <a:txBody>
                    <a:bodyPr/>
                    <a:p>
                      <a:r>
                        <a:rPr lang="en-US" altLang="zh-CN" sz="1100"/>
                        <a:t>Builds on MentalBERT + adds SHAP, Attention, MLOps &amp; privacy</a:t>
                      </a:r>
                      <a:endParaRPr lang="en-US" altLang="zh-CN" sz="1100"/>
                    </a:p>
                  </a:txBody>
                  <a:tcPr marL="0" marR="0" marT="0" marB="0" anchor="ctr" anchorCtr="0">
                    <a:lnL>
                      <a:noFill/>
                    </a:lnL>
                    <a:lnR>
                      <a:noFill/>
                    </a:lnR>
                    <a:lnT>
                      <a:noFill/>
                    </a:lnT>
                    <a:lnB>
                      <a:noFill/>
                    </a:lnB>
                    <a:noFill/>
                  </a:tcPr>
                </a:tc>
              </a:tr>
              <a:tr h="1358265">
                <a:tc>
                  <a:txBody>
                    <a:bodyPr/>
                    <a:p>
                      <a:r>
                        <a:rPr lang="en-US" altLang="zh-CN" sz="1100"/>
                        <a:t>Matthew Matero et al. (2019)</a:t>
                      </a:r>
                      <a:endParaRPr lang="en-US" altLang="zh-CN" sz="1100"/>
                    </a:p>
                  </a:txBody>
                  <a:tcPr marL="0" marR="0" marT="0" marB="0" anchor="ctr" anchorCtr="0">
                    <a:lnL>
                      <a:noFill/>
                    </a:lnL>
                    <a:lnR>
                      <a:noFill/>
                    </a:lnR>
                    <a:lnT>
                      <a:noFill/>
                    </a:lnT>
                    <a:lnB>
                      <a:noFill/>
                    </a:lnB>
                    <a:noFill/>
                  </a:tcPr>
                </a:tc>
                <a:tc>
                  <a:txBody>
                    <a:bodyPr/>
                    <a:p>
                      <a:r>
                        <a:rPr lang="en-US" altLang="zh-CN" sz="1100"/>
                        <a:t>Dual-context BERT (post + history) for suicide risk</a:t>
                      </a:r>
                      <a:endParaRPr lang="en-US" altLang="zh-CN" sz="1100"/>
                    </a:p>
                  </a:txBody>
                  <a:tcPr marL="0" marR="0" marT="0" marB="0" anchor="ctr" anchorCtr="0">
                    <a:lnL>
                      <a:noFill/>
                    </a:lnL>
                    <a:lnR>
                      <a:noFill/>
                    </a:lnR>
                    <a:lnT>
                      <a:noFill/>
                    </a:lnT>
                    <a:lnB>
                      <a:noFill/>
                    </a:lnB>
                    <a:noFill/>
                  </a:tcPr>
                </a:tc>
                <a:tc>
                  <a:txBody>
                    <a:bodyPr/>
                    <a:p>
                      <a:r>
                        <a:rPr lang="en-US" altLang="zh-CN" sz="1100"/>
                        <a:t>Better context via user history</a:t>
                      </a:r>
                      <a:endParaRPr lang="en-US" altLang="zh-CN" sz="1100"/>
                    </a:p>
                  </a:txBody>
                  <a:tcPr marL="0" marR="0" marT="0" marB="0" anchor="ctr" anchorCtr="0">
                    <a:lnL>
                      <a:noFill/>
                    </a:lnL>
                    <a:lnR>
                      <a:noFill/>
                    </a:lnR>
                    <a:lnT>
                      <a:noFill/>
                    </a:lnT>
                    <a:lnB>
                      <a:noFill/>
                    </a:lnB>
                    <a:noFill/>
                  </a:tcPr>
                </a:tc>
                <a:tc>
                  <a:txBody>
                    <a:bodyPr/>
                    <a:p>
                      <a:r>
                        <a:rPr lang="en-US" altLang="zh-CN" sz="1100"/>
                        <a:t>Black-box; limited interpretability &amp; deployment</a:t>
                      </a:r>
                      <a:endParaRPr lang="en-US" altLang="zh-CN" sz="1100"/>
                    </a:p>
                  </a:txBody>
                  <a:tcPr marL="0" marR="0" marT="0" marB="0" anchor="ctr" anchorCtr="0">
                    <a:lnL>
                      <a:noFill/>
                    </a:lnL>
                    <a:lnR>
                      <a:noFill/>
                    </a:lnR>
                    <a:lnT>
                      <a:noFill/>
                    </a:lnT>
                    <a:lnB>
                      <a:noFill/>
                    </a:lnB>
                    <a:noFill/>
                  </a:tcPr>
                </a:tc>
                <a:tc>
                  <a:txBody>
                    <a:bodyPr/>
                    <a:p>
                      <a:r>
                        <a:rPr lang="en-US" altLang="zh-CN" sz="1100"/>
                        <a:t>Enhanced with modern XAI + production MLOps + on-device inference</a:t>
                      </a:r>
                      <a:endParaRPr lang="en-US" altLang="zh-CN" sz="1100"/>
                    </a:p>
                  </a:txBody>
                  <a:tcPr marL="0" marR="0" marT="0" marB="0" anchor="ctr" anchorCtr="0">
                    <a:lnL>
                      <a:noFill/>
                    </a:lnL>
                    <a:lnR>
                      <a:noFill/>
                    </a:lnR>
                    <a:lnT>
                      <a:noFill/>
                    </a:lnT>
                    <a:lnB>
                      <a:noFill/>
                    </a:lnB>
                    <a:noFill/>
                  </a:tcPr>
                </a:tc>
              </a:tr>
              <a:tr h="1746885">
                <a:tc>
                  <a:txBody>
                    <a:bodyPr/>
                    <a:p>
                      <a:r>
                        <a:rPr lang="en-US" altLang="zh-CN" sz="1100"/>
                        <a:t>Hao Tang et al. (2023)</a:t>
                      </a:r>
                      <a:endParaRPr lang="en-US" altLang="zh-CN" sz="1100"/>
                    </a:p>
                  </a:txBody>
                  <a:tcPr marL="0" marR="0" marT="0" marB="0" anchor="ctr" anchorCtr="0">
                    <a:lnL>
                      <a:noFill/>
                    </a:lnL>
                    <a:lnR>
                      <a:noFill/>
                    </a:lnR>
                    <a:lnT>
                      <a:noFill/>
                    </a:lnT>
                    <a:lnB>
                      <a:noFill/>
                    </a:lnB>
                    <a:noFill/>
                  </a:tcPr>
                </a:tc>
                <a:tc>
                  <a:txBody>
                    <a:bodyPr/>
                    <a:p>
                      <a:r>
                        <a:rPr lang="en-US" altLang="zh-CN" sz="1100"/>
                        <a:t>XGBoost + SHAP for suicide risk features</a:t>
                      </a:r>
                      <a:endParaRPr lang="en-US" altLang="zh-CN" sz="1100"/>
                    </a:p>
                  </a:txBody>
                  <a:tcPr marL="0" marR="0" marT="0" marB="0" anchor="ctr" anchorCtr="0">
                    <a:lnL>
                      <a:noFill/>
                    </a:lnL>
                    <a:lnR>
                      <a:noFill/>
                    </a:lnR>
                    <a:lnT>
                      <a:noFill/>
                    </a:lnT>
                    <a:lnB>
                      <a:noFill/>
                    </a:lnB>
                    <a:noFill/>
                  </a:tcPr>
                </a:tc>
                <a:tc>
                  <a:txBody>
                    <a:bodyPr/>
                    <a:p>
                      <a:r>
                        <a:rPr lang="en-US" altLang="zh-CN" sz="1100"/>
                        <a:t>Interpretable using SHAP</a:t>
                      </a:r>
                      <a:endParaRPr lang="en-US" altLang="zh-CN" sz="1100"/>
                    </a:p>
                  </a:txBody>
                  <a:tcPr marL="0" marR="0" marT="0" marB="0" anchor="ctr" anchorCtr="0">
                    <a:lnL>
                      <a:noFill/>
                    </a:lnL>
                    <a:lnR>
                      <a:noFill/>
                    </a:lnR>
                    <a:lnT>
                      <a:noFill/>
                    </a:lnT>
                    <a:lnB>
                      <a:noFill/>
                    </a:lnB>
                    <a:noFill/>
                  </a:tcPr>
                </a:tc>
                <a:tc>
                  <a:txBody>
                    <a:bodyPr/>
                    <a:p>
                      <a:r>
                        <a:rPr lang="en-US" altLang="zh-CN" sz="1100"/>
                        <a:t>Traditional ML (weaker on text); poor deployment</a:t>
                      </a:r>
                      <a:endParaRPr lang="en-US" altLang="zh-CN" sz="1100"/>
                    </a:p>
                  </a:txBody>
                  <a:tcPr marL="0" marR="0" marT="0" marB="0" anchor="ctr" anchorCtr="0">
                    <a:lnL>
                      <a:noFill/>
                    </a:lnL>
                    <a:lnR>
                      <a:noFill/>
                    </a:lnR>
                    <a:lnT>
                      <a:noFill/>
                    </a:lnT>
                    <a:lnB>
                      <a:noFill/>
                    </a:lnB>
                    <a:noFill/>
                  </a:tcPr>
                </a:tc>
                <a:tc>
                  <a:txBody>
                    <a:bodyPr/>
                    <a:p>
                      <a:r>
                        <a:rPr lang="en-US" altLang="zh-CN" sz="1100"/>
                        <a:t>Advanced with BERT + multiple XAI + full MLOps + on-device optimization</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67310" y="365125"/>
            <a:ext cx="2787650" cy="776605"/>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rgbClr val="FF0000"/>
                </a:solidFill>
                <a:effectLst/>
                <a:uFillTx/>
                <a:latin typeface="Times New Roman" panose="02020603050405020304"/>
              </a:rPr>
              <a:t>Conclusion:</a:t>
            </a:r>
            <a:endParaRPr lang="en-IN" sz="3600" b="1" u="none" strike="noStrike">
              <a:solidFill>
                <a:srgbClr val="FF0000"/>
              </a:solidFill>
              <a:effectLst/>
              <a:uFillTx/>
              <a:latin typeface="Times New Roman" panose="02020603050405020304"/>
            </a:endParaRPr>
          </a:p>
        </p:txBody>
      </p:sp>
      <p:sp>
        <p:nvSpPr>
          <p:cNvPr id="88" name="PlaceHolder 2"/>
          <p:cNvSpPr>
            <a:spLocks noGrp="1"/>
          </p:cNvSpPr>
          <p:nvPr>
            <p:ph/>
          </p:nvPr>
        </p:nvSpPr>
        <p:spPr>
          <a:xfrm>
            <a:off x="408940" y="1628775"/>
            <a:ext cx="10944225" cy="3857625"/>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000" b="0" u="none" strike="noStrike">
                <a:solidFill>
                  <a:schemeClr val="dk1"/>
                </a:solidFill>
                <a:effectLst/>
                <a:uFillTx/>
                <a:latin typeface="Calibri" panose="020F0502020204030204"/>
              </a:rPr>
              <a:t>This project presents an early-stage (approximately 30–40% complete) prototype for suicide risk prediction built on a BERT backbone with a basic attention-based explainability layer. The current build establishes the end-to-end pipeline — model architecture, inference flow, and a working FastAPI and Streamlit interface — but the classification head is untrained, so no clinical accuracy figure can be claimed yet. The reverse-engineering component completed so far is limited to simple attention-based token importance; deeper explainability methods such as SHAP, BertViz, and TCAV are planned but not yet implemented. Future work includes fine-tuning on labeled clinical datasets, completing the XAI and MLOps tooling (MLflow, Optuna), and optimizing the model for on-device deployment (ONNX/TFLite) with proper clinical validation before this can serve as a genuine decision-support tool.</a:t>
            </a:r>
            <a:endParaRPr lang="en-US" sz="20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ags/tag2.xml><?xml version="1.0" encoding="utf-8"?>
<p:tagLst xmlns:p="http://schemas.openxmlformats.org/presentationml/2006/main">
  <p:tag name="TABLE_ENDDRAG_ORIGIN_RECT" val="823*458"/>
  <p:tag name="TABLE_ENDDRAG_RECT" val="28*25*823*458"/>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11317</Words>
  <Application>WPS Presentation</Application>
  <PresentationFormat/>
  <Paragraphs>298</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Office Theme</vt:lpstr>
      <vt:lpstr>   </vt:lpstr>
      <vt:lpstr>.</vt:lpstr>
      <vt:lpstr>EXISTING PROBLEM :</vt:lpstr>
      <vt:lpstr>PROPOSED SOLUTION : </vt:lpstr>
      <vt:lpstr>Block Diagram:</vt:lpstr>
      <vt:lpstr>Tools Used:</vt:lpstr>
      <vt:lpstr>PowerPoint 演示文稿</vt:lpstr>
      <vt:lpstr>SYSTEM ARCHITECTURE:</vt:lpstr>
      <vt:lpstr>LIVE DEMO: RISK PREDICTION OUTPUT</vt:lpstr>
      <vt:lpstr>DEMO: MULTI-LAYER EXPLAINABILITY</vt:lpstr>
      <vt:lpstr>LITERATURE ANALYSIS:</vt:lpstr>
      <vt:lpstr>Research Limitations:</vt:lpstr>
      <vt:lpstr>References:</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200</cp:revision>
  <dcterms:created xsi:type="dcterms:W3CDTF">2006-08-16T00:00:00Z</dcterms:created>
  <dcterms:modified xsi:type="dcterms:W3CDTF">2026-08-14T09:38:31Z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E5698B32AEF145D480D5C255F0ED643F_13</vt:lpwstr>
  </property>
  <property fmtid="{D5CDD505-2E9C-101B-9397-08002B2CF9AE}" pid="4" name="KSOProductBuildVer">
    <vt:lpwstr>1033-12.1.0.28032</vt:lpwstr>
  </property>
  <property fmtid="{D5CDD505-2E9C-101B-9397-08002B2CF9AE}" pid="5" name="PresentationFormat">
    <vt:lpwstr>Widescreen</vt:lpwstr>
  </property>
  <property fmtid="{D5CDD505-2E9C-101B-9397-08002B2CF9AE}" pid="6" name="Slides">
    <vt:i4>13</vt:i4>
  </property>
</Properties>
</file>