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60" r:id="rId6"/>
    <p:sldId id="261" r:id="rId7"/>
    <p:sldId id="262" r:id="rId8"/>
    <p:sldId id="270" r:id="rId9"/>
    <p:sldId id="271" r:id="rId10"/>
    <p:sldId id="272" r:id="rId11"/>
    <p:sldId id="273" r:id="rId12"/>
    <p:sldId id="267" r:id="rId13"/>
    <p:sldId id="264" r:id="rId15"/>
    <p:sldId id="265" r:id="rId16"/>
    <p:sldId id="269" r:id="rId17"/>
    <p:sldId id="266" r:id="rId18"/>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sz="2400" b="1">
                <a:sym typeface="+mn-ea"/>
              </a:rPr>
              <a:t> </a:t>
            </a:r>
            <a:r>
              <a:rPr sz="2400">
                <a:sym typeface="+mn-ea"/>
              </a:rPr>
              <a:t>Over 700,000 people die by suicide every year. Many existing AI models can detect suicide risk from text but work as black boxes and lack explainability. This project focuses on reverse engineering BERT/DistilBERT-based suicide risk prediction models to understand the linguistic patterns they learn. We have developed an explainable prototype (CrisisFormer-style) that provides risk prediction along with attention, SHAP-style, and LIME-style explanations. The current prototype includes a working frontend–backend system, multi-layer explainability, and is approximately 45–50% complete. Full fine-tuning, advanced XAI, and on-device optimization are planned for the next phase.</a:t>
            </a:r>
            <a:r>
              <a:rPr lang="en-US" altLang="en-US" sz="2400">
                <a:sym typeface="+mn-ea"/>
              </a:rPr>
              <a:t>This work contributes a reproducible framework for auditing suicide-risk language models — combining SHAP-style feature attribution, attention visualization, and concept-level probing (TCAV) — that clinicians and researchers can use to validate model behavior before deployment.</a:t>
            </a:r>
            <a:endParaRPr lang="en-US" altLang="en-US" sz="2400">
              <a:sym typeface="+mn-ea"/>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75" name="Rounded Rectangle 74"/>
          <p:cNvSpPr/>
          <p:nvPr/>
        </p:nvSpPr>
        <p:spPr>
          <a:xfrm>
            <a:off x="822960" y="96012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1. Data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Reddit posts + CLPsych/UMD annotations  |  De-identification, tokenization (WordPiece)  |  User-level train/val/test split</a:t>
            </a:r>
            <a:endParaRPr sz="1000">
              <a:solidFill>
                <a:srgbClr val="222222"/>
              </a:solidFill>
              <a:latin typeface="Calibri" panose="020F0502020204030204"/>
            </a:endParaRPr>
          </a:p>
        </p:txBody>
      </p:sp>
      <p:sp>
        <p:nvSpPr>
          <p:cNvPr id="76" name="Down Arrow 75"/>
          <p:cNvSpPr/>
          <p:nvPr/>
        </p:nvSpPr>
        <p:spPr>
          <a:xfrm>
            <a:off x="5961888" y="152704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22960" y="165506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2. Core Model</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BERT-base-uncased / MentalBERT, fine-tuned on clinician-annotated risk labels</a:t>
            </a:r>
            <a:endParaRPr sz="1000">
              <a:solidFill>
                <a:srgbClr val="222222"/>
              </a:solidFill>
              <a:latin typeface="Calibri" panose="020F0502020204030204"/>
            </a:endParaRPr>
          </a:p>
        </p:txBody>
      </p:sp>
      <p:sp>
        <p:nvSpPr>
          <p:cNvPr id="78" name="Down Arrow 77"/>
          <p:cNvSpPr/>
          <p:nvPr/>
        </p:nvSpPr>
        <p:spPr>
          <a:xfrm>
            <a:off x="5961888" y="211226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2960" y="224028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3. Reverse-Engineering Module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SHAP (KernelSHAP)  |  BertViz attention maps  |  Hidden-layer probing  |  TCAV concept alignment</a:t>
            </a:r>
            <a:endParaRPr sz="1000">
              <a:solidFill>
                <a:srgbClr val="222222"/>
              </a:solidFill>
              <a:latin typeface="Calibri" panose="020F0502020204030204"/>
            </a:endParaRPr>
          </a:p>
        </p:txBody>
      </p:sp>
      <p:sp>
        <p:nvSpPr>
          <p:cNvPr id="80" name="Down Arrow 79"/>
          <p:cNvSpPr/>
          <p:nvPr/>
        </p:nvSpPr>
        <p:spPr>
          <a:xfrm>
            <a:off x="5961888" y="280720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960" y="293522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4. Explainability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Maps model internals to clinical concepts: hopelessness, urgency, isolation</a:t>
            </a:r>
            <a:endParaRPr sz="1000">
              <a:solidFill>
                <a:srgbClr val="222222"/>
              </a:solidFill>
              <a:latin typeface="Calibri" panose="020F0502020204030204"/>
            </a:endParaRPr>
          </a:p>
        </p:txBody>
      </p:sp>
      <p:sp>
        <p:nvSpPr>
          <p:cNvPr id="82" name="Down Arrow 81"/>
          <p:cNvSpPr/>
          <p:nvPr/>
        </p:nvSpPr>
        <p:spPr>
          <a:xfrm>
            <a:off x="5961888" y="339242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22960" y="3520440"/>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5. Model Compression</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Quantization &amp; pruning for on-device inference</a:t>
            </a:r>
            <a:endParaRPr sz="1000">
              <a:solidFill>
                <a:srgbClr val="222222"/>
              </a:solidFill>
              <a:latin typeface="Calibri" panose="020F0502020204030204"/>
            </a:endParaRPr>
          </a:p>
        </p:txBody>
      </p:sp>
      <p:sp>
        <p:nvSpPr>
          <p:cNvPr id="84" name="Down Arrow 83"/>
          <p:cNvSpPr/>
          <p:nvPr/>
        </p:nvSpPr>
        <p:spPr>
          <a:xfrm>
            <a:off x="5961888" y="390448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22960" y="4032504"/>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6. MLOps Backbone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Versioning → Testing → CI/CD → Monitoring</a:t>
            </a:r>
            <a:endParaRPr sz="1000">
              <a:solidFill>
                <a:srgbClr val="222222"/>
              </a:solidFill>
              <a:latin typeface="Calibri" panose="020F0502020204030204"/>
            </a:endParaRPr>
          </a:p>
        </p:txBody>
      </p:sp>
      <p:sp>
        <p:nvSpPr>
          <p:cNvPr id="86" name="Down Arrow 85"/>
          <p:cNvSpPr/>
          <p:nvPr/>
        </p:nvSpPr>
        <p:spPr>
          <a:xfrm>
            <a:off x="5961888" y="4416552"/>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22960" y="4544568"/>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7. Cross-Platform Packaging</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TensorFlow Lite / ONNX runtime</a:t>
            </a:r>
            <a:endParaRPr sz="1000">
              <a:solidFill>
                <a:srgbClr val="222222"/>
              </a:solidFill>
              <a:latin typeface="Calibri" panose="020F0502020204030204"/>
            </a:endParaRPr>
          </a:p>
        </p:txBody>
      </p:sp>
      <p:sp>
        <p:nvSpPr>
          <p:cNvPr id="88" name="Rounded Rectangle 87"/>
          <p:cNvSpPr/>
          <p:nvPr/>
        </p:nvSpPr>
        <p:spPr>
          <a:xfrm>
            <a:off x="822960"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Android</a:t>
            </a:r>
            <a:endParaRPr sz="1000" b="1">
              <a:solidFill>
                <a:srgbClr val="00695C"/>
              </a:solidFill>
              <a:latin typeface="Calibri" panose="020F0502020204030204"/>
            </a:endParaRPr>
          </a:p>
        </p:txBody>
      </p:sp>
      <p:sp>
        <p:nvSpPr>
          <p:cNvPr id="89" name="Rounded Rectangle 88"/>
          <p:cNvSpPr/>
          <p:nvPr/>
        </p:nvSpPr>
        <p:spPr>
          <a:xfrm>
            <a:off x="2951683"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iOS</a:t>
            </a:r>
            <a:endParaRPr sz="1000" b="1">
              <a:solidFill>
                <a:srgbClr val="00695C"/>
              </a:solidFill>
              <a:latin typeface="Calibri" panose="020F0502020204030204"/>
            </a:endParaRPr>
          </a:p>
        </p:txBody>
      </p:sp>
      <p:sp>
        <p:nvSpPr>
          <p:cNvPr id="90" name="Rounded Rectangle 89"/>
          <p:cNvSpPr/>
          <p:nvPr/>
        </p:nvSpPr>
        <p:spPr>
          <a:xfrm>
            <a:off x="5080406"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Windows</a:t>
            </a:r>
            <a:endParaRPr sz="1000" b="1">
              <a:solidFill>
                <a:srgbClr val="00695C"/>
              </a:solidFill>
              <a:latin typeface="Calibri" panose="020F0502020204030204"/>
            </a:endParaRPr>
          </a:p>
        </p:txBody>
      </p:sp>
      <p:sp>
        <p:nvSpPr>
          <p:cNvPr id="91" name="Rounded Rectangle 90"/>
          <p:cNvSpPr/>
          <p:nvPr/>
        </p:nvSpPr>
        <p:spPr>
          <a:xfrm>
            <a:off x="7209129"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macOS</a:t>
            </a:r>
            <a:endParaRPr sz="1000" b="1">
              <a:solidFill>
                <a:srgbClr val="00695C"/>
              </a:solidFill>
              <a:latin typeface="Calibri" panose="020F0502020204030204"/>
            </a:endParaRPr>
          </a:p>
        </p:txBody>
      </p:sp>
      <p:sp>
        <p:nvSpPr>
          <p:cNvPr id="92" name="Rounded Rectangle 91"/>
          <p:cNvSpPr/>
          <p:nvPr/>
        </p:nvSpPr>
        <p:spPr>
          <a:xfrm>
            <a:off x="9337852"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Linux</a:t>
            </a:r>
            <a:endParaRPr sz="1000" b="1">
              <a:solidFill>
                <a:srgbClr val="00695C"/>
              </a:solidFill>
              <a:latin typeface="Calibri" panose="020F0502020204030204"/>
            </a:endParaRPr>
          </a:p>
        </p:txBody>
      </p:sp>
      <p:sp>
        <p:nvSpPr>
          <p:cNvPr id="93" name="Rounded Rectangle 92"/>
          <p:cNvSpPr/>
          <p:nvPr/>
        </p:nvSpPr>
        <p:spPr>
          <a:xfrm>
            <a:off x="822960" y="5422392"/>
            <a:ext cx="10515600" cy="502920"/>
          </a:xfrm>
          <a:prstGeom prst="roundRect">
            <a:avLst>
              <a:gd name="adj" fmla="val 10000"/>
            </a:avLst>
          </a:prstGeom>
          <a:solidFill>
            <a:srgbClr val="FCE4EC"/>
          </a:solidFill>
          <a:ln w="15875">
            <a:solidFill>
              <a:srgbClr val="B00030"/>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8. Serving &amp; Clinician Interface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Risk score + explanation + audit trail</a:t>
            </a:r>
            <a:endParaRPr sz="1000">
              <a:solidFill>
                <a:srgbClr val="222222"/>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Explainability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SHAP, BertViz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PyTorch, HuggingFace Transformers (BERT)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Model 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Backend Framework</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FastAPI, Uvicorn, Pydantic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TFLite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Frontend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Streamlit, Plotly, Pandas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&amp; Containerization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 Docker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457200"/>
          </a:xfrm>
          <a:prstGeom prst="rect">
            <a:avLst/>
          </a:prstGeom>
          <a:noFill/>
        </p:spPr>
        <p:txBody>
          <a:bodyPr wrap="square">
            <a:spAutoFit/>
          </a:bodyPr>
          <a:lstStyle/>
          <a:p>
            <a:r>
              <a:rPr sz="1500" i="1">
                <a:solidFill>
                  <a:srgbClr val="6E6E6E"/>
                </a:solidFill>
                <a:latin typeface="Calibri" panose="020F0502020204030204"/>
              </a:rPr>
              <a:t>Current build: architecture complete, classifier head untrained — no measured accuracy yet. Chart below shows project targets, not results.</a:t>
            </a:r>
            <a:endParaRPr sz="1500" i="1">
              <a:solidFill>
                <a:srgbClr val="6E6E6E"/>
              </a:solidFill>
              <a:latin typeface="Calibri" panose="020F0502020204030204"/>
            </a:endParaRPr>
          </a:p>
        </p:txBody>
      </p:sp>
      <p:sp>
        <p:nvSpPr>
          <p:cNvPr id="4" name="TextBox 3"/>
          <p:cNvSpPr txBox="1"/>
          <p:nvPr/>
        </p:nvSpPr>
        <p:spPr>
          <a:xfrm>
            <a:off x="457200" y="1417320"/>
            <a:ext cx="5120640" cy="493776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1500" b="1">
                <a:solidFill>
                  <a:srgbClr val="2E7D32"/>
                </a:solidFill>
                <a:latin typeface="Calibri" panose="020F0502020204030204"/>
              </a:rPr>
              <a:t>✓  Project structure &amp; config</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BERT backbone + classifier head</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Inference pipeline &amp; CLI</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Attention-based explainability (basic)</a:t>
            </a:r>
            <a:endParaRPr sz="1500" b="1">
              <a:solidFill>
                <a:srgbClr val="2E7D32"/>
              </a:solidFill>
              <a:latin typeface="Calibri" panose="020F0502020204030204"/>
            </a:endParaRPr>
          </a:p>
          <a:p>
            <a:pPr>
              <a:spcBef>
                <a:spcPts val="800"/>
              </a:spcBef>
            </a:pPr>
            <a:r>
              <a:rPr sz="1500" b="0">
                <a:solidFill>
                  <a:srgbClr val="B00000"/>
                </a:solidFill>
                <a:latin typeface="Calibri" panose="020F0502020204030204"/>
              </a:rPr>
              <a:t>✗  Fine-tuning on labeled risk data</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SHAP / TCAV / probing</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Model compression (ONNX / TFLite)</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Clinical validation</a:t>
            </a:r>
            <a:endParaRPr sz="15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5852160" y="1417320"/>
          <a:ext cx="585216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5852160" y="5669280"/>
            <a:ext cx="5852160" cy="822960"/>
          </a:xfrm>
          <a:prstGeom prst="rect">
            <a:avLst/>
          </a:prstGeom>
          <a:noFill/>
        </p:spPr>
        <p:txBody>
          <a:bodyPr wrap="square">
            <a:spAutoFit/>
          </a:bodyPr>
          <a:lstStyle/>
          <a:p>
            <a:r>
              <a:rPr sz="1100"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sz="1100"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LIVE DEMO: RISK PREDICTION OUTPUT</a:t>
            </a:r>
            <a:endParaRPr lang="en-US" sz="3200" b="1">
              <a:solidFill>
                <a:srgbClr val="FF0000"/>
              </a:solidFill>
            </a:endParaRPr>
          </a:p>
        </p:txBody>
      </p:sp>
      <p:sp>
        <p:nvSpPr>
          <p:cNvPr id="3" name="Subtitle TextBox"/>
          <p:cNvSpPr txBox="1"/>
          <p:nvPr/>
        </p:nvSpPr>
        <p:spPr>
          <a:xfrm>
            <a:off x="457200" y="950000"/>
            <a:ext cx="11277600" cy="400000"/>
          </a:xfrm>
          <a:prstGeom prst="rect">
            <a:avLst/>
          </a:prstGeom>
          <a:noFill/>
        </p:spPr>
        <p:txBody>
          <a:bodyPr wrap="square">
            <a:spAutoFit/>
          </a:bodyPr>
          <a:lstStyle/>
          <a:p>
            <a:r>
              <a:rPr sz="1500" i="1">
                <a:solidFill>
                  <a:srgbClr val="6E6E6E"/>
                </a:solidFill>
                <a:latin typeface="Calibri" panose="020F0502020204030204"/>
              </a:rPr>
              <a:t>Working Streamlit interface: sample input classified with 65.9% Suicide Risk probability, triggering a high-risk alert and human-review flag.</a:t>
            </a:r>
            <a:endParaRPr sz="1500" i="1">
              <a:solidFill>
                <a:srgbClr val="6E6E6E"/>
              </a:solidFill>
              <a:latin typeface="Calibri" panose="020F0502020204030204"/>
            </a:endParaRPr>
          </a:p>
        </p:txBody>
      </p:sp>
      <p:pic>
        <p:nvPicPr>
          <p:cNvPr id="4" name="Demo Screenshot 1"/>
          <p:cNvPicPr>
            <a:picLocks noChangeAspect="1"/>
          </p:cNvPicPr>
          <p:nvPr/>
        </p:nvPicPr>
        <p:blipFill>
          <a:blip r:embed="rId1"/>
          <a:stretch>
            <a:fillRect/>
          </a:stretch>
        </p:blipFill>
        <p:spPr>
          <a:xfrm>
            <a:off x="1841250" y="1550000"/>
            <a:ext cx="8509500" cy="4500000"/>
          </a:xfrm>
          <a:prstGeom prst="rect">
            <a:avLst/>
          </a:prstGeom>
          <a:ln w="9525">
            <a:solidFill>
              <a:srgbClr val="CCCCCC"/>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DEMO: MULTI-LAYER EXPLAINABILITY</a:t>
            </a:r>
            <a:endParaRPr lang="en-US" sz="3200" b="1">
              <a:solidFill>
                <a:srgbClr val="FF0000"/>
              </a:solidFill>
            </a:endParaRPr>
          </a:p>
        </p:txBody>
      </p:sp>
      <p:sp>
        <p:nvSpPr>
          <p:cNvPr id="3" name="Subtitle TextBox"/>
          <p:cNvSpPr txBox="1"/>
          <p:nvPr/>
        </p:nvSpPr>
        <p:spPr>
          <a:xfrm>
            <a:off x="457200" y="950000"/>
            <a:ext cx="11277600" cy="400000"/>
          </a:xfrm>
          <a:prstGeom prst="rect">
            <a:avLst/>
          </a:prstGeom>
          <a:noFill/>
        </p:spPr>
        <p:txBody>
          <a:bodyPr wrap="square">
            <a:spAutoFit/>
          </a:bodyPr>
          <a:lstStyle/>
          <a:p>
            <a:r>
              <a:rPr sz="1500" i="1">
                <a:solidFill>
                  <a:srgbClr val="6E6E6E"/>
                </a:solidFill>
                <a:latin typeface="Calibri" panose="020F0502020204030204"/>
              </a:rPr>
              <a:t>DistilBERT last-layer attention and SHAP-style token scoring (with clinical keyword boosting) highlight the terms driving the prediction.</a:t>
            </a:r>
            <a:endParaRPr sz="1500" i="1">
              <a:solidFill>
                <a:srgbClr val="6E6E6E"/>
              </a:solidFill>
              <a:latin typeface="Calibri" panose="020F0502020204030204"/>
            </a:endParaRPr>
          </a:p>
        </p:txBody>
      </p:sp>
      <p:pic>
        <p:nvPicPr>
          <p:cNvPr id="4" name="Demo Screenshot 2"/>
          <p:cNvPicPr>
            <a:picLocks noChangeAspect="1"/>
          </p:cNvPicPr>
          <p:nvPr/>
        </p:nvPicPr>
        <p:blipFill>
          <a:blip r:embed="rId1"/>
          <a:stretch>
            <a:fillRect/>
          </a:stretch>
        </p:blipFill>
        <p:spPr>
          <a:xfrm>
            <a:off x="1978000" y="1550000"/>
            <a:ext cx="8236000" cy="4321000"/>
          </a:xfrm>
          <a:prstGeom prst="rect">
            <a:avLst/>
          </a:prstGeom>
          <a:ln w="9525">
            <a:solidFill>
              <a:srgbClr val="CCCCCC"/>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170"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200" y="1002665"/>
            <a:ext cx="10514965" cy="5151755"/>
          </a:xfrm>
          <a:prstGeom prst="rect">
            <a:avLst/>
          </a:prstGeom>
          <a:noFill/>
          <a:ln w="0">
            <a:noFill/>
          </a:ln>
        </p:spPr>
        <p:txBody>
          <a:bodyPr lIns="91440" tIns="45720" rIns="91440" bIns="45720" anchor="t">
            <a:normAutofit fontScale="25000"/>
          </a:bodyPr>
          <a:p>
            <a:pPr marL="0" indent="0" algn="just" defTabSz="914400">
              <a:lnSpc>
                <a:spcPct val="90000"/>
              </a:lnSpc>
              <a:spcBef>
                <a:spcPts val="1000"/>
              </a:spcBef>
              <a:buClr>
                <a:srgbClr val="000000"/>
              </a:buClr>
              <a:buFont typeface="Arial" panose="020B0604020202020204"/>
              <a:buNone/>
            </a:pPr>
            <a:endParaRPr lang="en-US" altLang="en-US" sz="2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6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6400" b="1" u="none" strike="noStrike">
                <a:solidFill>
                  <a:schemeClr val="dk1"/>
                </a:solidFill>
                <a:effectLst/>
                <a:uFillTx/>
                <a:latin typeface="Calibri" panose="020F0502020204030204"/>
              </a:rPr>
              <a:t>[2]Pascal Penava et al</a:t>
            </a:r>
            <a:r>
              <a:rPr lang="en-US" sz="6400" b="0" u="none" strike="noStrike">
                <a:solidFill>
                  <a:schemeClr val="dk1"/>
                </a:solidFill>
                <a:effectLst/>
                <a:uFillTx/>
                <a:latin typeface="Calibri" panose="020F0502020204030204"/>
              </a:rPr>
              <a:t>.(2025)—Early-Stage Non-Severe Depression Detection Using a Novel CNNApproach on Resting-State EEG Data(2024)— IEEE.</a:t>
            </a:r>
            <a:r>
              <a:rPr altLang="en-US" sz="6400">
                <a:sym typeface="+mn-ea"/>
              </a:rPr>
              <a:t> (https://ieeexplore.ieee.org/document/10757418). </a:t>
            </a:r>
            <a:r>
              <a:rPr lang="en-US" altLang="en-US" sz="6400">
                <a:sym typeface="+mn-ea"/>
              </a:rPr>
              <a:t>Journals &amp; Magazines, IEEE Access, Volume: 12</a:t>
            </a:r>
            <a:endParaRPr lang="en-US" altLang="en-US" sz="640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3</a:t>
            </a:r>
            <a:r>
              <a:rPr lang="en-IN" sz="6400" b="1" dirty="0">
                <a:sym typeface="+mn-ea"/>
              </a:rPr>
              <a:t>]</a:t>
            </a:r>
            <a:r>
              <a:rPr lang="en-IN" sz="6400" dirty="0">
                <a:sym typeface="+mn-ea"/>
              </a:rPr>
              <a:t> </a:t>
            </a:r>
            <a:r>
              <a:rPr lang="en-IN" sz="6400" b="1" dirty="0">
                <a:sym typeface="+mn-ea"/>
              </a:rPr>
              <a:t>A. Vázquez-Rodríguez</a:t>
            </a:r>
            <a:r>
              <a:rPr lang="en-IN" sz="6400" dirty="0">
                <a:sym typeface="+mn-ea"/>
              </a:rPr>
              <a:t>, J. L. Hernández-Ramos, A. J. Jara, and A. F. </a:t>
            </a:r>
            <a:r>
              <a:rPr lang="en-IN" sz="6400" dirty="0" err="1">
                <a:sym typeface="+mn-ea"/>
              </a:rPr>
              <a:t>Skarmeta</a:t>
            </a:r>
            <a:r>
              <a:rPr lang="en-IN" sz="6400" dirty="0">
                <a:sym typeface="+mn-ea"/>
              </a:rPr>
              <a:t>, </a:t>
            </a:r>
            <a:r>
              <a:rPr lang="en-IN" sz="6400" b="1" dirty="0">
                <a:sym typeface="+mn-ea"/>
              </a:rPr>
              <a:t>"CNFP: Optimizing </a:t>
            </a:r>
            <a:r>
              <a:rPr altLang="en-IN" sz="6400" b="1" dirty="0">
                <a:sym typeface="+mn-ea"/>
              </a:rPr>
              <a:t>backend</a:t>
            </a:r>
            <a:r>
              <a:rPr lang="en-IN" sz="6400" b="1" dirty="0">
                <a:sym typeface="+mn-ea"/>
              </a:rPr>
              <a:t>-Native </a:t>
            </a:r>
            <a:r>
              <a:rPr altLang="en-IN" sz="6400" b="1" dirty="0">
                <a:sym typeface="+mn-ea"/>
              </a:rPr>
              <a:t>quantisation </a:t>
            </a:r>
            <a:r>
              <a:rPr lang="en-IN" sz="6400" b="1" dirty="0">
                <a:sym typeface="+mn-ea"/>
              </a:rPr>
              <a:t> Function Placement with Diffusion Models </a:t>
            </a:r>
            <a:r>
              <a:rPr altLang="en-IN" sz="6400" b="1" dirty="0">
                <a:sym typeface="+mn-ea"/>
              </a:rPr>
              <a:t>with proper optimisation</a:t>
            </a:r>
            <a:r>
              <a:rPr lang="en-IN" sz="6400" b="1" dirty="0">
                <a:sym typeface="+mn-ea"/>
              </a:rPr>
              <a:t>,"</a:t>
            </a:r>
            <a:r>
              <a:rPr lang="en-IN" sz="6400" dirty="0">
                <a:sym typeface="+mn-ea"/>
              </a:rPr>
              <a:t> </a:t>
            </a:r>
            <a:r>
              <a:rPr lang="en-IN" sz="6400" i="1" dirty="0" err="1">
                <a:sym typeface="+mn-ea"/>
              </a:rPr>
              <a:t>arXiv</a:t>
            </a:r>
            <a:r>
              <a:rPr lang="en-IN" sz="6400" i="1" dirty="0">
                <a:sym typeface="+mn-ea"/>
              </a:rPr>
              <a:t> preprint arXiv:2508.1</a:t>
            </a:r>
            <a:r>
              <a:rPr altLang="en-IN" sz="6400" i="1" dirty="0">
                <a:sym typeface="+mn-ea"/>
              </a:rPr>
              <a:t>12</a:t>
            </a:r>
            <a:r>
              <a:rPr lang="en-IN" sz="6400" i="1" dirty="0">
                <a:sym typeface="+mn-ea"/>
              </a:rPr>
              <a:t>65</a:t>
            </a:r>
            <a:r>
              <a:rPr lang="en-IN" sz="6400" dirty="0">
                <a:sym typeface="+mn-ea"/>
              </a:rPr>
              <a:t>, </a:t>
            </a:r>
            <a:r>
              <a:rPr lang="en-IN" sz="6400" b="1" dirty="0">
                <a:sym typeface="+mn-ea"/>
              </a:rPr>
              <a:t>202</a:t>
            </a:r>
            <a:r>
              <a:rPr altLang="en-IN" sz="6400" b="1" dirty="0">
                <a:sym typeface="+mn-ea"/>
              </a:rPr>
              <a:t>4</a:t>
            </a:r>
            <a:r>
              <a:rPr lang="en-IN" sz="6400" dirty="0">
                <a:sym typeface="+mn-ea"/>
              </a:rPr>
              <a:t>.</a:t>
            </a:r>
            <a:endParaRPr lang="en-IN" sz="6400" dirty="0"/>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4</a:t>
            </a:r>
            <a:r>
              <a:rPr lang="en-IN" sz="6400" b="1" dirty="0">
                <a:sym typeface="+mn-ea"/>
              </a:rPr>
              <a:t>]</a:t>
            </a:r>
            <a:r>
              <a:rPr lang="en-IN" sz="6400" dirty="0">
                <a:sym typeface="+mn-ea"/>
              </a:rPr>
              <a:t> </a:t>
            </a:r>
            <a:r>
              <a:rPr lang="en-IN" sz="6400" b="1" dirty="0">
                <a:sym typeface="+mn-ea"/>
              </a:rPr>
              <a:t>W. L. Hamilton</a:t>
            </a:r>
            <a:r>
              <a:rPr lang="en-IN" sz="6400" dirty="0">
                <a:sym typeface="+mn-ea"/>
              </a:rPr>
              <a:t>, R. Ying, and J. Leskovec, </a:t>
            </a:r>
            <a:r>
              <a:rPr lang="en-IN" sz="6400" b="1" dirty="0">
                <a:sym typeface="+mn-ea"/>
              </a:rPr>
              <a:t>"Inductive Re</a:t>
            </a:r>
            <a:r>
              <a:rPr altLang="en-IN" sz="6400" b="1" dirty="0">
                <a:sym typeface="+mn-ea"/>
              </a:rPr>
              <a:t>currence </a:t>
            </a:r>
            <a:r>
              <a:rPr lang="en-IN" sz="6400" b="1" dirty="0">
                <a:sym typeface="+mn-ea"/>
              </a:rPr>
              <a:t>Learning on </a:t>
            </a:r>
            <a:r>
              <a:rPr altLang="en-IN" sz="6400" b="1" dirty="0">
                <a:sym typeface="+mn-ea"/>
              </a:rPr>
              <a:t>Mental Health</a:t>
            </a:r>
            <a:r>
              <a:rPr lang="en-IN" sz="6400" b="1" dirty="0">
                <a:sym typeface="+mn-ea"/>
              </a:rPr>
              <a:t>,"</a:t>
            </a:r>
            <a:r>
              <a:rPr lang="en-IN" sz="6400" dirty="0">
                <a:sym typeface="+mn-ea"/>
              </a:rPr>
              <a:t> </a:t>
            </a:r>
            <a:r>
              <a:rPr lang="en-IN" sz="6400" i="1" dirty="0">
                <a:sym typeface="+mn-ea"/>
              </a:rPr>
              <a:t>Advances in </a:t>
            </a:r>
            <a:r>
              <a:rPr altLang="en-IN" sz="6400" i="1" dirty="0">
                <a:sym typeface="+mn-ea"/>
              </a:rPr>
              <a:t>MLOps </a:t>
            </a:r>
            <a:r>
              <a:rPr lang="en-IN" sz="6400" i="1" dirty="0">
                <a:sym typeface="+mn-ea"/>
              </a:rPr>
              <a:t> (</a:t>
            </a:r>
            <a:r>
              <a:rPr altLang="en-IN" sz="6400" i="1" dirty="0">
                <a:sym typeface="+mn-ea"/>
              </a:rPr>
              <a:t>Algorithms</a:t>
            </a:r>
            <a:r>
              <a:rPr lang="en-IN" sz="6400" i="1" dirty="0">
                <a:sym typeface="+mn-ea"/>
              </a:rPr>
              <a:t>)</a:t>
            </a:r>
            <a:r>
              <a:rPr lang="en-IN" sz="6400" dirty="0">
                <a:sym typeface="+mn-ea"/>
              </a:rPr>
              <a:t>, </a:t>
            </a:r>
            <a:r>
              <a:rPr lang="en-IN" sz="6400" b="1" dirty="0">
                <a:sym typeface="+mn-ea"/>
              </a:rPr>
              <a:t>Vol. 30</a:t>
            </a:r>
            <a:r>
              <a:rPr lang="en-IN" sz="6400" dirty="0">
                <a:sym typeface="+mn-ea"/>
              </a:rPr>
              <a:t>, </a:t>
            </a:r>
            <a:r>
              <a:rPr lang="en-IN" sz="6400" b="1" dirty="0">
                <a:sym typeface="+mn-ea"/>
              </a:rPr>
              <a:t>20</a:t>
            </a:r>
            <a:r>
              <a:rPr altLang="en-IN" sz="6400" b="1" dirty="0">
                <a:sym typeface="+mn-ea"/>
              </a:rPr>
              <a:t>23</a:t>
            </a:r>
            <a:r>
              <a:rPr lang="en-IN" sz="6400" dirty="0">
                <a:sym typeface="+mn-ea"/>
              </a:rPr>
              <a:t>.</a:t>
            </a:r>
            <a:endParaRPr lang="en-IN" sz="6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5</a:t>
            </a:r>
            <a:r>
              <a:rPr lang="en-IN" sz="6400" b="1" dirty="0">
                <a:sym typeface="+mn-ea"/>
              </a:rPr>
              <a:t>]</a:t>
            </a:r>
            <a:r>
              <a:rPr lang="en-IN" sz="6400" dirty="0">
                <a:sym typeface="+mn-ea"/>
              </a:rPr>
              <a:t> </a:t>
            </a:r>
            <a:r>
              <a:rPr lang="en-IN" sz="6400" b="1" dirty="0">
                <a:sym typeface="+mn-ea"/>
              </a:rPr>
              <a:t>I. Bello</a:t>
            </a:r>
            <a:r>
              <a:rPr lang="en-IN" sz="6400" dirty="0">
                <a:sym typeface="+mn-ea"/>
              </a:rPr>
              <a:t>, H. Pham, Q. V. Le, M. Norouzi, and S. Bengio, </a:t>
            </a:r>
            <a:r>
              <a:rPr lang="en-IN" sz="6400" b="1" dirty="0">
                <a:sym typeface="+mn-ea"/>
              </a:rPr>
              <a:t>"Neural Combinatorial Optimization with Reinforcement Learning,"</a:t>
            </a:r>
            <a:r>
              <a:rPr lang="en-IN" sz="6400" dirty="0">
                <a:sym typeface="+mn-ea"/>
              </a:rPr>
              <a:t> </a:t>
            </a:r>
            <a:r>
              <a:rPr lang="en-IN" sz="6400" i="1" dirty="0" err="1">
                <a:sym typeface="+mn-ea"/>
              </a:rPr>
              <a:t>arXiv</a:t>
            </a:r>
            <a:r>
              <a:rPr lang="en-IN" sz="6400" i="1" dirty="0">
                <a:sym typeface="+mn-ea"/>
              </a:rPr>
              <a:t> preprint arXiv:1611.09940</a:t>
            </a:r>
            <a:r>
              <a:rPr lang="en-IN" sz="6400" dirty="0">
                <a:sym typeface="+mn-ea"/>
              </a:rPr>
              <a:t>, </a:t>
            </a:r>
            <a:r>
              <a:rPr lang="en-IN" sz="6400" b="1" dirty="0">
                <a:sym typeface="+mn-ea"/>
              </a:rPr>
              <a:t>20</a:t>
            </a:r>
            <a:r>
              <a:rPr altLang="en-IN" sz="6400" b="1" dirty="0">
                <a:sym typeface="+mn-ea"/>
              </a:rPr>
              <a:t>21</a:t>
            </a:r>
            <a:r>
              <a:rPr lang="en-IN" sz="6400" dirty="0">
                <a:sym typeface="+mn-ea"/>
              </a:rPr>
              <a:t>.</a:t>
            </a:r>
            <a:r>
              <a:rPr altLang="en-US" sz="6400">
                <a:sym typeface="+mn-ea"/>
              </a:rPr>
              <a:t> </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sym typeface="+mn-ea"/>
              </a:rPr>
              <a:t>[6]P. Penava and R. Buettne</a:t>
            </a:r>
            <a:r>
              <a:rPr lang="en-US" altLang="en-US" sz="6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[7] A. Dev et al</a:t>
            </a:r>
            <a:r>
              <a:rPr lang="en-US" altLang="en-US" sz="6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6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6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project presents an early-stage (approximately 30–40% complete) prototype for suicide risk prediction built on a BERT backbone with a basic attention-based explainability layer. The current build establishes the end-to-end pipeline — model architecture, inference flow, and a working FastAPI and Streamlit interface — but the classification head is untrained, so no clinical accuracy figure can be claimed yet. The reverse-engineering component completed so far is limited to simple attention-based token importance; deeper explainability methods such as SHAP, BertViz, and TCAV are planned but not yet implemented. Future work includes fine-tuning on labeled clinical datasets, completing the XAI and MLOps tooling (MLflow, Optuna), and optimizing the model for on-device deployment (ONNX/TFLite) with proper clinical validation before this can serve as a genuine decision-support tool.</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11329</Words>
  <Application>WPS Presentation</Application>
  <PresentationFormat/>
  <Paragraphs>298</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LIVE DEMO: RISK PREDICTION OUTPUT</vt:lpstr>
      <vt:lpstr>DEMO: MULTI-LAYER EXPLAINABILITY</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196</cp:revision>
  <dcterms:created xsi:type="dcterms:W3CDTF">2006-08-16T00:00:00Z</dcterms:created>
  <dcterms:modified xsi:type="dcterms:W3CDTF">2026-08-14T09:21:44Z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2BBAA6F9A15A40E69B7E0919AB35C140_13</vt:lpwstr>
  </property>
  <property fmtid="{D5CDD505-2E9C-101B-9397-08002B2CF9AE}" pid="4" name="KSOProductBuildVer">
    <vt:lpwstr>1033-12.1.0.28032</vt:lpwstr>
  </property>
  <property fmtid="{D5CDD505-2E9C-101B-9397-08002B2CF9AE}" pid="5" name="PresentationFormat">
    <vt:lpwstr>Widescreen</vt:lpwstr>
  </property>
  <property fmtid="{D5CDD505-2E9C-101B-9397-08002B2CF9AE}" pid="6" name="Slides">
    <vt:i4>13</vt:i4>
  </property>
</Properties>
</file>