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62" r:id="rId8"/>
    <p:sldId id="270" r:id="rId9"/>
    <p:sldId id="271" r:id="rId10"/>
    <p:sldId id="272" r:id="rId11"/>
    <p:sldId id="273" r:id="rId12"/>
    <p:sldId id="267" r:id="rId13"/>
    <p:sldId id="264" r:id="rId15"/>
    <p:sldId id="265" r:id="rId16"/>
    <p:sldId id="269" r:id="rId17"/>
    <p:sldId id="266" r:id="rId18"/>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0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Sub-Domain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Title</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rgbClr val="0C0C0C"/>
                </a:solidFill>
                <a:effectLst/>
                <a:uFillTx/>
                <a:latin typeface="Calibri" panose="020F0502020204030204"/>
                <a:ea typeface="Times New Roman" panose="02020603050405020304"/>
              </a:rPr>
              <a:t> Suicide Risk Prediction Models with Clinical Explainability</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0" u="none" strike="noStrike">
                <a:solidFill>
                  <a:srgbClr val="FF0000"/>
                </a:solidFill>
                <a:effectLst/>
                <a:uFillTx/>
                <a:latin typeface="Calibri" panose="020F0502020204030204"/>
                <a:ea typeface="Times New Roman" panose="02020603050405020304"/>
              </a:rPr>
              <a:t>Faculty Supervisor</a:t>
            </a:r>
            <a:r>
              <a:rPr lang="en-IN" sz="2000" b="0" u="none" strike="noStrike">
                <a:solidFill>
                  <a:srgbClr val="FF0000"/>
                </a:solidFill>
                <a:effectLst/>
                <a:uFillTx/>
                <a:latin typeface="Calibri" panose="020F0502020204030204"/>
                <a:ea typeface="Times New Roman" panose="02020603050405020304"/>
              </a:rPr>
              <a:t> :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Team Members</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46990" y="116840"/>
            <a:ext cx="11692890" cy="3869055"/>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200" b="1" u="none" strike="noStrike">
                <a:solidFill>
                  <a:srgbClr val="FF0000"/>
                </a:solidFill>
                <a:effectLst/>
                <a:uFillTx/>
                <a:latin typeface="Times New Roman" panose="02020603050405020304"/>
                <a:ea typeface="Canva Sans Bold"/>
              </a:rPr>
              <a:t>ABSTRACT</a:t>
            </a:r>
            <a:r>
              <a:rPr lang="en-US" sz="3600" b="1" u="none" strike="noStrike">
                <a:solidFill>
                  <a:srgbClr val="FF0000"/>
                </a:solidFill>
                <a:effectLst/>
                <a:uFillTx/>
                <a:latin typeface="Times New Roman" panose="02020603050405020304"/>
                <a:ea typeface="Canva Sans Bold"/>
              </a:rPr>
              <a: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2000" b="1" u="none" strike="noStrike">
                <a:solidFill>
                  <a:schemeClr val="dk1"/>
                </a:solidFill>
                <a:effectLst/>
                <a:uFillTx/>
                <a:latin typeface="Calibri" panose="020F0502020204030204"/>
              </a:rPr>
              <a:t>  </a:t>
            </a:r>
            <a:br>
              <a:rPr lang="en-US" sz="2000" b="1" u="none" strike="noStrike">
                <a:solidFill>
                  <a:schemeClr val="dk1"/>
                </a:solidFill>
                <a:effectLst/>
                <a:uFillTx/>
                <a:latin typeface="Calibri" panose="020F0502020204030204"/>
              </a:rPr>
            </a:br>
            <a:br>
              <a:rPr lang="en-US" sz="2000" b="1" u="none" strike="noStrike">
                <a:solidFill>
                  <a:schemeClr val="dk1"/>
                </a:solidFill>
                <a:effectLst/>
                <a:uFillTx/>
                <a:latin typeface="Calibri" panose="020F0502020204030204"/>
              </a:rPr>
            </a:br>
            <a:r>
              <a:rPr lang="en-US" sz="2000" b="1" u="none" strike="noStrike">
                <a:solidFill>
                  <a:schemeClr val="dk1"/>
                </a:solidFill>
                <a:effectLst/>
                <a:uFillTx/>
                <a:latin typeface="Calibri" panose="020F0502020204030204"/>
              </a:rPr>
              <a:t>    </a:t>
            </a:r>
            <a:r>
              <a:rPr sz="2000" b="1">
                <a:sym typeface="+mn-ea"/>
              </a:rPr>
              <a:t> </a:t>
            </a:r>
            <a:r>
              <a:rPr sz="20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r>
              <a:rPr lang="en-US" altLang="en-US" sz="2000">
                <a:sym typeface="+mn-ea"/>
              </a:rPr>
              <a:t>This work contributes a reproducible framework for auditing suicide-risk language models — combining SHAP-style feature attribution, attention visualization, and concept-level probing (TCAV) — that clinicians and researchers can use to validate model behavior before deployment.</a:t>
            </a:r>
            <a:endParaRPr lang="en-US" altLang="en-US" sz="2000">
              <a:sym typeface="+mn-ea"/>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20" y="233045"/>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Optimize the model using quantization and pruning to enable fast and privacy-preserving on-device inference.</a:t>
            </a:r>
            <a:endParaRPr lang="en-US" sz="20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0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20" y="1007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870" y="116755"/>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000" b="1" u="none" strike="noStrike">
                          <a:solidFill>
                            <a:schemeClr val="dk1"/>
                          </a:solidFill>
                          <a:effectLst/>
                          <a:uFillTx/>
                          <a:latin typeface="Calibri" panose="020F0502020204030204"/>
                        </a:rPr>
                        <a:t>Programming</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1800" b="0" u="none" strike="noStrike">
                          <a:solidFill>
                            <a:schemeClr val="dk1"/>
                          </a:solidFill>
                          <a:effectLst/>
                          <a:uFillTx/>
                          <a:latin typeface="Calibri" panose="020F0502020204030204"/>
                        </a:rPr>
                        <a:t>Python</a:t>
                      </a:r>
                      <a:endParaRPr lang="en-IN" sz="18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Explainability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SHAP, BertViz (planned)</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000" b="1" u="none" strike="noStrike">
                          <a:solidFill>
                            <a:schemeClr val="dk1"/>
                          </a:solidFill>
                          <a:effectLst/>
                          <a:uFillTx/>
                          <a:latin typeface="Calibri" panose="020F0502020204030204"/>
                        </a:rPr>
                        <a:t>Deep Learning</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PyTorch, HuggingFace Transformers (BERT)</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Model Optimization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Quantization, Pruning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000" b="1" u="none" strike="noStrike">
                          <a:solidFill>
                            <a:schemeClr val="dk1"/>
                          </a:solidFill>
                          <a:effectLst/>
                          <a:uFillTx/>
                          <a:latin typeface="Calibri" panose="020F0502020204030204"/>
                        </a:rPr>
                        <a:t>Backend Framework</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FastAPI, Uvicorn, Pydantic</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Deployment</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ONNX Runtime, TFLite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000" b="1" u="none" strike="noStrike">
                          <a:solidFill>
                            <a:schemeClr val="dk1"/>
                          </a:solidFill>
                          <a:effectLst/>
                          <a:uFillTx/>
                          <a:latin typeface="Calibri" panose="020F0502020204030204"/>
                        </a:rPr>
                        <a:t>Frontend</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Streamlit, Plotly, Pandas</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MLOps &amp; Containerization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MLflow, Optuna, Docker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25" y="11684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706755"/>
          </a:xfrm>
          <a:prstGeom prst="rect">
            <a:avLst/>
          </a:prstGeom>
          <a:noFill/>
        </p:spPr>
        <p:txBody>
          <a:bodyPr wrap="square">
            <a:spAutoFit/>
          </a:bodyPr>
          <a:lstStyle/>
          <a:p>
            <a:r>
              <a:rPr sz="2000">
                <a:solidFill>
                  <a:srgbClr val="6E6E6E"/>
                </a:solidFill>
                <a:latin typeface="Calibri" panose="020F0502020204030204"/>
              </a:rPr>
              <a:t>Current build: architecture complete, classifier head untrained — no measured accuracy yet. Chart below shows project targets, not results.</a:t>
            </a:r>
            <a:endParaRPr sz="2000">
              <a:solidFill>
                <a:srgbClr val="6E6E6E"/>
              </a:solidFill>
              <a:latin typeface="Calibri" panose="020F0502020204030204"/>
            </a:endParaRPr>
          </a:p>
        </p:txBody>
      </p:sp>
      <p:sp>
        <p:nvSpPr>
          <p:cNvPr id="4" name="TextBox 3"/>
          <p:cNvSpPr txBox="1"/>
          <p:nvPr/>
        </p:nvSpPr>
        <p:spPr>
          <a:xfrm>
            <a:off x="457200" y="1417320"/>
            <a:ext cx="5120640" cy="368173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2000" b="1">
                <a:solidFill>
                  <a:srgbClr val="2E7D32"/>
                </a:solidFill>
                <a:latin typeface="Calibri" panose="020F0502020204030204"/>
              </a:rPr>
              <a:t>✓  Project structure &amp; config</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BERT backbone + classifier head</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Inference pipeline &amp; CLI</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Attention-based explainability (basic)</a:t>
            </a:r>
            <a:endParaRPr sz="2000" b="1">
              <a:solidFill>
                <a:srgbClr val="2E7D32"/>
              </a:solidFill>
              <a:latin typeface="Calibri" panose="020F0502020204030204"/>
            </a:endParaRPr>
          </a:p>
          <a:p>
            <a:pPr>
              <a:spcBef>
                <a:spcPts val="800"/>
              </a:spcBef>
            </a:pPr>
            <a:r>
              <a:rPr sz="2000" b="0">
                <a:solidFill>
                  <a:srgbClr val="B00000"/>
                </a:solidFill>
                <a:latin typeface="Calibri" panose="020F0502020204030204"/>
              </a:rPr>
              <a:t>✗  Fine-tuning on labeled risk data</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SHAP / TCAV / probing</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Model compression (ONNX / TFLite)</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Clinical validation</a:t>
            </a:r>
            <a:endParaRPr sz="20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4989195" y="1417320"/>
          <a:ext cx="698881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4008120" y="5623560"/>
            <a:ext cx="8053705" cy="645160"/>
          </a:xfrm>
          <a:prstGeom prst="rect">
            <a:avLst/>
          </a:prstGeom>
          <a:noFill/>
        </p:spPr>
        <p:txBody>
          <a:bodyPr wrap="square">
            <a:spAutoFit/>
          </a:bodyPr>
          <a:lstStyle/>
          <a:p>
            <a:r>
              <a:rPr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990" y="188595"/>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Working Streamlit interface: sample input classified with 65.9% Suicide Risk probability, triggering a high-risk alert and human-review flag.</a:t>
            </a:r>
            <a:endParaRPr sz="2000" b="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918720" y="1844640"/>
            <a:ext cx="8509500" cy="4500000"/>
          </a:xfrm>
          <a:prstGeom prst="rect">
            <a:avLst/>
          </a:prstGeom>
          <a:ln w="9525">
            <a:solidFill>
              <a:srgbClr val="CCCCCC"/>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DistilBERT last-layer attention and SHAP-style token scoring (with clinical keyword boosting) highlight the terms driving the prediction.</a:t>
            </a:r>
            <a:endParaRPr sz="2000" b="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18945" y="1772885"/>
            <a:ext cx="8236000" cy="4321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765"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44450" y="480060"/>
          <a:ext cx="11915140" cy="625856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600">
                          <a:sym typeface="+mn-ea"/>
                        </a:rPr>
                        <a:t>Pascal Penava et al.</a:t>
                      </a:r>
                      <a:endParaRPr lang="en-US" altLang="en-US" sz="1600"/>
                    </a:p>
                    <a:p>
                      <a:pPr>
                        <a:buNone/>
                      </a:pPr>
                      <a:r>
                        <a:rPr altLang="en-US" sz="1600">
                          <a:sym typeface="+mn-ea"/>
                        </a:rPr>
                        <a:t>(https://ieeexplore.ieee.org/document/10757418). </a:t>
                      </a:r>
                      <a:r>
                        <a:rPr lang="en-US" altLang="en-US" sz="1600">
                          <a:sym typeface="+mn-ea"/>
                        </a:rPr>
                        <a:t>Journals &amp; Magazines, IEEE Access, Volume: 12, 2024</a:t>
                      </a:r>
                      <a:endParaRPr lang="en-US" altLang="en-US" sz="1600">
                        <a:sym typeface="+mn-ea"/>
                      </a:endParaRPr>
                    </a:p>
                  </a:txBody>
                  <a:tcPr marL="0" marR="0" marT="0" marB="0" anchor="ctr" anchorCtr="0"/>
                </a:tc>
                <a:tc>
                  <a:txBody>
                    <a:bodyPr/>
                    <a:p>
                      <a:r>
                        <a:rPr lang="en-US" altLang="en-US" sz="1800"/>
                        <a:t>1</a:t>
                      </a:r>
                      <a:r>
                        <a:rPr lang="en-US" altLang="en-US" sz="1600"/>
                        <a:t>D CNN on resting-state EEG for early mild depression detection</a:t>
                      </a:r>
                      <a:endParaRPr lang="en-US" altLang="en-US" sz="1600"/>
                    </a:p>
                  </a:txBody>
                  <a:tcPr marL="0" marR="0" marT="0" marB="0" anchor="ctr" anchorCtr="0"/>
                </a:tc>
                <a:tc>
                  <a:txBody>
                    <a:bodyPr/>
                    <a:p>
                      <a:r>
                        <a:rPr lang="en-US" altLang="en-US" sz="1600"/>
                        <a:t>Good accuracy (69.21%), low computational cost &amp; fast inference</a:t>
                      </a:r>
                      <a:endParaRPr lang="en-US" altLang="en-US" sz="1600"/>
                    </a:p>
                  </a:txBody>
                  <a:tcPr marL="0" marR="0" marT="0" marB="0" anchor="ctr" anchorCtr="0"/>
                </a:tc>
                <a:tc>
                  <a:txBody>
                    <a:bodyPr/>
                    <a:p>
                      <a:r>
                        <a:rPr lang="en-US" altLang="en-US" sz="1600"/>
                        <a:t>EEG-only (requires hardware); no explainability; limited to depression, not suicide risk; no deployment/privacy</a:t>
                      </a:r>
                      <a:endParaRPr lang="en-US" altLang="en-US" sz="1600"/>
                    </a:p>
                  </a:txBody>
                  <a:tcPr marL="0" marR="0" marT="0" marB="0" anchor="ctr" anchorCtr="0"/>
                </a:tc>
                <a:tc>
                  <a:txBody>
                    <a:bodyPr/>
                    <a:p>
                      <a:r>
                        <a:rPr lang="en-US" altLang="zh-CN" sz="1600"/>
                        <a:t>Our text-based approach + XAI (SHAP &amp; Attention) + MLOps + on-device DPDP compliance is more accessible &amp; practical</a:t>
                      </a:r>
                      <a:endParaRPr lang="en-US" altLang="zh-CN" sz="16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600"/>
                        <a:t>Enhanced with modern XAI techniques, full MLOps, and privacy-preserving on-device inference</a:t>
                      </a:r>
                      <a:endParaRPr lang="en-US" altLang="en-US" sz="16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4765" y="0"/>
            <a:ext cx="4539615" cy="8051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07035" y="1125220"/>
            <a:ext cx="10514965" cy="3908425"/>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0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2896235" cy="72961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References:</a:t>
            </a:r>
            <a:endParaRPr lang="en-IN" sz="3600" b="1" u="none" strike="noStrike">
              <a:solidFill>
                <a:srgbClr val="FF0000"/>
              </a:solidFill>
              <a:effectLst/>
              <a:uFillTx/>
              <a:latin typeface="Times New Roman" panose="02020603050405020304"/>
            </a:endParaRPr>
          </a:p>
        </p:txBody>
      </p:sp>
      <p:sp>
        <p:nvSpPr>
          <p:cNvPr id="85" name="PlaceHolder 2"/>
          <p:cNvSpPr>
            <a:spLocks noGrp="1"/>
          </p:cNvSpPr>
          <p:nvPr>
            <p:ph/>
          </p:nvPr>
        </p:nvSpPr>
        <p:spPr>
          <a:xfrm>
            <a:off x="77470" y="405130"/>
            <a:ext cx="12031345" cy="5861050"/>
          </a:xfrm>
          <a:prstGeom prst="rect">
            <a:avLst/>
          </a:prstGeom>
          <a:noFill/>
          <a:ln w="0">
            <a:noFill/>
          </a:ln>
        </p:spPr>
        <p:txBody>
          <a:bodyPr lIns="91440" tIns="45720" rIns="91440" bIns="45720" anchor="t"/>
          <a:p>
            <a:pPr marL="0" indent="0" algn="just" defTabSz="914400">
              <a:lnSpc>
                <a:spcPct val="90000"/>
              </a:lnSpc>
              <a:spcBef>
                <a:spcPts val="1000"/>
              </a:spcBef>
              <a:buClr>
                <a:srgbClr val="000000"/>
              </a:buClr>
              <a:buFont typeface="Arial" panose="020B0604020202020204"/>
              <a:buNone/>
            </a:pPr>
            <a:endParaRPr lang="en-US" altLang="en-US" sz="20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200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u="none" strike="noStrike">
                <a:solidFill>
                  <a:schemeClr val="dk1"/>
                </a:solidFill>
                <a:effectLst/>
                <a:uFillTx/>
                <a:latin typeface="Calibri" panose="020F0502020204030204"/>
              </a:rPr>
              <a:t>[2]Pascal Penava et al.(2025)—Early-Stage Non-Severe Depression Detection Using a Novel CNNApproach on Resting-State EEG Data(2024)— IEEE.</a:t>
            </a:r>
            <a:r>
              <a:rPr altLang="en-US" sz="2000">
                <a:sym typeface="+mn-ea"/>
              </a:rPr>
              <a:t> (https://ieeexplore.ieee.org/document/10757418). </a:t>
            </a:r>
            <a:r>
              <a:rPr lang="en-US" altLang="en-US" sz="2000">
                <a:sym typeface="+mn-ea"/>
              </a:rPr>
              <a:t>Journals &amp; Magazines, IEEE Access, Volume: 12</a:t>
            </a:r>
            <a:endParaRPr lang="en-US" altLang="en-US" sz="200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3</a:t>
            </a:r>
            <a:r>
              <a:rPr lang="en-IN" sz="2000" dirty="0">
                <a:sym typeface="+mn-ea"/>
              </a:rPr>
              <a:t>] A. Vázquez-Rodríguez, J. L. Hernández-Ramos, A. J. Jara, and A. F. </a:t>
            </a:r>
            <a:r>
              <a:rPr lang="en-IN" sz="2000" dirty="0" err="1">
                <a:sym typeface="+mn-ea"/>
              </a:rPr>
              <a:t>Skarmeta</a:t>
            </a:r>
            <a:r>
              <a:rPr lang="en-IN" sz="2000" dirty="0">
                <a:sym typeface="+mn-ea"/>
              </a:rPr>
              <a:t>, "CNFP: Optimizing </a:t>
            </a:r>
            <a:r>
              <a:rPr altLang="en-IN" sz="2000" dirty="0">
                <a:sym typeface="+mn-ea"/>
              </a:rPr>
              <a:t>backend</a:t>
            </a:r>
            <a:r>
              <a:rPr lang="en-IN" sz="2000" dirty="0">
                <a:sym typeface="+mn-ea"/>
              </a:rPr>
              <a:t>-Native </a:t>
            </a:r>
            <a:r>
              <a:rPr altLang="en-IN" sz="2000" dirty="0">
                <a:sym typeface="+mn-ea"/>
              </a:rPr>
              <a:t>quantisation </a:t>
            </a:r>
            <a:r>
              <a:rPr lang="en-IN" sz="2000" dirty="0">
                <a:sym typeface="+mn-ea"/>
              </a:rPr>
              <a:t> Function Placement with Diffusion Models </a:t>
            </a:r>
            <a:r>
              <a:rPr altLang="en-IN" sz="2000" dirty="0">
                <a:sym typeface="+mn-ea"/>
              </a:rPr>
              <a:t>with proper optimisation</a:t>
            </a:r>
            <a:r>
              <a:rPr lang="en-IN" sz="2000" dirty="0">
                <a:sym typeface="+mn-ea"/>
              </a:rPr>
              <a:t>," </a:t>
            </a:r>
            <a:r>
              <a:rPr lang="en-IN" sz="2000" i="1" dirty="0" err="1">
                <a:sym typeface="+mn-ea"/>
              </a:rPr>
              <a:t>arXiv</a:t>
            </a:r>
            <a:r>
              <a:rPr lang="en-IN" sz="2000" i="1" dirty="0">
                <a:sym typeface="+mn-ea"/>
              </a:rPr>
              <a:t> preprint arXiv:2508.1</a:t>
            </a:r>
            <a:r>
              <a:rPr altLang="en-IN" sz="2000" i="1" dirty="0">
                <a:sym typeface="+mn-ea"/>
              </a:rPr>
              <a:t>12</a:t>
            </a:r>
            <a:r>
              <a:rPr lang="en-IN" sz="2000" i="1" dirty="0">
                <a:sym typeface="+mn-ea"/>
              </a:rPr>
              <a:t>65</a:t>
            </a:r>
            <a:r>
              <a:rPr lang="en-IN" sz="2000" dirty="0">
                <a:sym typeface="+mn-ea"/>
              </a:rPr>
              <a:t>, 202</a:t>
            </a:r>
            <a:r>
              <a:rPr altLang="en-IN" sz="2000" dirty="0">
                <a:sym typeface="+mn-ea"/>
              </a:rPr>
              <a:t>4</a:t>
            </a:r>
            <a:r>
              <a:rPr lang="en-IN" sz="2000" dirty="0">
                <a:sym typeface="+mn-ea"/>
              </a:rPr>
              <a:t>.</a:t>
            </a:r>
            <a:endParaRPr lang="en-IN" sz="2000" dirty="0"/>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4</a:t>
            </a:r>
            <a:r>
              <a:rPr lang="en-IN" sz="2000" dirty="0">
                <a:sym typeface="+mn-ea"/>
              </a:rPr>
              <a:t>]</a:t>
            </a:r>
            <a:r>
              <a:rPr lang="en-IN" sz="2000" dirty="0">
                <a:sym typeface="+mn-ea"/>
              </a:rPr>
              <a:t> W. L. Hamilton, R. Ying, and J. Leskovec, "Inductive Re</a:t>
            </a:r>
            <a:r>
              <a:rPr altLang="en-IN" sz="2000" dirty="0">
                <a:sym typeface="+mn-ea"/>
              </a:rPr>
              <a:t>currence </a:t>
            </a:r>
            <a:r>
              <a:rPr lang="en-IN" sz="2000" dirty="0">
                <a:sym typeface="+mn-ea"/>
              </a:rPr>
              <a:t>Learning on </a:t>
            </a:r>
            <a:r>
              <a:rPr altLang="en-IN" sz="2000" dirty="0">
                <a:sym typeface="+mn-ea"/>
              </a:rPr>
              <a:t>Mental Health</a:t>
            </a:r>
            <a:r>
              <a:rPr lang="en-IN" sz="2000" dirty="0">
                <a:sym typeface="+mn-ea"/>
              </a:rPr>
              <a:t>," </a:t>
            </a:r>
            <a:r>
              <a:rPr lang="en-IN" sz="2000" i="1" dirty="0">
                <a:sym typeface="+mn-ea"/>
              </a:rPr>
              <a:t>Advances in </a:t>
            </a:r>
            <a:r>
              <a:rPr altLang="en-IN" sz="2000" i="1" dirty="0">
                <a:sym typeface="+mn-ea"/>
              </a:rPr>
              <a:t>MLOps </a:t>
            </a:r>
            <a:r>
              <a:rPr lang="en-IN" sz="2000" i="1" dirty="0">
                <a:sym typeface="+mn-ea"/>
              </a:rPr>
              <a:t> (</a:t>
            </a:r>
            <a:r>
              <a:rPr altLang="en-IN" sz="2000" i="1" dirty="0">
                <a:sym typeface="+mn-ea"/>
              </a:rPr>
              <a:t>Algorithms</a:t>
            </a:r>
            <a:r>
              <a:rPr lang="en-IN" sz="2000" i="1" dirty="0">
                <a:sym typeface="+mn-ea"/>
              </a:rPr>
              <a:t>)</a:t>
            </a:r>
            <a:r>
              <a:rPr lang="en-IN" sz="2000" dirty="0">
                <a:sym typeface="+mn-ea"/>
              </a:rPr>
              <a:t>, Vol. 30, 20</a:t>
            </a:r>
            <a:r>
              <a:rPr altLang="en-IN" sz="2000" dirty="0">
                <a:sym typeface="+mn-ea"/>
              </a:rPr>
              <a:t>23</a:t>
            </a:r>
            <a:r>
              <a:rPr lang="en-IN" sz="2000" dirty="0">
                <a:sym typeface="+mn-ea"/>
              </a:rPr>
              <a:t>.</a:t>
            </a:r>
            <a:endParaRPr lang="en-IN" sz="20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5</a:t>
            </a:r>
            <a:r>
              <a:rPr lang="en-IN" sz="2000" dirty="0">
                <a:sym typeface="+mn-ea"/>
              </a:rPr>
              <a:t>] I. Bello, H. Pham, Q. V. Le, M. Norouzi, and S. Bengio, "Neural Combinatorial Optimization with Reinforcement Learning," </a:t>
            </a:r>
            <a:r>
              <a:rPr lang="en-IN" sz="2000" i="1" dirty="0" err="1">
                <a:sym typeface="+mn-ea"/>
              </a:rPr>
              <a:t>arXiv</a:t>
            </a:r>
            <a:r>
              <a:rPr lang="en-IN" sz="2000" i="1" dirty="0">
                <a:sym typeface="+mn-ea"/>
              </a:rPr>
              <a:t> preprint arXiv:1611.09940</a:t>
            </a:r>
            <a:r>
              <a:rPr lang="en-IN" sz="2000" dirty="0">
                <a:sym typeface="+mn-ea"/>
              </a:rPr>
              <a:t>, 20</a:t>
            </a:r>
            <a:r>
              <a:rPr altLang="en-IN" sz="2000" dirty="0">
                <a:sym typeface="+mn-ea"/>
              </a:rPr>
              <a:t>21</a:t>
            </a:r>
            <a:r>
              <a:rPr lang="en-IN" sz="2000" dirty="0">
                <a:sym typeface="+mn-ea"/>
              </a:rPr>
              <a:t>.</a:t>
            </a:r>
            <a:r>
              <a:rPr altLang="en-US" sz="2000">
                <a:sym typeface="+mn-ea"/>
              </a:rPr>
              <a:t> </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sym typeface="+mn-ea"/>
              </a:rPr>
              <a:t>[6]P. Penava and R. Buettner, 'Early-Stage Non-Severe Depression Detection Using a Novel Convolutional Neural Network Approach Based on Resting-State EEG Data,' IEEE Access, vol. 12, pp. 173380-173389, 2024.</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[7] A. Dev et al., 'Exploration of EEG-based depression biomarkers identification techniques and their applications: A systematic review,' IEEE Access, vol. 10, pp. 16756-16781, 2022</a:t>
            </a:r>
            <a:endParaRPr lang="en-US" altLang="en-US" sz="200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200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6990" y="116840"/>
            <a:ext cx="2787650" cy="77660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Conclusion:</a:t>
            </a:r>
            <a:endParaRPr lang="en-IN" sz="3600" b="1" u="none" strike="noStrike">
              <a:solidFill>
                <a:srgbClr val="FF0000"/>
              </a:solidFill>
              <a:effectLst/>
              <a:uFillTx/>
              <a:latin typeface="Times New Roman" panose="02020603050405020304"/>
            </a:endParaRPr>
          </a:p>
        </p:txBody>
      </p:sp>
      <p:sp>
        <p:nvSpPr>
          <p:cNvPr id="88" name="PlaceHolder 2"/>
          <p:cNvSpPr>
            <a:spLocks noGrp="1"/>
          </p:cNvSpPr>
          <p:nvPr>
            <p:ph/>
          </p:nvPr>
        </p:nvSpPr>
        <p:spPr>
          <a:xfrm>
            <a:off x="408940" y="1628775"/>
            <a:ext cx="10944225" cy="3857625"/>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0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0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11322</Words>
  <Application>WPS Presentation</Application>
  <PresentationFormat/>
  <Paragraphs>298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LIVE DEMO: RISK PREDICTION OUTPUT</vt:lpstr>
      <vt:lpstr>DEMO: MULTI-LAYER EXPLAINABILITY</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204</cp:revision>
  <dcterms:created xsi:type="dcterms:W3CDTF">2006-08-16T00:00:00Z</dcterms:created>
  <dcterms:modified xsi:type="dcterms:W3CDTF">2026-08-14T09:46:11Z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CDA8A6E0C9DF4DE69BB0E034F50490D8_13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