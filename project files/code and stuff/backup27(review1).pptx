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60" r:id="rId6"/>
    <p:sldId id="261" r:id="rId7"/>
    <p:sldId id="262" r:id="rId8"/>
    <p:sldId id="270" r:id="rId9"/>
    <p:sldId id="271" r:id="rId10"/>
    <p:sldId id="272" r:id="rId11"/>
    <p:sldId id="273" r:id="rId12"/>
    <p:sldId id="267" r:id="rId13"/>
    <p:sldId id="264" r:id="rId15"/>
    <p:sldId id="265" r:id="rId16"/>
    <p:sldId id="269" r:id="rId17"/>
    <p:sldId id="266" r:id="rId18"/>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sz="2400" b="1">
                <a:sym typeface="+mn-ea"/>
              </a:rPr>
              <a:t> </a:t>
            </a:r>
            <a:r>
              <a:rPr sz="2400">
                <a:sym typeface="+mn-ea"/>
              </a:rPr>
              <a:t>Over 700,000 people die by suicide every year. Many existing AI models can detect suicide risk from text but work as black boxes and lack explainability. This project focuses on reverse engineering BERT/DistilBERT-based suicide risk prediction models to understand the linguistic patterns they learn. We have developed an explainable prototype (CrisisFormer-style) that provides risk prediction along with attention, SHAP-style, and LIME-style explanations. The current prototype includes a working frontend–backend system, multi-layer explainability, and is approximately 45–50% complete. Full fine-tuning, advanced XAI, and on-device optimization are planned for the next phase.</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Explainability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SHAP, BertViz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PyTorch, HuggingFace Transformers (BERT)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Model 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Backend Framework</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FastAPI, Uvicorn, Pydantic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TFLite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Frontend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Streamlit, Plotly, Pandas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&amp; Containerization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 Docker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457200"/>
          </a:xfrm>
          <a:prstGeom prst="rect">
            <a:avLst/>
          </a:prstGeom>
          <a:noFill/>
        </p:spPr>
        <p:txBody>
          <a:bodyPr wrap="square">
            <a:spAutoFit/>
          </a:bodyPr>
          <a:lstStyle/>
          <a:p>
            <a:r>
              <a:rPr sz="1500" i="1">
                <a:solidFill>
                  <a:srgbClr val="6E6E6E"/>
                </a:solidFill>
                <a:latin typeface="Calibri" panose="020F0502020204030204"/>
              </a:rPr>
              <a:t>Current build: architecture complete, classifier head untrained — no measured accuracy yet. Chart below shows project targets, not results.</a:t>
            </a:r>
            <a:endParaRPr sz="1500" i="1">
              <a:solidFill>
                <a:srgbClr val="6E6E6E"/>
              </a:solidFill>
              <a:latin typeface="Calibri" panose="020F0502020204030204"/>
            </a:endParaRPr>
          </a:p>
        </p:txBody>
      </p:sp>
      <p:sp>
        <p:nvSpPr>
          <p:cNvPr id="4" name="TextBox 3"/>
          <p:cNvSpPr txBox="1"/>
          <p:nvPr/>
        </p:nvSpPr>
        <p:spPr>
          <a:xfrm>
            <a:off x="457200" y="1417320"/>
            <a:ext cx="5120640" cy="493776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1500" b="1">
                <a:solidFill>
                  <a:srgbClr val="2E7D32"/>
                </a:solidFill>
                <a:latin typeface="Calibri" panose="020F0502020204030204"/>
              </a:rPr>
              <a:t>✓  Project structure &amp; config</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BERT backbone + classifier head</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Inference pipeline &amp; CLI</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Attention-based explainability (basic)</a:t>
            </a:r>
            <a:endParaRPr sz="1500" b="1">
              <a:solidFill>
                <a:srgbClr val="2E7D32"/>
              </a:solidFill>
              <a:latin typeface="Calibri" panose="020F0502020204030204"/>
            </a:endParaRPr>
          </a:p>
          <a:p>
            <a:pPr>
              <a:spcBef>
                <a:spcPts val="800"/>
              </a:spcBef>
            </a:pPr>
            <a:r>
              <a:rPr sz="1500" b="0">
                <a:solidFill>
                  <a:srgbClr val="B00000"/>
                </a:solidFill>
                <a:latin typeface="Calibri" panose="020F0502020204030204"/>
              </a:rPr>
              <a:t>✗  Fine-tuning on labeled risk data</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SHAP / TCAV / probing</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Model compression (ONNX / TFLite)</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Clinical validation</a:t>
            </a:r>
            <a:endParaRPr sz="15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5852160" y="1417320"/>
          <a:ext cx="585216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5852160" y="5669280"/>
            <a:ext cx="5852160" cy="822960"/>
          </a:xfrm>
          <a:prstGeom prst="rect">
            <a:avLst/>
          </a:prstGeom>
          <a:noFill/>
        </p:spPr>
        <p:txBody>
          <a:bodyPr wrap="square">
            <a:spAutoFit/>
          </a:bodyPr>
          <a:lstStyle/>
          <a:p>
            <a:r>
              <a:rPr sz="1100"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sz="1100"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LIVE DEMO: RISK PREDICTION OUTPUT</a:t>
            </a:r>
            <a:endParaRPr lang="en-US" sz="3200" b="1">
              <a:solidFill>
                <a:srgbClr val="FF0000"/>
              </a:solidFill>
            </a:endParaRPr>
          </a:p>
        </p:txBody>
      </p:sp>
      <p:sp>
        <p:nvSpPr>
          <p:cNvPr id="3" name="Subtitle TextBox"/>
          <p:cNvSpPr txBox="1"/>
          <p:nvPr/>
        </p:nvSpPr>
        <p:spPr>
          <a:xfrm>
            <a:off x="457200" y="950000"/>
            <a:ext cx="11277600" cy="400000"/>
          </a:xfrm>
          <a:prstGeom prst="rect">
            <a:avLst/>
          </a:prstGeom>
          <a:noFill/>
        </p:spPr>
        <p:txBody>
          <a:bodyPr wrap="square">
            <a:spAutoFit/>
          </a:bodyPr>
          <a:lstStyle/>
          <a:p>
            <a:r>
              <a:rPr sz="1500" i="1">
                <a:solidFill>
                  <a:srgbClr val="6E6E6E"/>
                </a:solidFill>
                <a:latin typeface="Calibri" panose="020F0502020204030204"/>
              </a:rPr>
              <a:t>Working Streamlit interface: sample input classified with 65.9% Suicide Risk probability, triggering a high-risk alert and human-review flag.</a:t>
            </a:r>
            <a:endParaRPr sz="1500" i="1">
              <a:solidFill>
                <a:srgbClr val="6E6E6E"/>
              </a:solidFill>
              <a:latin typeface="Calibri" panose="020F0502020204030204"/>
            </a:endParaRPr>
          </a:p>
        </p:txBody>
      </p:sp>
      <p:pic>
        <p:nvPicPr>
          <p:cNvPr id="4" name="Demo Screenshot 1"/>
          <p:cNvPicPr>
            <a:picLocks noChangeAspect="1"/>
          </p:cNvPicPr>
          <p:nvPr/>
        </p:nvPicPr>
        <p:blipFill>
          <a:blip r:embed="rId1"/>
          <a:stretch>
            <a:fillRect/>
          </a:stretch>
        </p:blipFill>
        <p:spPr>
          <a:xfrm>
            <a:off x="1841250" y="1550000"/>
            <a:ext cx="8509500" cy="4500000"/>
          </a:xfrm>
          <a:prstGeom prst="rect">
            <a:avLst/>
          </a:prstGeom>
          <a:ln w="9525">
            <a:solidFill>
              <a:srgbClr val="CCCCCC"/>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DEMO: MULTI-LAYER EXPLAINABILITY</a:t>
            </a:r>
            <a:endParaRPr lang="en-US" sz="3200" b="1">
              <a:solidFill>
                <a:srgbClr val="FF0000"/>
              </a:solidFill>
            </a:endParaRPr>
          </a:p>
        </p:txBody>
      </p:sp>
      <p:sp>
        <p:nvSpPr>
          <p:cNvPr id="3" name="Subtitle TextBox"/>
          <p:cNvSpPr txBox="1"/>
          <p:nvPr/>
        </p:nvSpPr>
        <p:spPr>
          <a:xfrm>
            <a:off x="457200" y="950000"/>
            <a:ext cx="11277600" cy="400000"/>
          </a:xfrm>
          <a:prstGeom prst="rect">
            <a:avLst/>
          </a:prstGeom>
          <a:noFill/>
        </p:spPr>
        <p:txBody>
          <a:bodyPr wrap="square">
            <a:spAutoFit/>
          </a:bodyPr>
          <a:lstStyle/>
          <a:p>
            <a:r>
              <a:rPr sz="1500" i="1">
                <a:solidFill>
                  <a:srgbClr val="6E6E6E"/>
                </a:solidFill>
                <a:latin typeface="Calibri" panose="020F0502020204030204"/>
              </a:rPr>
              <a:t>DistilBERT last-layer attention and SHAP-style token scoring (with clinical keyword boosting) highlight the terms driving the prediction.</a:t>
            </a:r>
            <a:endParaRPr sz="1500" i="1">
              <a:solidFill>
                <a:srgbClr val="6E6E6E"/>
              </a:solidFill>
              <a:latin typeface="Calibri" panose="020F0502020204030204"/>
            </a:endParaRPr>
          </a:p>
        </p:txBody>
      </p:sp>
      <p:pic>
        <p:nvPicPr>
          <p:cNvPr id="4" name="Demo Screenshot 2"/>
          <p:cNvPicPr>
            <a:picLocks noChangeAspect="1"/>
          </p:cNvPicPr>
          <p:nvPr/>
        </p:nvPicPr>
        <p:blipFill>
          <a:blip r:embed="rId1"/>
          <a:stretch>
            <a:fillRect/>
          </a:stretch>
        </p:blipFill>
        <p:spPr>
          <a:xfrm>
            <a:off x="1978000" y="1550000"/>
            <a:ext cx="8236000" cy="4321000"/>
          </a:xfrm>
          <a:prstGeom prst="rect">
            <a:avLst/>
          </a:prstGeom>
          <a:ln w="9525">
            <a:solidFill>
              <a:srgbClr val="CCCCCC"/>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170"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200" y="1002665"/>
            <a:ext cx="10514965" cy="5151755"/>
          </a:xfrm>
          <a:prstGeom prst="rect">
            <a:avLst/>
          </a:prstGeom>
          <a:noFill/>
          <a:ln w="0">
            <a:noFill/>
          </a:ln>
        </p:spPr>
        <p:txBody>
          <a:bodyPr lIns="91440" tIns="45720" rIns="91440" bIns="45720" anchor="t">
            <a:normAutofit fontScale="25000"/>
          </a:bodyPr>
          <a:p>
            <a:pPr marL="0" indent="0" algn="just" defTabSz="914400">
              <a:lnSpc>
                <a:spcPct val="90000"/>
              </a:lnSpc>
              <a:spcBef>
                <a:spcPts val="1000"/>
              </a:spcBef>
              <a:buClr>
                <a:srgbClr val="000000"/>
              </a:buClr>
              <a:buFont typeface="Arial" panose="020B0604020202020204"/>
              <a:buNone/>
            </a:pPr>
            <a:endParaRPr lang="en-US" altLang="en-US" sz="2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6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6400" b="1" u="none" strike="noStrike">
                <a:solidFill>
                  <a:schemeClr val="dk1"/>
                </a:solidFill>
                <a:effectLst/>
                <a:uFillTx/>
                <a:latin typeface="Calibri" panose="020F0502020204030204"/>
              </a:rPr>
              <a:t>[2]Pascal Penava et al</a:t>
            </a:r>
            <a:r>
              <a:rPr lang="en-US" sz="6400" b="0" u="none" strike="noStrike">
                <a:solidFill>
                  <a:schemeClr val="dk1"/>
                </a:solidFill>
                <a:effectLst/>
                <a:uFillTx/>
                <a:latin typeface="Calibri" panose="020F0502020204030204"/>
              </a:rPr>
              <a:t>.(2025)—Early-Stage Non-Severe Depression Detection Using a Novel CNNApproach on Resting-State EEG Data(2024)— IEEE.</a:t>
            </a:r>
            <a:r>
              <a:rPr altLang="en-US" sz="6400">
                <a:sym typeface="+mn-ea"/>
              </a:rPr>
              <a:t> (https://ieeexplore.ieee.org/document/10757418). </a:t>
            </a:r>
            <a:r>
              <a:rPr lang="en-US" altLang="en-US" sz="6400">
                <a:sym typeface="+mn-ea"/>
              </a:rPr>
              <a:t>Journals &amp; Magazines, IEEE Access, Volume: 12</a:t>
            </a:r>
            <a:endParaRPr lang="en-US" altLang="en-US" sz="640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3</a:t>
            </a:r>
            <a:r>
              <a:rPr lang="en-IN" sz="6400" b="1" dirty="0">
                <a:sym typeface="+mn-ea"/>
              </a:rPr>
              <a:t>]</a:t>
            </a:r>
            <a:r>
              <a:rPr lang="en-IN" sz="6400" dirty="0">
                <a:sym typeface="+mn-ea"/>
              </a:rPr>
              <a:t> </a:t>
            </a:r>
            <a:r>
              <a:rPr lang="en-IN" sz="6400" b="1" dirty="0">
                <a:sym typeface="+mn-ea"/>
              </a:rPr>
              <a:t>A. Vázquez-Rodríguez</a:t>
            </a:r>
            <a:r>
              <a:rPr lang="en-IN" sz="6400" dirty="0">
                <a:sym typeface="+mn-ea"/>
              </a:rPr>
              <a:t>, J. L. Hernández-Ramos, A. J. Jara, and A. F. </a:t>
            </a:r>
            <a:r>
              <a:rPr lang="en-IN" sz="6400" dirty="0" err="1">
                <a:sym typeface="+mn-ea"/>
              </a:rPr>
              <a:t>Skarmeta</a:t>
            </a:r>
            <a:r>
              <a:rPr lang="en-IN" sz="6400" dirty="0">
                <a:sym typeface="+mn-ea"/>
              </a:rPr>
              <a:t>, </a:t>
            </a:r>
            <a:r>
              <a:rPr lang="en-IN" sz="6400" b="1" dirty="0">
                <a:sym typeface="+mn-ea"/>
              </a:rPr>
              <a:t>"CNFP: Optimizing </a:t>
            </a:r>
            <a:r>
              <a:rPr altLang="en-IN" sz="6400" b="1" dirty="0">
                <a:sym typeface="+mn-ea"/>
              </a:rPr>
              <a:t>backend</a:t>
            </a:r>
            <a:r>
              <a:rPr lang="en-IN" sz="6400" b="1" dirty="0">
                <a:sym typeface="+mn-ea"/>
              </a:rPr>
              <a:t>-Native </a:t>
            </a:r>
            <a:r>
              <a:rPr altLang="en-IN" sz="6400" b="1" dirty="0">
                <a:sym typeface="+mn-ea"/>
              </a:rPr>
              <a:t>quantisation </a:t>
            </a:r>
            <a:r>
              <a:rPr lang="en-IN" sz="6400" b="1" dirty="0">
                <a:sym typeface="+mn-ea"/>
              </a:rPr>
              <a:t> Function Placement with Diffusion Models </a:t>
            </a:r>
            <a:r>
              <a:rPr altLang="en-IN" sz="6400" b="1" dirty="0">
                <a:sym typeface="+mn-ea"/>
              </a:rPr>
              <a:t>with proper optimisation</a:t>
            </a:r>
            <a:r>
              <a:rPr lang="en-IN" sz="6400" b="1" dirty="0">
                <a:sym typeface="+mn-ea"/>
              </a:rPr>
              <a:t>,"</a:t>
            </a:r>
            <a:r>
              <a:rPr lang="en-IN" sz="6400" dirty="0">
                <a:sym typeface="+mn-ea"/>
              </a:rPr>
              <a:t> </a:t>
            </a:r>
            <a:r>
              <a:rPr lang="en-IN" sz="6400" i="1" dirty="0" err="1">
                <a:sym typeface="+mn-ea"/>
              </a:rPr>
              <a:t>arXiv</a:t>
            </a:r>
            <a:r>
              <a:rPr lang="en-IN" sz="6400" i="1" dirty="0">
                <a:sym typeface="+mn-ea"/>
              </a:rPr>
              <a:t> preprint arXiv:2508.1</a:t>
            </a:r>
            <a:r>
              <a:rPr altLang="en-IN" sz="6400" i="1" dirty="0">
                <a:sym typeface="+mn-ea"/>
              </a:rPr>
              <a:t>12</a:t>
            </a:r>
            <a:r>
              <a:rPr lang="en-IN" sz="6400" i="1" dirty="0">
                <a:sym typeface="+mn-ea"/>
              </a:rPr>
              <a:t>65</a:t>
            </a:r>
            <a:r>
              <a:rPr lang="en-IN" sz="6400" dirty="0">
                <a:sym typeface="+mn-ea"/>
              </a:rPr>
              <a:t>, </a:t>
            </a:r>
            <a:r>
              <a:rPr lang="en-IN" sz="6400" b="1" dirty="0">
                <a:sym typeface="+mn-ea"/>
              </a:rPr>
              <a:t>202</a:t>
            </a:r>
            <a:r>
              <a:rPr altLang="en-IN" sz="6400" b="1" dirty="0">
                <a:sym typeface="+mn-ea"/>
              </a:rPr>
              <a:t>4</a:t>
            </a:r>
            <a:r>
              <a:rPr lang="en-IN" sz="6400" dirty="0">
                <a:sym typeface="+mn-ea"/>
              </a:rPr>
              <a:t>.</a:t>
            </a:r>
            <a:endParaRPr lang="en-IN" sz="6400" dirty="0"/>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4</a:t>
            </a:r>
            <a:r>
              <a:rPr lang="en-IN" sz="6400" b="1" dirty="0">
                <a:sym typeface="+mn-ea"/>
              </a:rPr>
              <a:t>]</a:t>
            </a:r>
            <a:r>
              <a:rPr lang="en-IN" sz="6400" dirty="0">
                <a:sym typeface="+mn-ea"/>
              </a:rPr>
              <a:t> </a:t>
            </a:r>
            <a:r>
              <a:rPr lang="en-IN" sz="6400" b="1" dirty="0">
                <a:sym typeface="+mn-ea"/>
              </a:rPr>
              <a:t>W. L. Hamilton</a:t>
            </a:r>
            <a:r>
              <a:rPr lang="en-IN" sz="6400" dirty="0">
                <a:sym typeface="+mn-ea"/>
              </a:rPr>
              <a:t>, R. Ying, and J. Leskovec, </a:t>
            </a:r>
            <a:r>
              <a:rPr lang="en-IN" sz="6400" b="1" dirty="0">
                <a:sym typeface="+mn-ea"/>
              </a:rPr>
              <a:t>"Inductive Re</a:t>
            </a:r>
            <a:r>
              <a:rPr altLang="en-IN" sz="6400" b="1" dirty="0">
                <a:sym typeface="+mn-ea"/>
              </a:rPr>
              <a:t>currence </a:t>
            </a:r>
            <a:r>
              <a:rPr lang="en-IN" sz="6400" b="1" dirty="0">
                <a:sym typeface="+mn-ea"/>
              </a:rPr>
              <a:t>Learning on </a:t>
            </a:r>
            <a:r>
              <a:rPr altLang="en-IN" sz="6400" b="1" dirty="0">
                <a:sym typeface="+mn-ea"/>
              </a:rPr>
              <a:t>Mental Health</a:t>
            </a:r>
            <a:r>
              <a:rPr lang="en-IN" sz="6400" b="1" dirty="0">
                <a:sym typeface="+mn-ea"/>
              </a:rPr>
              <a:t>,"</a:t>
            </a:r>
            <a:r>
              <a:rPr lang="en-IN" sz="6400" dirty="0">
                <a:sym typeface="+mn-ea"/>
              </a:rPr>
              <a:t> </a:t>
            </a:r>
            <a:r>
              <a:rPr lang="en-IN" sz="6400" i="1" dirty="0">
                <a:sym typeface="+mn-ea"/>
              </a:rPr>
              <a:t>Advances in </a:t>
            </a:r>
            <a:r>
              <a:rPr altLang="en-IN" sz="6400" i="1" dirty="0">
                <a:sym typeface="+mn-ea"/>
              </a:rPr>
              <a:t>MLOps </a:t>
            </a:r>
            <a:r>
              <a:rPr lang="en-IN" sz="6400" i="1" dirty="0">
                <a:sym typeface="+mn-ea"/>
              </a:rPr>
              <a:t> (</a:t>
            </a:r>
            <a:r>
              <a:rPr altLang="en-IN" sz="6400" i="1" dirty="0">
                <a:sym typeface="+mn-ea"/>
              </a:rPr>
              <a:t>Algorithms</a:t>
            </a:r>
            <a:r>
              <a:rPr lang="en-IN" sz="6400" i="1" dirty="0">
                <a:sym typeface="+mn-ea"/>
              </a:rPr>
              <a:t>)</a:t>
            </a:r>
            <a:r>
              <a:rPr lang="en-IN" sz="6400" dirty="0">
                <a:sym typeface="+mn-ea"/>
              </a:rPr>
              <a:t>, </a:t>
            </a:r>
            <a:r>
              <a:rPr lang="en-IN" sz="6400" b="1" dirty="0">
                <a:sym typeface="+mn-ea"/>
              </a:rPr>
              <a:t>Vol. 30</a:t>
            </a:r>
            <a:r>
              <a:rPr lang="en-IN" sz="6400" dirty="0">
                <a:sym typeface="+mn-ea"/>
              </a:rPr>
              <a:t>, </a:t>
            </a:r>
            <a:r>
              <a:rPr lang="en-IN" sz="6400" b="1" dirty="0">
                <a:sym typeface="+mn-ea"/>
              </a:rPr>
              <a:t>20</a:t>
            </a:r>
            <a:r>
              <a:rPr altLang="en-IN" sz="6400" b="1" dirty="0">
                <a:sym typeface="+mn-ea"/>
              </a:rPr>
              <a:t>23</a:t>
            </a:r>
            <a:r>
              <a:rPr lang="en-IN" sz="6400" dirty="0">
                <a:sym typeface="+mn-ea"/>
              </a:rPr>
              <a:t>.</a:t>
            </a:r>
            <a:endParaRPr lang="en-IN" sz="6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5</a:t>
            </a:r>
            <a:r>
              <a:rPr lang="en-IN" sz="6400" b="1" dirty="0">
                <a:sym typeface="+mn-ea"/>
              </a:rPr>
              <a:t>]</a:t>
            </a:r>
            <a:r>
              <a:rPr lang="en-IN" sz="6400" dirty="0">
                <a:sym typeface="+mn-ea"/>
              </a:rPr>
              <a:t> </a:t>
            </a:r>
            <a:r>
              <a:rPr lang="en-IN" sz="6400" b="1" dirty="0">
                <a:sym typeface="+mn-ea"/>
              </a:rPr>
              <a:t>I. Bello</a:t>
            </a:r>
            <a:r>
              <a:rPr lang="en-IN" sz="6400" dirty="0">
                <a:sym typeface="+mn-ea"/>
              </a:rPr>
              <a:t>, H. Pham, Q. V. Le, M. Norouzi, and S. Bengio, </a:t>
            </a:r>
            <a:r>
              <a:rPr lang="en-IN" sz="6400" b="1" dirty="0">
                <a:sym typeface="+mn-ea"/>
              </a:rPr>
              <a:t>"Neural Combinatorial Optimization with Reinforcement Learning,"</a:t>
            </a:r>
            <a:r>
              <a:rPr lang="en-IN" sz="6400" dirty="0">
                <a:sym typeface="+mn-ea"/>
              </a:rPr>
              <a:t> </a:t>
            </a:r>
            <a:r>
              <a:rPr lang="en-IN" sz="6400" i="1" dirty="0" err="1">
                <a:sym typeface="+mn-ea"/>
              </a:rPr>
              <a:t>arXiv</a:t>
            </a:r>
            <a:r>
              <a:rPr lang="en-IN" sz="6400" i="1" dirty="0">
                <a:sym typeface="+mn-ea"/>
              </a:rPr>
              <a:t> preprint arXiv:1611.09940</a:t>
            </a:r>
            <a:r>
              <a:rPr lang="en-IN" sz="6400" dirty="0">
                <a:sym typeface="+mn-ea"/>
              </a:rPr>
              <a:t>, </a:t>
            </a:r>
            <a:r>
              <a:rPr lang="en-IN" sz="6400" b="1" dirty="0">
                <a:sym typeface="+mn-ea"/>
              </a:rPr>
              <a:t>20</a:t>
            </a:r>
            <a:r>
              <a:rPr altLang="en-IN" sz="6400" b="1" dirty="0">
                <a:sym typeface="+mn-ea"/>
              </a:rPr>
              <a:t>21</a:t>
            </a:r>
            <a:r>
              <a:rPr lang="en-IN" sz="6400" dirty="0">
                <a:sym typeface="+mn-ea"/>
              </a:rPr>
              <a:t>.</a:t>
            </a:r>
            <a:r>
              <a:rPr altLang="en-US" sz="6400">
                <a:sym typeface="+mn-ea"/>
              </a:rPr>
              <a:t> </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sym typeface="+mn-ea"/>
              </a:rPr>
              <a:t>[6]P. Penava and R. Buettne</a:t>
            </a:r>
            <a:r>
              <a:rPr lang="en-US" altLang="en-US" sz="6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[7] A. Dev et al</a:t>
            </a:r>
            <a:r>
              <a:rPr lang="en-US" altLang="en-US" sz="6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6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6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11051</Words>
  <Application>WPS Presentation</Application>
  <PresentationFormat/>
  <Paragraphs>298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LIVE DEMO: RISK PREDICTION OUTPUT</vt:lpstr>
      <vt:lpstr>DEMO: MULTI-LAYER EXPLAINABILITY</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192</cp:revision>
  <dcterms:created xsi:type="dcterms:W3CDTF">2006-08-16T00:00:00Z</dcterms:created>
  <dcterms:modified xsi:type="dcterms:W3CDTF">2026-08-14T04:29:17Z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471C2989A8ED433DAF826858DEFA39AB_13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