
<file path=[Content_Types].xml><?xml version="1.0" encoding="utf-8"?>
<Types xmlns="http://schemas.openxmlformats.org/package/2006/content-types">
  <Default Extension="xlsx" ContentType="application/vnd.openxmlformats-officedocument.spreadsheetml.sheet"/>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3"/>
    <p:sldId id="257" r:id="rId4"/>
    <p:sldId id="258" r:id="rId5"/>
    <p:sldId id="260" r:id="rId6"/>
    <p:sldId id="261" r:id="rId7"/>
    <p:sldId id="262" r:id="rId8"/>
    <p:sldId id="270" r:id="rId9"/>
    <p:sldId id="271" r:id="rId10"/>
    <p:sldId id="272" r:id="rId11"/>
    <p:sldId id="273" r:id="rId12"/>
    <p:sldId id="267" r:id="rId13"/>
    <p:sldId id="264" r:id="rId15"/>
    <p:sldId id="265" r:id="rId16"/>
    <p:sldId id="269" r:id="rId17"/>
    <p:sldId id="266" r:id="rId18"/>
  </p:sldIdLst>
  <p:sldSz cx="12192000" cy="6858000"/>
  <p:notesSz cx="777240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2160" b="1" i="0" u="none" strike="noStrike" kern="1200" baseline="0">
                <a:solidFill>
                  <a:schemeClr val="tx1"/>
                </a:solidFill>
                <a:latin typeface="+mn-lt"/>
                <a:ea typeface="+mn-ea"/>
                <a:cs typeface="+mn-cs"/>
              </a:defRPr>
            </a:pPr>
            <a:r>
              <a:rPr sz="1400" b="1">
                <a:solidFill>
                  <a:srgbClr val="1A1A1A"/>
                </a:solidFill>
              </a:rPr>
              <a:t>Target Accuracy — Roadmap Goals (Not Yet Measured)</a:t>
            </a:r>
            <a:endParaRPr sz="1400" b="1">
              <a:solidFill>
                <a:srgbClr val="1A1A1A"/>
              </a:solidFill>
            </a:endParaRPr>
          </a:p>
        </c:rich>
      </c:tx>
      <c:layout/>
      <c:overlay val="0"/>
    </c:title>
    <c:autoTitleDeleted val="0"/>
    <c:plotArea>
      <c:layout/>
      <c:barChart>
        <c:barDir val="col"/>
        <c:grouping val="clustered"/>
        <c:varyColors val="0"/>
        <c:ser>
          <c:idx val="0"/>
          <c:order val="0"/>
          <c:tx>
            <c:strRef>
              <c:f>Sheet1!$B$1</c:f>
              <c:strCache>
                <c:ptCount val="1"/>
                <c:pt idx="0">
                  <c:v>Target Accuracy %</c:v>
                </c:pt>
              </c:strCache>
            </c:strRef>
          </c:tx>
          <c:spPr>
            <a:solidFill>
              <a:srgbClr val="2F3C7E"/>
            </a:solidFill>
          </c:spPr>
          <c:invertIfNegative val="0"/>
          <c:dLbls>
            <c:numFmt formatCode="0&quot;%&quot;" sourceLinked="0"/>
            <c:spPr>
              <a:noFill/>
              <a:ln>
                <a:noFill/>
              </a:ln>
              <a:effectLst/>
            </c:spPr>
            <c:txPr>
              <a:bodyPr rot="0" spcFirstLastPara="0" vertOverflow="ellipsis" vert="horz" wrap="square" lIns="38100" tIns="19050" rIns="38100" bIns="19050" anchor="ctr" anchorCtr="1"/>
              <a:lstStyle/>
              <a:p>
                <a:pPr>
                  <a:defRPr lang="en-US" sz="1800" b="0" i="0" u="none" strike="noStrike" kern="1200" baseline="0">
                    <a:solidFill>
                      <a:schemeClr val="tx1"/>
                    </a:solidFill>
                    <a:latin typeface="+mn-lt"/>
                    <a:ea typeface="+mn-ea"/>
                    <a:cs typeface="+mn-cs"/>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ext>
            </c:extLst>
          </c:dLbls>
          <c:cat>
            <c:strRef>
              <c:f>Sheet1!$A$2:$A$3</c:f>
              <c:strCache>
                <c:ptCount val="2"/>
                <c:pt idx="0">
                  <c:v>Near-Term Target
(fine-tuned model)</c:v>
                </c:pt>
                <c:pt idx="1">
                  <c:v>Stretch Target
(full system, per README)</c:v>
                </c:pt>
              </c:strCache>
            </c:strRef>
          </c:cat>
          <c:val>
            <c:numRef>
              <c:f>Sheet1!$B$2:$B$3</c:f>
              <c:numCache>
                <c:formatCode>General</c:formatCode>
                <c:ptCount val="2"/>
                <c:pt idx="0">
                  <c:v>70</c:v>
                </c:pt>
                <c:pt idx="1">
                  <c:v>90</c:v>
                </c:pt>
              </c:numCache>
            </c:numRef>
          </c:val>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b"/>
        <c:majorTickMark val="out"/>
        <c:minorTickMark val="none"/>
        <c:tickLblPos val="nextTo"/>
        <c:spPr>
          <a:ln w="6350" cap="flat" cmpd="sng" algn="ctr">
            <a:solidFill>
              <a:srgbClr val="B0B0B0"/>
            </a:solidFill>
            <a:prstDash val="solid"/>
            <a:round/>
          </a:ln>
        </c:spPr>
        <c:txPr>
          <a:bodyPr rot="-60000000" spcFirstLastPara="0" vertOverflow="ellipsis" vert="horz" wrap="square" anchor="ctr" anchorCtr="1"/>
          <a:lstStyle/>
          <a:p>
            <a:pPr>
              <a:defRPr lang="en-US" sz="1200" b="0" i="0" u="none" strike="noStrike" kern="1200" baseline="0">
                <a:solidFill>
                  <a:srgbClr val="1A1A1A"/>
                </a:solidFill>
                <a:latin typeface="+mn-lt"/>
                <a:ea typeface="+mn-ea"/>
                <a:cs typeface="+mn-cs"/>
              </a:defRPr>
            </a:pPr>
          </a:p>
        </c:txPr>
        <c:crossAx val="-2113994440"/>
        <c:crosses val="autoZero"/>
        <c:auto val="1"/>
        <c:lblAlgn val="ctr"/>
        <c:lblOffset val="100"/>
        <c:noMultiLvlLbl val="0"/>
      </c:catAx>
      <c:valAx>
        <c:axId val="-2113994440"/>
        <c:scaling>
          <c:orientation val="minMax"/>
          <c:max val="100"/>
          <c:min val="0"/>
        </c:scaling>
        <c:delete val="0"/>
        <c:axPos val="l"/>
        <c:majorGridlines>
          <c:spPr>
            <a:ln w="6350" cap="flat" cmpd="sng" algn="ctr">
              <a:solidFill>
                <a:srgbClr val="E0E0E0"/>
              </a:solidFill>
              <a:prstDash val="solid"/>
              <a:round/>
            </a:ln>
          </c:spPr>
        </c:majorGridlines>
        <c:numFmt formatCode="General" sourceLinked="1"/>
        <c:majorTickMark val="out"/>
        <c:minorTickMark val="none"/>
        <c:tickLblPos val="nextTo"/>
        <c:txPr>
          <a:bodyPr rot="-60000000" spcFirstLastPara="0" vertOverflow="ellipsis" vert="horz" wrap="square" anchor="ctr" anchorCtr="1"/>
          <a:lstStyle/>
          <a:p>
            <a:pPr>
              <a:defRPr lang="en-US" sz="1100" b="0" i="0" u="none" strike="noStrike" kern="1200" baseline="0">
                <a:solidFill>
                  <a:srgbClr val="6E6E6E"/>
                </a:solidFill>
                <a:latin typeface="+mn-lt"/>
                <a:ea typeface="+mn-ea"/>
                <a:cs typeface="+mn-cs"/>
              </a:defRPr>
            </a:pPr>
          </a:p>
        </c:txPr>
        <c:crossAx val="-2068027336"/>
        <c:crosses val="autoZero"/>
        <c:crossBetween val="between"/>
      </c:valAx>
    </c:plotArea>
    <c:plotVisOnly val="1"/>
    <c:dispBlanksAs val="gap"/>
    <c:showDLblsOverMax val="0"/>
    <c:extLst>
      <c:ext uri="{0b15fc19-7d7d-44ad-8c2d-2c3a37ce22c3}">
        <chartProps xmlns="https://web.wps.cn/et/2018/main" chartId="{6f177eda-6adc-47b4-a4c2-69a9df042f3d}"/>
      </c:ext>
    </c:extLst>
  </c:chart>
  <c:txPr>
    <a:bodyPr/>
    <a:lstStyle/>
    <a:p>
      <a:pPr>
        <a:defRPr lang="en-US" sz="1800"/>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040" cy="50466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561" y="0"/>
            <a:ext cx="3368040" cy="50466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868680" y="1257300"/>
            <a:ext cx="6035040" cy="339471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240" y="4840605"/>
            <a:ext cx="6217920" cy="3960495"/>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9553734"/>
            <a:ext cx="3368040" cy="50466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561" y="9553734"/>
            <a:ext cx="3368040" cy="50466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en-US" sz="6000" b="0" u="none" strike="noStrike">
                <a:solidFill>
                  <a:schemeClr val="dk1"/>
                </a:solidFill>
                <a:effectLst/>
                <a:uFillTx/>
                <a:latin typeface="Calibri Light" panose="020F0302020204030204"/>
              </a:defRPr>
            </a:lvl1pPr>
          </a:lstStyle>
          <a:p>
            <a:pPr indent="0" algn="ctr" defTabSz="914400">
              <a:lnSpc>
                <a:spcPct val="90000"/>
              </a:lnSpc>
              <a:buNone/>
            </a:pPr>
            <a:r>
              <a:rPr lang="en-US" sz="6000" b="0" u="none" strike="noStrike">
                <a:solidFill>
                  <a:schemeClr val="dk1"/>
                </a:solidFill>
                <a:effectLst/>
                <a:uFillTx/>
                <a:latin typeface="Calibri Light" panose="020F0302020204030204"/>
              </a:rPr>
              <a:t>Click to edit Master title style</a:t>
            </a:r>
            <a:endParaRPr lang="en-US" sz="6000" b="0" u="none" strike="noStrike">
              <a:solidFill>
                <a:schemeClr val="dk1"/>
              </a:solidFill>
              <a:effectLst/>
              <a:uFillTx/>
              <a:latin typeface="Calibri Light" panose="020F0302020204030204"/>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blipFill rotWithShape="0">
          <a:blip r:embed="rId2"/>
          <a:stretch>
            <a:fillRect/>
          </a:stretch>
        </a:blip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7" name="PlaceHolder 2"/>
          <p:cNvSpPr>
            <a:spLocks noGrp="1"/>
          </p:cNvSpPr>
          <p:nvPr>
            <p:ph type="body"/>
          </p:nvPr>
        </p:nvSpPr>
        <p:spPr>
          <a:xfrm>
            <a:off x="838080" y="1825560"/>
            <a:ext cx="10515240" cy="4350960"/>
          </a:xfrm>
          <a:prstGeom prst="rect">
            <a:avLst/>
          </a:prstGeom>
          <a:noFill/>
          <a:ln w="0">
            <a:noFill/>
          </a:ln>
        </p:spPr>
        <p:txBody>
          <a:bodyPr vert="eaVert"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8"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9"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10"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blipFill rotWithShape="0">
          <a:blip r:embed="rId2"/>
          <a:stretch>
            <a:fillRect/>
          </a:stretch>
        </a:blip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12"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13"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14"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15"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17"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18"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19"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20"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blipFill rotWithShape="0">
          <a:blip r:embed="rId2"/>
          <a:stretch>
            <a:fillRect/>
          </a:stretch>
        </a:blip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lvl1pPr indent="0" algn="l" defTabSz="914400">
              <a:lnSpc>
                <a:spcPct val="90000"/>
              </a:lnSpc>
              <a:buNone/>
              <a:defRPr lang="en-US" sz="6000" b="0" u="none" strike="noStrike">
                <a:solidFill>
                  <a:schemeClr val="dk1"/>
                </a:solidFill>
                <a:effectLst/>
                <a:uFillTx/>
                <a:latin typeface="Calibri Light" panose="020F0302020204030204"/>
              </a:defRPr>
            </a:lvl1pPr>
          </a:lstStyle>
          <a:p>
            <a:pPr indent="0" algn="l" defTabSz="914400">
              <a:lnSpc>
                <a:spcPct val="90000"/>
              </a:lnSpc>
              <a:buNone/>
            </a:pPr>
            <a:r>
              <a:rPr lang="en-US" sz="6000" b="0" u="none" strike="noStrike">
                <a:solidFill>
                  <a:schemeClr val="dk1"/>
                </a:solidFill>
                <a:effectLst/>
                <a:uFillTx/>
                <a:latin typeface="Calibri Light" panose="020F0302020204030204"/>
              </a:rPr>
              <a:t>Click to edit Master title style</a:t>
            </a:r>
            <a:endParaRPr lang="en-US" sz="6000" b="0" u="none" strike="noStrike">
              <a:solidFill>
                <a:schemeClr val="dk1"/>
              </a:solidFill>
              <a:effectLst/>
              <a:uFillTx/>
              <a:latin typeface="Calibri Light" panose="020F0302020204030204"/>
            </a:endParaRPr>
          </a:p>
        </p:txBody>
      </p:sp>
      <p:sp>
        <p:nvSpPr>
          <p:cNvPr id="22"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2400" b="0" u="none" strike="noStrike">
                <a:solidFill>
                  <a:schemeClr val="dk1">
                    <a:tint val="75000"/>
                  </a:schemeClr>
                </a:solidFill>
                <a:effectLst/>
                <a:uFillTx/>
                <a:latin typeface="Calibri" panose="020F0502020204030204"/>
              </a:defRPr>
            </a:lvl1pPr>
          </a:lstStyle>
          <a:p>
            <a:pPr indent="0" algn="l" defTabSz="914400">
              <a:lnSpc>
                <a:spcPct val="90000"/>
              </a:lnSpc>
              <a:spcBef>
                <a:spcPts val="1000"/>
              </a:spcBef>
              <a:buNone/>
              <a:tabLst>
                <a:tab pos="0" algn="l"/>
              </a:tabLst>
            </a:pPr>
            <a:r>
              <a:rPr lang="en-US" sz="2400" b="0" u="none" strike="noStrike">
                <a:solidFill>
                  <a:schemeClr val="dk1">
                    <a:tint val="75000"/>
                  </a:schemeClr>
                </a:solidFill>
                <a:effectLst/>
                <a:uFillTx/>
                <a:latin typeface="Calibri" panose="020F0502020204030204"/>
              </a:rPr>
              <a:t>Click to edit Master text styles</a:t>
            </a:r>
            <a:endParaRPr lang="en-US" sz="2400" b="0" u="none" strike="noStrike">
              <a:solidFill>
                <a:schemeClr val="dk1">
                  <a:tint val="75000"/>
                </a:schemeClr>
              </a:solidFill>
              <a:effectLst/>
              <a:uFillTx/>
              <a:latin typeface="Calibri" panose="020F0502020204030204"/>
            </a:endParaRPr>
          </a:p>
        </p:txBody>
      </p:sp>
      <p:sp>
        <p:nvSpPr>
          <p:cNvPr id="23"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24"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25"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27"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28"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29"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30"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31"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33"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lvl1pPr indent="0" algn="l" defTabSz="914400">
              <a:lnSpc>
                <a:spcPct val="90000"/>
              </a:lnSpc>
              <a:spcBef>
                <a:spcPts val="1000"/>
              </a:spcBef>
              <a:buNone/>
              <a:tabLst>
                <a:tab pos="0" algn="l"/>
              </a:tabLst>
              <a:defRPr lang="en-US" sz="2400" b="1"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2400" b="1" u="none" strike="noStrike">
                <a:solidFill>
                  <a:schemeClr val="dk1"/>
                </a:solidFill>
                <a:effectLst/>
                <a:uFillTx/>
                <a:latin typeface="Calibri" panose="020F0502020204030204"/>
              </a:rPr>
              <a:t>Click to edit Master text styles</a:t>
            </a:r>
            <a:endParaRPr lang="en-US" sz="2400" b="0" u="none" strike="noStrike">
              <a:solidFill>
                <a:schemeClr val="dk1"/>
              </a:solidFill>
              <a:effectLst/>
              <a:uFillTx/>
              <a:latin typeface="Calibri" panose="020F0502020204030204"/>
            </a:endParaRPr>
          </a:p>
        </p:txBody>
      </p:sp>
      <p:sp>
        <p:nvSpPr>
          <p:cNvPr id="34"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tabLst>
                <a:tab pos="0" algn="l"/>
              </a:tabLst>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tabLst>
                <a:tab pos="0" algn="l"/>
              </a:tabLst>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tabLst>
                <a:tab pos="0" algn="l"/>
              </a:tabLst>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tabLst>
                <a:tab pos="0" algn="l"/>
              </a:tabLst>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tabLst>
                <a:tab pos="0" algn="l"/>
              </a:tabLst>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tabLst>
                <a:tab pos="0" algn="l"/>
              </a:tabLst>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35"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lvl1pPr indent="0" algn="l" defTabSz="914400">
              <a:lnSpc>
                <a:spcPct val="90000"/>
              </a:lnSpc>
              <a:spcBef>
                <a:spcPts val="1000"/>
              </a:spcBef>
              <a:buNone/>
              <a:tabLst>
                <a:tab pos="0" algn="l"/>
              </a:tabLst>
              <a:defRPr lang="en-US" sz="2400" b="1"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2400" b="1" u="none" strike="noStrike">
                <a:solidFill>
                  <a:schemeClr val="dk1"/>
                </a:solidFill>
                <a:effectLst/>
                <a:uFillTx/>
                <a:latin typeface="Calibri" panose="020F0502020204030204"/>
              </a:rPr>
              <a:t>Click to edit Master text styles</a:t>
            </a:r>
            <a:endParaRPr lang="en-US" sz="2400" b="0" u="none" strike="noStrike">
              <a:solidFill>
                <a:schemeClr val="dk1"/>
              </a:solidFill>
              <a:effectLst/>
              <a:uFillTx/>
              <a:latin typeface="Calibri" panose="020F0502020204030204"/>
            </a:endParaRPr>
          </a:p>
        </p:txBody>
      </p:sp>
      <p:sp>
        <p:nvSpPr>
          <p:cNvPr id="36"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tabLst>
                <a:tab pos="0" algn="l"/>
              </a:tabLst>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tabLst>
                <a:tab pos="0" algn="l"/>
              </a:tabLst>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tabLst>
                <a:tab pos="0" algn="l"/>
              </a:tabLst>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tabLst>
                <a:tab pos="0" algn="l"/>
              </a:tabLst>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tabLst>
                <a:tab pos="0" algn="l"/>
              </a:tabLst>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tabLst>
                <a:tab pos="0" algn="l"/>
              </a:tabLst>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37"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38"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39"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rotWithShape="0">
          <a:blip r:embed="rId2"/>
          <a:stretch>
            <a:fillRect/>
          </a:stretch>
        </a:blip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41"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2"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43"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blipFill rotWithShape="0">
          <a:blip r:embed="rId2"/>
          <a:stretch>
            <a:fillRect/>
          </a:stretch>
        </a:blip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5"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46"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panose="020F0302020204030204"/>
              </a:defRPr>
            </a:lvl1pPr>
          </a:lstStyle>
          <a:p>
            <a:pPr indent="0" algn="l" defTabSz="914400">
              <a:lnSpc>
                <a:spcPct val="90000"/>
              </a:lnSpc>
              <a:buNone/>
            </a:pPr>
            <a:r>
              <a:rPr lang="en-US" sz="3200" b="0" u="none" strike="noStrike">
                <a:solidFill>
                  <a:schemeClr val="dk1"/>
                </a:solidFill>
                <a:effectLst/>
                <a:uFillTx/>
                <a:latin typeface="Calibri Light" panose="020F0302020204030204"/>
              </a:rPr>
              <a:t>Click to edit Master title style</a:t>
            </a:r>
            <a:endParaRPr lang="en-US" sz="3200" b="0" u="none" strike="noStrike">
              <a:solidFill>
                <a:schemeClr val="dk1"/>
              </a:solidFill>
              <a:effectLst/>
              <a:uFillTx/>
              <a:latin typeface="Calibri Light" panose="020F0302020204030204"/>
            </a:endParaRPr>
          </a:p>
        </p:txBody>
      </p:sp>
      <p:sp>
        <p:nvSpPr>
          <p:cNvPr id="48"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32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8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3200" b="0" u="none" strike="noStrike">
                <a:solidFill>
                  <a:schemeClr val="dk1"/>
                </a:solidFill>
                <a:effectLst/>
                <a:uFillTx/>
                <a:latin typeface="Calibri" panose="020F0502020204030204"/>
              </a:rPr>
              <a:t>Click to edit Master text styles</a:t>
            </a:r>
            <a:endParaRPr lang="en-US" sz="32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800" b="0" u="none" strike="noStrike">
                <a:solidFill>
                  <a:schemeClr val="dk1"/>
                </a:solidFill>
                <a:effectLst/>
                <a:uFillTx/>
                <a:latin typeface="Calibri" panose="020F0502020204030204"/>
              </a:rPr>
              <a:t>Second level</a:t>
            </a:r>
            <a:endParaRPr lang="en-US" sz="28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Third level</a:t>
            </a:r>
            <a:endParaRPr lang="en-US" sz="24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Fourth level</a:t>
            </a:r>
            <a:endParaRPr lang="en-US" sz="20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Fifth level</a:t>
            </a:r>
            <a:endParaRPr lang="en-US" sz="2000" b="0" u="none" strike="noStrike">
              <a:solidFill>
                <a:schemeClr val="dk1"/>
              </a:solidFill>
              <a:effectLst/>
              <a:uFillTx/>
              <a:latin typeface="Calibri" panose="020F0502020204030204"/>
            </a:endParaRPr>
          </a:p>
        </p:txBody>
      </p:sp>
      <p:sp>
        <p:nvSpPr>
          <p:cNvPr id="49"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1600" b="0"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1600" b="0" u="none" strike="noStrike">
                <a:solidFill>
                  <a:schemeClr val="dk1"/>
                </a:solidFill>
                <a:effectLst/>
                <a:uFillTx/>
                <a:latin typeface="Calibri" panose="020F0502020204030204"/>
              </a:rPr>
              <a:t>Click to edit Master text styles</a:t>
            </a:r>
            <a:endParaRPr lang="en-US" sz="1600" b="0" u="none" strike="noStrike">
              <a:solidFill>
                <a:schemeClr val="dk1"/>
              </a:solidFill>
              <a:effectLst/>
              <a:uFillTx/>
              <a:latin typeface="Calibri" panose="020F0502020204030204"/>
            </a:endParaRPr>
          </a:p>
        </p:txBody>
      </p:sp>
      <p:sp>
        <p:nvSpPr>
          <p:cNvPr id="50"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51"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2"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panose="020F0302020204030204"/>
              </a:defRPr>
            </a:lvl1pPr>
          </a:lstStyle>
          <a:p>
            <a:pPr indent="0" algn="l" defTabSz="914400">
              <a:lnSpc>
                <a:spcPct val="90000"/>
              </a:lnSpc>
              <a:buNone/>
            </a:pPr>
            <a:r>
              <a:rPr lang="en-US" sz="3200" b="0" u="none" strike="noStrike">
                <a:solidFill>
                  <a:schemeClr val="dk1"/>
                </a:solidFill>
                <a:effectLst/>
                <a:uFillTx/>
                <a:latin typeface="Calibri Light" panose="020F0302020204030204"/>
              </a:rPr>
              <a:t>Click to edit Master title style</a:t>
            </a:r>
            <a:endParaRPr lang="en-US" sz="3200" b="0" u="none" strike="noStrike">
              <a:solidFill>
                <a:schemeClr val="dk1"/>
              </a:solidFill>
              <a:effectLst/>
              <a:uFillTx/>
              <a:latin typeface="Calibri Light" panose="020F0302020204030204"/>
            </a:endParaRPr>
          </a:p>
        </p:txBody>
      </p:sp>
      <p:sp>
        <p:nvSpPr>
          <p:cNvPr id="54" name="PlaceHolder 2"/>
          <p:cNvSpPr>
            <a:spLocks noGrp="1"/>
          </p:cNvSpPr>
          <p:nvPr>
            <p:ph type="body" hasCustomPrompt="1"/>
          </p:nvPr>
        </p:nvSpPr>
        <p:spPr>
          <a:xfrm>
            <a:off x="5183280" y="987480"/>
            <a:ext cx="6171840" cy="4873320"/>
          </a:xfrm>
          <a:prstGeom prst="rect">
            <a:avLst/>
          </a:prstGeom>
          <a:noFill/>
          <a:ln w="0">
            <a:noFill/>
          </a:ln>
        </p:spPr>
        <p:txBody>
          <a:bodyPr lIns="90000" tIns="45000" rIns="90000" bIns="45000" anchor="t">
            <a:noAutofit/>
          </a:bodyPr>
          <a:lstStyle>
            <a:lvl1pPr indent="0" algn="l" defTabSz="457200">
              <a:lnSpc>
                <a:spcPct val="100000"/>
              </a:lnSpc>
              <a:buNone/>
              <a:tabLst>
                <a:tab pos="0" algn="l"/>
              </a:tabLst>
              <a:defRPr lang="en-US" sz="3200" b="0" u="none" strike="noStrike">
                <a:solidFill>
                  <a:schemeClr val="dk1"/>
                </a:solidFill>
                <a:effectLst/>
                <a:uFillTx/>
                <a:latin typeface="Calibri" panose="020F0502020204030204"/>
              </a:defRPr>
            </a:lvl1pPr>
          </a:lstStyle>
          <a:p>
            <a:pPr indent="0" algn="l" defTabSz="457200">
              <a:lnSpc>
                <a:spcPct val="100000"/>
              </a:lnSpc>
              <a:buNone/>
              <a:tabLst>
                <a:tab pos="0" algn="l"/>
              </a:tabLst>
            </a:pPr>
            <a:r>
              <a:rPr lang="en-US" sz="3200" b="0" u="none" strike="noStrike">
                <a:solidFill>
                  <a:schemeClr val="dk1"/>
                </a:solidFill>
                <a:effectLst/>
                <a:uFillTx/>
                <a:latin typeface="Calibri" panose="020F0502020204030204"/>
              </a:rPr>
              <a:t>Click icon to add picture</a:t>
            </a:r>
            <a:endParaRPr lang="en-US" sz="3200" b="0" u="none" strike="noStrike">
              <a:solidFill>
                <a:schemeClr val="dk1"/>
              </a:solidFill>
              <a:effectLst/>
              <a:uFillTx/>
              <a:latin typeface="Calibri" panose="020F0502020204030204"/>
            </a:endParaRPr>
          </a:p>
        </p:txBody>
      </p:sp>
      <p:sp>
        <p:nvSpPr>
          <p:cNvPr id="55"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1600" b="0"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1600" b="0" u="none" strike="noStrike">
                <a:solidFill>
                  <a:schemeClr val="dk1"/>
                </a:solidFill>
                <a:effectLst/>
                <a:uFillTx/>
                <a:latin typeface="Calibri" panose="020F0502020204030204"/>
              </a:rPr>
              <a:t>Click to edit Master text styles</a:t>
            </a:r>
            <a:endParaRPr lang="en-US" sz="1600" b="0" u="none" strike="noStrike">
              <a:solidFill>
                <a:schemeClr val="dk1"/>
              </a:solidFill>
              <a:effectLst/>
              <a:uFillTx/>
              <a:latin typeface="Calibri" panose="020F0502020204030204"/>
            </a:endParaRPr>
          </a:p>
        </p:txBody>
      </p:sp>
      <p:sp>
        <p:nvSpPr>
          <p:cNvPr id="56"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57"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8"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a:xfrm>
            <a:off x="838200" y="6356350"/>
            <a:ext cx="2743200" cy="365125"/>
          </a:xfrm>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p:spPr>
        <p:txBody>
          <a:bodyPr/>
          <a:lstStyle/>
          <a:p>
            <a:endParaRPr lang="en-US"/>
          </a:p>
        </p:txBody>
      </p:sp>
      <p:sp>
        <p:nvSpPr>
          <p:cNvPr id="6" name="Slide Number Placeholder 5"/>
          <p:cNvSpPr>
            <a:spLocks noGrp="1"/>
          </p:cNvSpPr>
          <p:nvPr>
            <p:ph type="sldNum" sz="quarter" idx="12"/>
          </p:nvPr>
        </p:nvSpPr>
        <p:spPr>
          <a:xfrm>
            <a:off x="8610600" y="6356350"/>
            <a:ext cx="2743200" cy="365125"/>
          </a:xfrm>
        </p:spPr>
        <p:txBody>
          <a:bodyPr/>
          <a:lstStyle/>
          <a:p>
            <a:fld id="{B3561BA9-CDCF-4958-B8AB-66F3BF063E1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1981080" y="228600"/>
            <a:ext cx="8457840" cy="1143000"/>
          </a:xfrm>
          <a:prstGeom prst="rect">
            <a:avLst/>
          </a:prstGeom>
          <a:noFill/>
          <a:ln w="0">
            <a:noFill/>
          </a:ln>
        </p:spPr>
        <p:txBody>
          <a:bodyPr lIns="91440" tIns="45720" rIns="91440" bIns="45720" anchor="ctr">
            <a:normAutofit fontScale="47500" lnSpcReduction="19999"/>
          </a:bodyPr>
          <a:p>
            <a:pPr indent="0" algn="l" defTabSz="914400">
              <a:lnSpc>
                <a:spcPct val="90000"/>
              </a:lnSpc>
              <a:buNone/>
            </a:pPr>
            <a:br>
              <a:rPr sz="4400"/>
            </a:br>
            <a:br>
              <a:rPr sz="4400"/>
            </a:br>
            <a:br>
              <a:rPr sz="4400"/>
            </a:br>
            <a:endParaRPr lang="en-US" sz="4400" b="0" u="none" strike="noStrike">
              <a:solidFill>
                <a:schemeClr val="dk1"/>
              </a:solidFill>
              <a:effectLst/>
              <a:uFillTx/>
              <a:latin typeface="Calibri Light" panose="020F0302020204030204"/>
            </a:endParaRPr>
          </a:p>
        </p:txBody>
      </p:sp>
      <p:sp>
        <p:nvSpPr>
          <p:cNvPr id="60" name="Rectangle 5"/>
          <p:cNvSpPr/>
          <p:nvPr/>
        </p:nvSpPr>
        <p:spPr>
          <a:xfrm>
            <a:off x="2743200" y="152280"/>
            <a:ext cx="8458200" cy="70020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gn="just" defTabSz="457200">
              <a:lnSpc>
                <a:spcPct val="100000"/>
              </a:lnSpc>
            </a:pPr>
            <a:r>
              <a:rPr lang="en-IN" sz="2000" b="1" u="none" strike="noStrike">
                <a:solidFill>
                  <a:schemeClr val="dk1">
                    <a:lumMod val="95000"/>
                    <a:lumOff val="5000"/>
                  </a:schemeClr>
                </a:solidFill>
                <a:effectLst/>
                <a:uFillTx/>
                <a:latin typeface="Calibri" panose="020F0502020204030204"/>
              </a:rPr>
              <a:t>Dr.Mahalingam College of Engineering &amp; Technology</a:t>
            </a:r>
            <a:endParaRPr lang="en-US" sz="2000" b="0" u="none" strike="noStrike">
              <a:solidFill>
                <a:srgbClr val="000000"/>
              </a:solidFill>
              <a:effectLst/>
              <a:uFillTx/>
              <a:latin typeface="Arial" panose="020B0604020202020204"/>
            </a:endParaRPr>
          </a:p>
          <a:p>
            <a:pPr algn="just" defTabSz="457200">
              <a:lnSpc>
                <a:spcPct val="100000"/>
              </a:lnSpc>
            </a:pPr>
            <a:r>
              <a:rPr lang="en-IN" sz="2000" b="1" u="none" strike="noStrike">
                <a:solidFill>
                  <a:schemeClr val="dk1">
                    <a:lumMod val="95000"/>
                    <a:lumOff val="5000"/>
                  </a:schemeClr>
                </a:solidFill>
                <a:effectLst/>
                <a:uFillTx/>
                <a:latin typeface="Calibri" panose="020F0502020204030204"/>
              </a:rPr>
              <a:t>Department of Artificial Intelligence &amp; Data Science </a:t>
            </a:r>
            <a:endParaRPr lang="en-US" sz="2000" b="0" u="none" strike="noStrike">
              <a:solidFill>
                <a:srgbClr val="000000"/>
              </a:solidFill>
              <a:effectLst/>
              <a:uFillTx/>
              <a:latin typeface="Arial" panose="020B0604020202020204"/>
            </a:endParaRPr>
          </a:p>
        </p:txBody>
      </p:sp>
      <p:pic>
        <p:nvPicPr>
          <p:cNvPr id="61" name="Picture 7" descr="C:\Users\STAFFS\Desktop\MCET LOGO NEW_1 (1).jpg"/>
          <p:cNvPicPr/>
          <p:nvPr/>
        </p:nvPicPr>
        <p:blipFill>
          <a:blip r:embed="rId1"/>
          <a:stretch>
            <a:fillRect/>
          </a:stretch>
        </p:blipFill>
        <p:spPr>
          <a:xfrm>
            <a:off x="396360" y="152640"/>
            <a:ext cx="1584720" cy="761760"/>
          </a:xfrm>
          <a:prstGeom prst="rect">
            <a:avLst/>
          </a:prstGeom>
          <a:noFill/>
          <a:ln w="0">
            <a:noFill/>
          </a:ln>
        </p:spPr>
      </p:pic>
      <p:sp>
        <p:nvSpPr>
          <p:cNvPr id="62" name="Google Shape;452;p13"/>
          <p:cNvSpPr/>
          <p:nvPr/>
        </p:nvSpPr>
        <p:spPr>
          <a:xfrm>
            <a:off x="685800" y="1219320"/>
            <a:ext cx="10744200" cy="4870800"/>
          </a:xfrm>
          <a:prstGeom prst="rect">
            <a:avLst/>
          </a:prstGeom>
          <a:noFill/>
          <a:ln w="0">
            <a:noFill/>
          </a:ln>
        </p:spPr>
        <p:style>
          <a:lnRef idx="0">
            <a:srgbClr val="FFFFFF"/>
          </a:lnRef>
          <a:fillRef idx="0">
            <a:srgbClr val="FFFFFF"/>
          </a:fillRef>
          <a:effectRef idx="0">
            <a:srgbClr val="FFFFFF"/>
          </a:effectRef>
          <a:fontRef idx="minor"/>
        </p:style>
        <p:txBody>
          <a:bodyPr anchor="t">
            <a:noAutofit/>
          </a:bodyPr>
          <a:p>
            <a:pPr marL="274320" indent="-274320" algn="just" defTabSz="914400">
              <a:lnSpc>
                <a:spcPct val="150000"/>
              </a:lnSpc>
              <a:tabLst>
                <a:tab pos="0" algn="l"/>
              </a:tabLst>
            </a:pPr>
            <a:r>
              <a:rPr lang="en-IN" sz="2400" b="0" u="none" strike="noStrike">
                <a:solidFill>
                  <a:srgbClr val="FF0000"/>
                </a:solidFill>
                <a:effectLst/>
                <a:uFillTx/>
                <a:latin typeface="Calibri" panose="020F0502020204030204"/>
                <a:ea typeface="Times New Roman" panose="02020603050405020304"/>
              </a:rPr>
              <a:t>Team Number         : </a:t>
            </a:r>
            <a:r>
              <a:rPr lang="en-US" sz="2000" b="1" u="none" strike="noStrike">
                <a:solidFill>
                  <a:schemeClr val="dk1"/>
                </a:solidFill>
                <a:effectLst/>
                <a:uFillTx/>
                <a:latin typeface="Calibri" panose="020F0502020204030204"/>
                <a:ea typeface="Times New Roman" panose="02020603050405020304"/>
              </a:rPr>
              <a:t>A17</a:t>
            </a:r>
            <a:endParaRPr lang="en-US" sz="20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Domain                  </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 :</a:t>
            </a:r>
            <a:r>
              <a:rPr lang="en-US" sz="2400" b="0"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Machine Learning Operations (MLOps)</a:t>
            </a:r>
            <a:endParaRPr lang="en-US" sz="20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Sub-Domain          </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a:t>
            </a:r>
            <a:r>
              <a:rPr lang="en-US" sz="2400" b="0" u="none" strike="noStrike">
                <a:solidFill>
                  <a:srgbClr val="FF0000"/>
                </a:solidFill>
                <a:effectLst/>
                <a:uFillTx/>
                <a:latin typeface="Calibri" panose="020F0502020204030204"/>
                <a:ea typeface="Times New Roman" panose="02020603050405020304"/>
              </a:rPr>
              <a:t> </a:t>
            </a:r>
            <a:r>
              <a:rPr lang="en-US" sz="1800" b="1" u="none" strike="noStrike">
                <a:solidFill>
                  <a:schemeClr val="dk1"/>
                </a:solidFill>
                <a:effectLst/>
                <a:uFillTx/>
                <a:latin typeface="Calibri" panose="020F0502020204030204"/>
                <a:ea typeface="Times New Roman" panose="02020603050405020304"/>
              </a:rPr>
              <a:t>Explainable &amp; Deployable AI for Mental Health Risk Prediction</a:t>
            </a:r>
            <a:endParaRPr lang="en-US" sz="18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Title</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a:t>
            </a:r>
            <a:r>
              <a:rPr lang="en-US" sz="2400" b="0" u="none" strike="noStrike">
                <a:solidFill>
                  <a:srgbClr val="FF0000"/>
                </a:solidFill>
                <a:effectLst/>
                <a:uFillTx/>
                <a:latin typeface="Calibri" panose="020F0502020204030204"/>
                <a:ea typeface="Times New Roman" panose="02020603050405020304"/>
              </a:rPr>
              <a:t> </a:t>
            </a:r>
            <a:r>
              <a:rPr lang="en-US" sz="1400" b="1" u="none" strike="noStrike">
                <a:solidFill>
                  <a:srgbClr val="0C0C0C"/>
                </a:solidFill>
                <a:effectLst/>
                <a:uFillTx/>
                <a:latin typeface="Calibri" panose="020F0502020204030204"/>
                <a:ea typeface="Times New Roman" panose="02020603050405020304"/>
              </a:rPr>
              <a:t> </a:t>
            </a:r>
            <a:r>
              <a:rPr lang="en-US" sz="1800" b="1" u="none" strike="noStrike">
                <a:solidFill>
                  <a:srgbClr val="0C0C0C"/>
                </a:solidFill>
                <a:effectLst/>
                <a:uFillTx/>
                <a:latin typeface="Calibri" panose="020F0502020204030204"/>
                <a:ea typeface="Times New Roman" panose="02020603050405020304"/>
              </a:rPr>
              <a:t>Suicide Risk Prediction Models with Clinical Explainability</a:t>
            </a:r>
            <a:endParaRPr lang="en-US" sz="18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400" b="0" u="none" strike="noStrike">
                <a:solidFill>
                  <a:srgbClr val="FF0000"/>
                </a:solidFill>
                <a:effectLst/>
                <a:uFillTx/>
                <a:latin typeface="Calibri" panose="020F0502020204030204"/>
                <a:ea typeface="Times New Roman" panose="02020603050405020304"/>
              </a:rPr>
              <a:t>Faculty Supervisor</a:t>
            </a:r>
            <a:r>
              <a:rPr lang="en-IN" sz="2400" b="0" u="none" strike="noStrike">
                <a:solidFill>
                  <a:srgbClr val="FF0000"/>
                </a:solidFill>
                <a:effectLst/>
                <a:uFillTx/>
                <a:latin typeface="Calibri" panose="020F0502020204030204"/>
                <a:ea typeface="Times New Roman" panose="02020603050405020304"/>
              </a:rPr>
              <a:t> :</a:t>
            </a:r>
            <a:r>
              <a:rPr lang="en-IN" sz="2000" b="0"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Ms.M. RAJALAKSHMI, AP/SS, AI&amp;DS</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Team Members</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a:t>
            </a:r>
            <a:r>
              <a:rPr lang="en-US" sz="2400" b="1"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Maha mathesh raja B (727624BAD031)</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000" b="1" u="none" strike="noStrike">
                <a:solidFill>
                  <a:schemeClr val="dk1"/>
                </a:solidFill>
                <a:effectLst/>
                <a:uFillTx/>
                <a:latin typeface="Calibri" panose="020F0502020204030204"/>
                <a:ea typeface="Times New Roman" panose="02020603050405020304"/>
              </a:rPr>
              <a:t>                                           irfan basha R (727624BAD009)</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000" b="1" u="none" strike="noStrike">
                <a:solidFill>
                  <a:schemeClr val="dk1"/>
                </a:solidFill>
                <a:effectLst/>
                <a:uFillTx/>
                <a:latin typeface="Calibri" panose="020F0502020204030204"/>
                <a:ea typeface="Times New Roman" panose="02020603050405020304"/>
              </a:rPr>
              <a:t>                                           Sridhar M (727624BAD091)</a:t>
            </a:r>
            <a:endParaRPr lang="en-US" sz="200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endParaRPr lang="en-US" sz="166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r>
              <a:rPr lang="en-IN" sz="1660" b="0" u="none" strike="noStrike">
                <a:solidFill>
                  <a:srgbClr val="0C0C0C"/>
                </a:solidFill>
                <a:effectLst/>
                <a:uFillTx/>
                <a:latin typeface="Calibri" panose="020F0502020204030204"/>
                <a:ea typeface="Times New Roman" panose="02020603050405020304"/>
              </a:rPr>
              <a:t>	</a:t>
            </a:r>
            <a:r>
              <a:rPr lang="en-IN" sz="1660" b="0" u="none" strike="noStrike">
                <a:solidFill>
                  <a:srgbClr val="0C0C0C"/>
                </a:solidFill>
                <a:effectLst/>
                <a:uFillTx/>
                <a:latin typeface="Calibri" panose="020F0502020204030204"/>
                <a:ea typeface="Times New Roman" panose="02020603050405020304"/>
              </a:rPr>
              <a:t>	</a:t>
            </a:r>
            <a:endParaRPr lang="en-US" sz="166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endParaRPr lang="en-US" sz="1660" b="0" u="none" strike="noStrike">
              <a:solidFill>
                <a:srgbClr val="000000"/>
              </a:solidFill>
              <a:effectLst/>
              <a:uFillTx/>
              <a:latin typeface="Arial" panose="020B0604020202020204"/>
            </a:endParaRPr>
          </a:p>
          <a:p>
            <a:pPr marL="274320" indent="-144780" defTabSz="914400">
              <a:lnSpc>
                <a:spcPct val="80000"/>
              </a:lnSpc>
              <a:spcBef>
                <a:spcPts val="580"/>
              </a:spcBef>
              <a:tabLst>
                <a:tab pos="0" algn="l"/>
              </a:tabLst>
            </a:pPr>
            <a:endParaRPr lang="en-US" sz="2400" b="0" u="none" strike="noStrike">
              <a:solidFill>
                <a:srgbClr val="000000"/>
              </a:solidFill>
              <a:effectLst/>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76320" y="228600"/>
            <a:ext cx="1193400" cy="88560"/>
          </a:xfrm>
          <a:prstGeom prst="rect">
            <a:avLst/>
          </a:prstGeom>
          <a:noFill/>
          <a:ln w="0">
            <a:noFill/>
          </a:ln>
        </p:spPr>
        <p:txBody>
          <a:bodyPr lIns="91440" tIns="44280" rIns="91440" bIns="44280" anchor="ctr">
            <a:normAutofit fontScale="25000" lnSpcReduction="19999"/>
          </a:bodyPr>
          <a:p>
            <a:pPr indent="0" algn="l" defTabSz="914400">
              <a:lnSpc>
                <a:spcPct val="90000"/>
              </a:lnSpc>
              <a:buNone/>
            </a:pPr>
            <a:r>
              <a:rPr lang="en-US" sz="2000" b="1" i="1" u="none" strike="noStrike">
                <a:solidFill>
                  <a:schemeClr val="dk1"/>
                </a:solidFill>
                <a:effectLst/>
                <a:uFillTx/>
                <a:latin typeface="Calibri" panose="020F0502020204030204"/>
              </a:rPr>
              <a:t>.</a:t>
            </a:r>
            <a:endParaRPr lang="en-US" sz="2000" b="0" u="none" strike="noStrike">
              <a:solidFill>
                <a:schemeClr val="dk1"/>
              </a:solidFill>
              <a:effectLst/>
              <a:uFillTx/>
              <a:latin typeface="Calibri Light" panose="020F0302020204030204"/>
            </a:endParaRPr>
          </a:p>
        </p:txBody>
      </p:sp>
      <p:sp>
        <p:nvSpPr>
          <p:cNvPr id="64" name="PlaceHolder 2"/>
          <p:cNvSpPr>
            <a:spLocks noGrp="1"/>
          </p:cNvSpPr>
          <p:nvPr>
            <p:ph/>
          </p:nvPr>
        </p:nvSpPr>
        <p:spPr>
          <a:xfrm>
            <a:off x="152280" y="457200"/>
            <a:ext cx="11693160" cy="5293800"/>
          </a:xfrm>
          <a:prstGeom prst="rect">
            <a:avLst/>
          </a:prstGeom>
          <a:noFill/>
          <a:ln w="0">
            <a:noFill/>
          </a:ln>
        </p:spPr>
        <p:txBody>
          <a:bodyPr lIns="91440" tIns="45720" rIns="91440" bIns="45720" anchor="t">
            <a:normAutofit lnSpcReduction="10000"/>
          </a:bodyPr>
          <a:p>
            <a:pPr indent="0" algn="l" defTabSz="914400">
              <a:lnSpc>
                <a:spcPct val="90000"/>
              </a:lnSpc>
              <a:buNone/>
            </a:pPr>
            <a:r>
              <a:rPr lang="en-US" sz="3600" b="1" u="none" strike="noStrike">
                <a:solidFill>
                  <a:srgbClr val="FF0000"/>
                </a:solidFill>
                <a:effectLst/>
                <a:uFillTx/>
                <a:latin typeface="Times New Roman" panose="02020603050405020304"/>
                <a:ea typeface="Canva Sans Bold"/>
              </a:rPr>
              <a:t>ABSTRACT:</a:t>
            </a:r>
            <a:endParaRPr lang="en-US" sz="3600" b="0" u="none" strike="noStrike">
              <a:solidFill>
                <a:schemeClr val="dk1"/>
              </a:solidFill>
              <a:effectLst/>
              <a:uFillTx/>
              <a:latin typeface="Calibri" panose="020F0502020204030204"/>
            </a:endParaRPr>
          </a:p>
          <a:p>
            <a:pPr indent="0" algn="just" defTabSz="914400">
              <a:lnSpc>
                <a:spcPct val="90000"/>
              </a:lnSpc>
              <a:spcBef>
                <a:spcPts val="1000"/>
              </a:spcBef>
              <a:buNone/>
              <a:tabLst>
                <a:tab pos="0" algn="l"/>
              </a:tabLst>
            </a:pPr>
            <a:r>
              <a:rPr lang="en-US" sz="3600" b="1" u="none" strike="noStrike">
                <a:solidFill>
                  <a:schemeClr val="dk1"/>
                </a:solidFill>
                <a:effectLst/>
                <a:uFillTx/>
                <a:latin typeface="Calibri" panose="020F0502020204030204"/>
              </a:rPr>
              <a:t>  </a:t>
            </a:r>
            <a:r>
              <a:rPr sz="2400" b="1">
                <a:sym typeface="+mn-ea"/>
              </a:rPr>
              <a:t> </a:t>
            </a:r>
            <a:r>
              <a:rPr sz="2400">
                <a:sym typeface="+mn-ea"/>
              </a:rPr>
              <a:t>Over 700,000 people die by suicide every year. Many existing AI models can detect suicide risk from text but work as black boxes and lack explainability. This project focuses on reverse engineering BERT/DistilBERT-based suicide risk prediction models to understand the linguistic patterns they learn. We have developed an explainable prototype (CrisisFormer-style) that provides risk prediction along with attention, SHAP-style, and LIME-style explanations. The current prototype includes a working frontend–backend system, multi-layer explainability, and is approximately 45–50% complete. Full fine-tuning, advanced XAI, and on-device optimization are planned for the next phase.</a:t>
            </a:r>
            <a:endParaRPr lang="en-US" sz="2400" b="0" u="none" strike="noStrike">
              <a:solidFill>
                <a:schemeClr val="dk1"/>
              </a:solidFill>
              <a:effectLst/>
              <a:uFillTx/>
              <a:latin typeface="Calibri" panose="020F0502020204030204"/>
            </a:endParaRPr>
          </a:p>
        </p:txBody>
      </p:sp>
      <p:sp>
        <p:nvSpPr>
          <p:cNvPr id="65" name="PlaceHolder 3"/>
          <p:cNvSpPr>
            <a:spLocks noGrp="1"/>
          </p:cNvSpPr>
          <p:nvPr>
            <p:ph type="dt" idx="34"/>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838080" y="365040"/>
            <a:ext cx="10515240" cy="549360"/>
          </a:xfrm>
          <a:prstGeom prst="rect">
            <a:avLst/>
          </a:prstGeom>
          <a:noFill/>
          <a:ln w="0">
            <a:noFill/>
          </a:ln>
        </p:spPr>
        <p:txBody>
          <a:bodyPr lIns="91440" tIns="45720" rIns="91440" bIns="45720" anchor="ctr">
            <a:normAutofit fontScale="90000"/>
          </a:bodyPr>
          <a:p>
            <a:pPr indent="0" algn="l" defTabSz="914400">
              <a:lnSpc>
                <a:spcPct val="90000"/>
              </a:lnSpc>
              <a:buNone/>
            </a:pPr>
            <a:r>
              <a:rPr lang="en-US" sz="3600" b="1" u="none" strike="noStrike">
                <a:solidFill>
                  <a:srgbClr val="FF0000"/>
                </a:solidFill>
                <a:effectLst/>
                <a:uFillTx/>
                <a:latin typeface="Times New Roman" panose="02020603050405020304"/>
                <a:ea typeface="Canva Sans Bold"/>
              </a:rPr>
              <a:t>EXISTING PROBLEM :</a:t>
            </a:r>
            <a:endParaRPr lang="en-US" sz="3600" b="1" u="none" strike="noStrike">
              <a:solidFill>
                <a:schemeClr val="dk1"/>
              </a:solidFill>
              <a:effectLst/>
              <a:uFillTx/>
              <a:latin typeface="Calibri Light" panose="020F0302020204030204"/>
            </a:endParaRPr>
          </a:p>
        </p:txBody>
      </p:sp>
      <p:sp>
        <p:nvSpPr>
          <p:cNvPr id="67" name="PlaceHolder 2"/>
          <p:cNvSpPr>
            <a:spLocks noGrp="1"/>
          </p:cNvSpPr>
          <p:nvPr>
            <p:ph/>
          </p:nvPr>
        </p:nvSpPr>
        <p:spPr>
          <a:xfrm>
            <a:off x="838080" y="1143000"/>
            <a:ext cx="10515240" cy="5029200"/>
          </a:xfrm>
          <a:prstGeom prst="rect">
            <a:avLst/>
          </a:prstGeom>
          <a:noFill/>
          <a:ln w="0">
            <a:noFill/>
          </a:ln>
        </p:spPr>
        <p:txBody>
          <a:bodyPr lIns="91440" tIns="45720" rIns="91440" bIns="45720" anchor="t">
            <a:noAutofit/>
          </a:bodyPr>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Existing suicide risk prediction systems primarily use BERT, MentalBERT, and deep learning models for detecting suicidal ideation.</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Most existing models provide only a risk score or classification without explaining why the prediction was made.</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Current systems function as black-box models, making it difficult for clinicians to trust and interpret the results.</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Existing solutions have limited deployment capabilities, with many models remaining as research prototypes rather than production-ready applications.</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Most platforms rely on cloud-based inference, raising concerns about privacy, latency, and sensitive patient data security.</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Current models have limited support for cross-platform deployment and are not optimized for efficient on-device inference</a:t>
            </a:r>
            <a:endParaRPr lang="en-US" sz="22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838080" y="228600"/>
            <a:ext cx="9188640" cy="26892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PROPOSED SOLUTION : </a:t>
            </a:r>
            <a:endParaRPr lang="en-US" sz="3200" b="0" u="none" strike="noStrike">
              <a:solidFill>
                <a:schemeClr val="dk1"/>
              </a:solidFill>
              <a:effectLst/>
              <a:uFillTx/>
              <a:latin typeface="Calibri Light" panose="020F0302020204030204"/>
            </a:endParaRPr>
          </a:p>
        </p:txBody>
      </p:sp>
      <p:sp>
        <p:nvSpPr>
          <p:cNvPr id="72" name="PlaceHolder 2"/>
          <p:cNvSpPr>
            <a:spLocks noGrp="1"/>
          </p:cNvSpPr>
          <p:nvPr>
            <p:ph/>
          </p:nvPr>
        </p:nvSpPr>
        <p:spPr>
          <a:xfrm>
            <a:off x="685800" y="685800"/>
            <a:ext cx="10983240" cy="5486400"/>
          </a:xfrm>
          <a:prstGeom prst="rect">
            <a:avLst/>
          </a:prstGeom>
          <a:noFill/>
          <a:ln w="0">
            <a:noFill/>
          </a:ln>
        </p:spPr>
        <p:txBody>
          <a:bodyPr lIns="91440" tIns="45720" rIns="91440" bIns="45720" anchor="t">
            <a:noAutofit/>
          </a:bodyPr>
          <a:p>
            <a:pPr indent="0" algn="just" defTabSz="914400">
              <a:lnSpc>
                <a:spcPct val="90000"/>
              </a:lnSpc>
              <a:spcBef>
                <a:spcPts val="1000"/>
              </a:spcBef>
              <a:buNone/>
            </a:pP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Develop a Suicide Risk Prediction System using fine-tuned BERT/MentalBERT models to accurately identify suicidal ideation from text.</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Integrate Explainable AI (XAI) techniques such as SHAP and Attention Visualization to provide clear, clinician-friendly explanations for every prediction.</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Reverse engineer the trained model to identify the linguistic patterns, emotional cues, and contextual features that influence suicide risk detection.</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Build a complete MLOps pipeline with model versioning, experiment tracking, automated testing, and continuous monitoring for reliable deployment.</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Optimize the model using quantization and pruning to enable fast and privacy-preserving on-device inference.</a:t>
            </a:r>
            <a:endParaRPr lang="en-US" sz="2400" b="0" u="none" strike="noStrike">
              <a:solidFill>
                <a:schemeClr val="dk1"/>
              </a:solidFill>
              <a:effectLst/>
              <a:uFillTx/>
              <a:latin typeface="Calibri" panose="020F0502020204030204"/>
            </a:endParaRPr>
          </a:p>
          <a:p>
            <a:pPr indent="0" algn="just" defTabSz="914400">
              <a:lnSpc>
                <a:spcPct val="90000"/>
              </a:lnSpc>
              <a:spcBef>
                <a:spcPts val="1000"/>
              </a:spcBef>
              <a:buNone/>
              <a:tabLst>
                <a:tab pos="0" algn="l"/>
              </a:tabLst>
            </a:pPr>
            <a:endParaRPr lang="en-US" sz="2400" b="0" u="none" strike="noStrike">
              <a:solidFill>
                <a:schemeClr val="dk1"/>
              </a:solidFill>
              <a:effectLst/>
              <a:uFillTx/>
              <a:latin typeface="Calibri" panose="020F0502020204030204"/>
            </a:endParaRPr>
          </a:p>
        </p:txBody>
      </p:sp>
      <p:sp>
        <p:nvSpPr>
          <p:cNvPr id="73" name="PlaceHolder 3"/>
          <p:cNvSpPr>
            <a:spLocks noGrp="1"/>
          </p:cNvSpPr>
          <p:nvPr>
            <p:ph type="dt" idx="36"/>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767595" y="189145"/>
            <a:ext cx="10515240" cy="77688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Block Diagram</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sp>
        <p:nvSpPr>
          <p:cNvPr id="75" name="Rounded Rectangle 74"/>
          <p:cNvSpPr/>
          <p:nvPr/>
        </p:nvSpPr>
        <p:spPr>
          <a:xfrm>
            <a:off x="822960" y="960120"/>
            <a:ext cx="10515600" cy="56692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1. Data Layer</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Reddit posts + CLPsych/UMD annotations  |  De-identification, tokenization (WordPiece)  |  User-level train/val/test split</a:t>
            </a:r>
            <a:endParaRPr sz="1000">
              <a:solidFill>
                <a:srgbClr val="222222"/>
              </a:solidFill>
              <a:latin typeface="Calibri" panose="020F0502020204030204"/>
            </a:endParaRPr>
          </a:p>
        </p:txBody>
      </p:sp>
      <p:sp>
        <p:nvSpPr>
          <p:cNvPr id="76" name="Down Arrow 75"/>
          <p:cNvSpPr/>
          <p:nvPr/>
        </p:nvSpPr>
        <p:spPr>
          <a:xfrm>
            <a:off x="5961888" y="1527048"/>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822960" y="1655064"/>
            <a:ext cx="10515600" cy="457200"/>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2. Core Model</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BERT-base-uncased / MentalBERT, fine-tuned on clinician-annotated risk labels</a:t>
            </a:r>
            <a:endParaRPr sz="1000">
              <a:solidFill>
                <a:srgbClr val="222222"/>
              </a:solidFill>
              <a:latin typeface="Calibri" panose="020F0502020204030204"/>
            </a:endParaRPr>
          </a:p>
        </p:txBody>
      </p:sp>
      <p:sp>
        <p:nvSpPr>
          <p:cNvPr id="78" name="Down Arrow 77"/>
          <p:cNvSpPr/>
          <p:nvPr/>
        </p:nvSpPr>
        <p:spPr>
          <a:xfrm>
            <a:off x="5961888" y="2112264"/>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822960" y="2240280"/>
            <a:ext cx="10515600" cy="56692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3. Reverse-Engineering Module</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SHAP (KernelSHAP)  |  BertViz attention maps  |  Hidden-layer probing  |  TCAV concept alignment</a:t>
            </a:r>
            <a:endParaRPr sz="1000">
              <a:solidFill>
                <a:srgbClr val="222222"/>
              </a:solidFill>
              <a:latin typeface="Calibri" panose="020F0502020204030204"/>
            </a:endParaRPr>
          </a:p>
        </p:txBody>
      </p:sp>
      <p:sp>
        <p:nvSpPr>
          <p:cNvPr id="80" name="Down Arrow 79"/>
          <p:cNvSpPr/>
          <p:nvPr/>
        </p:nvSpPr>
        <p:spPr>
          <a:xfrm>
            <a:off x="5961888" y="2807208"/>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ounded Rectangle 80"/>
          <p:cNvSpPr/>
          <p:nvPr/>
        </p:nvSpPr>
        <p:spPr>
          <a:xfrm>
            <a:off x="822960" y="2935224"/>
            <a:ext cx="10515600" cy="457200"/>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4. Explainability Layer</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Maps model internals to clinical concepts: hopelessness, urgency, isolation</a:t>
            </a:r>
            <a:endParaRPr sz="1000">
              <a:solidFill>
                <a:srgbClr val="222222"/>
              </a:solidFill>
              <a:latin typeface="Calibri" panose="020F0502020204030204"/>
            </a:endParaRPr>
          </a:p>
        </p:txBody>
      </p:sp>
      <p:sp>
        <p:nvSpPr>
          <p:cNvPr id="82" name="Down Arrow 81"/>
          <p:cNvSpPr/>
          <p:nvPr/>
        </p:nvSpPr>
        <p:spPr>
          <a:xfrm>
            <a:off x="5961888" y="3392424"/>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ounded Rectangle 82"/>
          <p:cNvSpPr/>
          <p:nvPr/>
        </p:nvSpPr>
        <p:spPr>
          <a:xfrm>
            <a:off x="822960" y="3520440"/>
            <a:ext cx="10515600" cy="38404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5. Model Compression</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Quantization &amp; pruning for on-device inference</a:t>
            </a:r>
            <a:endParaRPr sz="1000">
              <a:solidFill>
                <a:srgbClr val="222222"/>
              </a:solidFill>
              <a:latin typeface="Calibri" panose="020F0502020204030204"/>
            </a:endParaRPr>
          </a:p>
        </p:txBody>
      </p:sp>
      <p:sp>
        <p:nvSpPr>
          <p:cNvPr id="84" name="Down Arrow 83"/>
          <p:cNvSpPr/>
          <p:nvPr/>
        </p:nvSpPr>
        <p:spPr>
          <a:xfrm>
            <a:off x="5961888" y="3904488"/>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822960" y="4032504"/>
            <a:ext cx="10515600" cy="38404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6. MLOps Backbone</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Versioning → Testing → CI/CD → Monitoring</a:t>
            </a:r>
            <a:endParaRPr sz="1000">
              <a:solidFill>
                <a:srgbClr val="222222"/>
              </a:solidFill>
              <a:latin typeface="Calibri" panose="020F0502020204030204"/>
            </a:endParaRPr>
          </a:p>
        </p:txBody>
      </p:sp>
      <p:sp>
        <p:nvSpPr>
          <p:cNvPr id="86" name="Down Arrow 85"/>
          <p:cNvSpPr/>
          <p:nvPr/>
        </p:nvSpPr>
        <p:spPr>
          <a:xfrm>
            <a:off x="5961888" y="4416552"/>
            <a:ext cx="237744" cy="128016"/>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ounded Rectangle 86"/>
          <p:cNvSpPr/>
          <p:nvPr/>
        </p:nvSpPr>
        <p:spPr>
          <a:xfrm>
            <a:off x="822960" y="4544568"/>
            <a:ext cx="10515600" cy="384048"/>
          </a:xfrm>
          <a:prstGeom prst="roundRect">
            <a:avLst>
              <a:gd name="adj" fmla="val 10000"/>
            </a:avLst>
          </a:prstGeom>
          <a:solidFill>
            <a:srgbClr val="DFF2F1"/>
          </a:solidFill>
          <a:ln w="15875">
            <a:solidFill>
              <a:srgbClr val="00695C"/>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7. Cross-Platform Packaging</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TensorFlow Lite / ONNX runtime</a:t>
            </a:r>
            <a:endParaRPr sz="1000">
              <a:solidFill>
                <a:srgbClr val="222222"/>
              </a:solidFill>
              <a:latin typeface="Calibri" panose="020F0502020204030204"/>
            </a:endParaRPr>
          </a:p>
        </p:txBody>
      </p:sp>
      <p:sp>
        <p:nvSpPr>
          <p:cNvPr id="88" name="Rounded Rectangle 87"/>
          <p:cNvSpPr/>
          <p:nvPr/>
        </p:nvSpPr>
        <p:spPr>
          <a:xfrm>
            <a:off x="822960"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Android</a:t>
            </a:r>
            <a:endParaRPr sz="1000" b="1">
              <a:solidFill>
                <a:srgbClr val="00695C"/>
              </a:solidFill>
              <a:latin typeface="Calibri" panose="020F0502020204030204"/>
            </a:endParaRPr>
          </a:p>
        </p:txBody>
      </p:sp>
      <p:sp>
        <p:nvSpPr>
          <p:cNvPr id="89" name="Rounded Rectangle 88"/>
          <p:cNvSpPr/>
          <p:nvPr/>
        </p:nvSpPr>
        <p:spPr>
          <a:xfrm>
            <a:off x="2951683"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iOS</a:t>
            </a:r>
            <a:endParaRPr sz="1000" b="1">
              <a:solidFill>
                <a:srgbClr val="00695C"/>
              </a:solidFill>
              <a:latin typeface="Calibri" panose="020F0502020204030204"/>
            </a:endParaRPr>
          </a:p>
        </p:txBody>
      </p:sp>
      <p:sp>
        <p:nvSpPr>
          <p:cNvPr id="90" name="Rounded Rectangle 89"/>
          <p:cNvSpPr/>
          <p:nvPr/>
        </p:nvSpPr>
        <p:spPr>
          <a:xfrm>
            <a:off x="5080406"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Windows</a:t>
            </a:r>
            <a:endParaRPr sz="1000" b="1">
              <a:solidFill>
                <a:srgbClr val="00695C"/>
              </a:solidFill>
              <a:latin typeface="Calibri" panose="020F0502020204030204"/>
            </a:endParaRPr>
          </a:p>
        </p:txBody>
      </p:sp>
      <p:sp>
        <p:nvSpPr>
          <p:cNvPr id="91" name="Rounded Rectangle 90"/>
          <p:cNvSpPr/>
          <p:nvPr/>
        </p:nvSpPr>
        <p:spPr>
          <a:xfrm>
            <a:off x="7209129"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macOS</a:t>
            </a:r>
            <a:endParaRPr sz="1000" b="1">
              <a:solidFill>
                <a:srgbClr val="00695C"/>
              </a:solidFill>
              <a:latin typeface="Calibri" panose="020F0502020204030204"/>
            </a:endParaRPr>
          </a:p>
        </p:txBody>
      </p:sp>
      <p:sp>
        <p:nvSpPr>
          <p:cNvPr id="92" name="Rounded Rectangle 91"/>
          <p:cNvSpPr/>
          <p:nvPr/>
        </p:nvSpPr>
        <p:spPr>
          <a:xfrm>
            <a:off x="9337852" y="5001768"/>
            <a:ext cx="2000707" cy="310896"/>
          </a:xfrm>
          <a:prstGeom prst="roundRect">
            <a:avLst/>
          </a:prstGeom>
          <a:solidFill>
            <a:srgbClr val="FFFFFF"/>
          </a:solidFill>
          <a:ln w="12700">
            <a:solidFill>
              <a:srgbClr val="00695C"/>
            </a:solidFill>
          </a:ln>
          <a:effectLst/>
        </p:spPr>
        <p:style>
          <a:lnRef idx="1">
            <a:schemeClr val="accent1"/>
          </a:lnRef>
          <a:fillRef idx="3">
            <a:schemeClr val="accent1"/>
          </a:fillRef>
          <a:effectRef idx="2">
            <a:schemeClr val="accent1"/>
          </a:effectRef>
          <a:fontRef idx="minor">
            <a:schemeClr val="lt1"/>
          </a:fontRef>
        </p:style>
        <p:txBody>
          <a:bodyPr wrap="none" lIns="18288" tIns="9144" rIns="18288" bIns="9144" rtlCol="0" anchor="ctr"/>
          <a:lstStyle/>
          <a:p>
            <a:pPr algn="ctr"/>
            <a:r>
              <a:rPr sz="1000" b="1">
                <a:solidFill>
                  <a:srgbClr val="00695C"/>
                </a:solidFill>
                <a:latin typeface="Calibri" panose="020F0502020204030204"/>
              </a:rPr>
              <a:t>Linux</a:t>
            </a:r>
            <a:endParaRPr sz="1000" b="1">
              <a:solidFill>
                <a:srgbClr val="00695C"/>
              </a:solidFill>
              <a:latin typeface="Calibri" panose="020F0502020204030204"/>
            </a:endParaRPr>
          </a:p>
        </p:txBody>
      </p:sp>
      <p:sp>
        <p:nvSpPr>
          <p:cNvPr id="93" name="Rounded Rectangle 92"/>
          <p:cNvSpPr/>
          <p:nvPr/>
        </p:nvSpPr>
        <p:spPr>
          <a:xfrm>
            <a:off x="822960" y="5422392"/>
            <a:ext cx="10515600" cy="502920"/>
          </a:xfrm>
          <a:prstGeom prst="roundRect">
            <a:avLst>
              <a:gd name="adj" fmla="val 10000"/>
            </a:avLst>
          </a:prstGeom>
          <a:solidFill>
            <a:srgbClr val="FCE4EC"/>
          </a:solidFill>
          <a:ln w="15875">
            <a:solidFill>
              <a:srgbClr val="B00030"/>
            </a:solidFill>
          </a:ln>
          <a:effectLst/>
        </p:spPr>
        <p:style>
          <a:lnRef idx="1">
            <a:schemeClr val="accent1"/>
          </a:lnRef>
          <a:fillRef idx="3">
            <a:schemeClr val="accent1"/>
          </a:fillRef>
          <a:effectRef idx="2">
            <a:schemeClr val="accent1"/>
          </a:effectRef>
          <a:fontRef idx="minor">
            <a:schemeClr val="lt1"/>
          </a:fontRef>
        </p:style>
        <p:txBody>
          <a:bodyPr wrap="square" lIns="137160" tIns="27432" rIns="109728" bIns="27432" rtlCol="0" anchor="ctr"/>
          <a:lstStyle/>
          <a:p>
            <a:pPr algn="l">
              <a:lnSpc>
                <a:spcPct val="100000"/>
              </a:lnSpc>
            </a:pPr>
            <a:r>
              <a:rPr sz="1250" b="1">
                <a:solidFill>
                  <a:srgbClr val="222222"/>
                </a:solidFill>
                <a:latin typeface="Calibri" panose="020F0502020204030204"/>
              </a:rPr>
              <a:t>8. Serving &amp; Clinician Interface</a:t>
            </a:r>
            <a:endParaRPr sz="1250" b="1">
              <a:solidFill>
                <a:srgbClr val="222222"/>
              </a:solidFill>
              <a:latin typeface="Calibri" panose="020F0502020204030204"/>
            </a:endParaRPr>
          </a:p>
          <a:p>
            <a:pPr algn="l">
              <a:lnSpc>
                <a:spcPct val="100000"/>
              </a:lnSpc>
            </a:pPr>
            <a:r>
              <a:rPr sz="1000">
                <a:solidFill>
                  <a:srgbClr val="222222"/>
                </a:solidFill>
                <a:latin typeface="Calibri" panose="020F0502020204030204"/>
              </a:rPr>
              <a:t>Risk score + explanation + audit trail</a:t>
            </a:r>
            <a:endParaRPr sz="1000">
              <a:solidFill>
                <a:srgbClr val="222222"/>
              </a:solidFill>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838080" y="365040"/>
            <a:ext cx="10515240" cy="444600"/>
          </a:xfrm>
          <a:prstGeom prst="rect">
            <a:avLst/>
          </a:prstGeom>
          <a:noFill/>
          <a:ln w="0">
            <a:noFill/>
          </a:ln>
        </p:spPr>
        <p:txBody>
          <a:bodyPr lIns="91440" tIns="45720" rIns="91440" bIns="45720" anchor="ctr">
            <a:normAutofit fontScale="85000" lnSpcReduction="9999"/>
          </a:bodyPr>
          <a:p>
            <a:pPr indent="0" algn="l" defTabSz="914400">
              <a:lnSpc>
                <a:spcPct val="90000"/>
              </a:lnSpc>
              <a:buNone/>
            </a:pPr>
            <a:r>
              <a:rPr lang="en-IN" sz="3200" b="1" u="none" strike="noStrike">
                <a:solidFill>
                  <a:srgbClr val="FF0000"/>
                </a:solidFill>
                <a:effectLst/>
                <a:uFillTx/>
                <a:latin typeface="Times New Roman" panose="02020603050405020304"/>
              </a:rPr>
              <a:t>Tools Used</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graphicFrame>
        <p:nvGraphicFramePr>
          <p:cNvPr id="77" name="Content Placeholder 7"/>
          <p:cNvGraphicFramePr/>
          <p:nvPr/>
        </p:nvGraphicFramePr>
        <p:xfrm>
          <a:off x="838080" y="996480"/>
          <a:ext cx="10515240" cy="4511880"/>
        </p:xfrm>
        <a:graphic>
          <a:graphicData uri="http://schemas.openxmlformats.org/drawingml/2006/table">
            <a:tbl>
              <a:tblPr/>
              <a:tblGrid>
                <a:gridCol w="2753640"/>
                <a:gridCol w="2503800"/>
                <a:gridCol w="2628720"/>
                <a:gridCol w="2628720"/>
              </a:tblGrid>
              <a:tr h="609480">
                <a:tc>
                  <a:txBody>
                    <a:bodyPr>
                      <a:spAutoFit/>
                    </a:bodyPr>
                    <a:p>
                      <a:pPr defTabSz="914400">
                        <a:lnSpc>
                          <a:spcPct val="100000"/>
                        </a:lnSpc>
                      </a:pPr>
                      <a:r>
                        <a:rPr lang="en-IN" sz="2400" b="1" u="none" strike="noStrike">
                          <a:solidFill>
                            <a:schemeClr val="dk1"/>
                          </a:solidFill>
                          <a:effectLst/>
                          <a:uFillTx/>
                          <a:latin typeface="Calibri" panose="020F0502020204030204"/>
                        </a:rPr>
                        <a:t>Category</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Tools</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Category</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Tools</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09480">
                <a:tc>
                  <a:txBody>
                    <a:bodyPr>
                      <a:spAutoFit/>
                    </a:bodyPr>
                    <a:p>
                      <a:pPr defTabSz="914400">
                        <a:lnSpc>
                          <a:spcPct val="100000"/>
                        </a:lnSpc>
                      </a:pPr>
                      <a:r>
                        <a:rPr lang="en-IN" sz="2400" b="1" u="none" strike="noStrike">
                          <a:solidFill>
                            <a:schemeClr val="dk1"/>
                          </a:solidFill>
                          <a:effectLst/>
                          <a:uFillTx/>
                          <a:latin typeface="Calibri" panose="020F0502020204030204"/>
                        </a:rPr>
                        <a:t>Programming</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0" u="none" strike="noStrike">
                          <a:solidFill>
                            <a:schemeClr val="dk1"/>
                          </a:solidFill>
                          <a:effectLst/>
                          <a:uFillTx/>
                          <a:latin typeface="Calibri" panose="020F0502020204030204"/>
                        </a:rPr>
                        <a:t>Python</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Explainability</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0" u="none" strike="noStrike">
                          <a:solidFill>
                            <a:schemeClr val="dk1"/>
                          </a:solidFill>
                          <a:effectLst/>
                          <a:uFillTx/>
                          <a:latin typeface="Calibri" panose="020F0502020204030204"/>
                        </a:rPr>
                        <a:t>SHAP, BertViz (planned)</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79040">
                <a:tc>
                  <a:txBody>
                    <a:bodyPr>
                      <a:spAutoFit/>
                    </a:bodyPr>
                    <a:p>
                      <a:pPr defTabSz="914400">
                        <a:lnSpc>
                          <a:spcPct val="100000"/>
                        </a:lnSpc>
                      </a:pPr>
                      <a:r>
                        <a:rPr lang="en-US" sz="2400" b="1" u="none" strike="noStrike">
                          <a:solidFill>
                            <a:schemeClr val="dk1"/>
                          </a:solidFill>
                          <a:effectLst/>
                          <a:uFillTx/>
                          <a:latin typeface="Calibri" panose="020F0502020204030204"/>
                        </a:rPr>
                        <a:t>Deep Learning</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PyTorch, HuggingFace Transformers (BERT)</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1" u="none" strike="noStrike">
                          <a:solidFill>
                            <a:schemeClr val="dk1"/>
                          </a:solidFill>
                          <a:effectLst/>
                          <a:uFillTx/>
                          <a:latin typeface="Calibri" panose="020F0502020204030204"/>
                        </a:rPr>
                        <a:t>Model Optimization</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Quantization, Pruning (planned)</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1066680">
                <a:tc>
                  <a:txBody>
                    <a:bodyPr>
                      <a:spAutoFit/>
                    </a:bodyPr>
                    <a:p>
                      <a:pPr defTabSz="914400">
                        <a:lnSpc>
                          <a:spcPct val="100000"/>
                        </a:lnSpc>
                      </a:pPr>
                      <a:r>
                        <a:rPr lang="en-IN" sz="2400" b="1" u="none" strike="noStrike">
                          <a:solidFill>
                            <a:schemeClr val="dk1"/>
                          </a:solidFill>
                          <a:effectLst/>
                          <a:uFillTx/>
                          <a:latin typeface="Calibri" panose="020F0502020204030204"/>
                        </a:rPr>
                        <a:t>Backend Framework</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0" u="none" strike="noStrike">
                          <a:solidFill>
                            <a:schemeClr val="dk1"/>
                          </a:solidFill>
                          <a:effectLst/>
                          <a:uFillTx/>
                          <a:latin typeface="Calibri" panose="020F0502020204030204"/>
                        </a:rPr>
                        <a:t>FastAPI, Uvicorn, Pydantic</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1" u="none" strike="noStrike">
                          <a:solidFill>
                            <a:schemeClr val="dk1"/>
                          </a:solidFill>
                          <a:effectLst/>
                          <a:uFillTx/>
                          <a:latin typeface="Calibri" panose="020F0502020204030204"/>
                        </a:rPr>
                        <a:t>Deployment</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ONNX Runtime, TFLite (planned)</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1066680">
                <a:tc>
                  <a:txBody>
                    <a:bodyPr>
                      <a:spAutoFit/>
                    </a:bodyPr>
                    <a:p>
                      <a:pPr defTabSz="914400">
                        <a:lnSpc>
                          <a:spcPct val="100000"/>
                        </a:lnSpc>
                      </a:pPr>
                      <a:r>
                        <a:rPr lang="en-US" sz="2400" b="1" u="none" strike="noStrike">
                          <a:solidFill>
                            <a:schemeClr val="dk1"/>
                          </a:solidFill>
                          <a:effectLst/>
                          <a:uFillTx/>
                          <a:latin typeface="Calibri" panose="020F0502020204030204"/>
                        </a:rPr>
                        <a:t>Frontend</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Streamlit, Plotly, Pandas</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1" u="none" strike="noStrike">
                          <a:solidFill>
                            <a:schemeClr val="dk1"/>
                          </a:solidFill>
                          <a:effectLst/>
                          <a:uFillTx/>
                          <a:latin typeface="Calibri" panose="020F0502020204030204"/>
                        </a:rPr>
                        <a:t>MLOps &amp; Containerization</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MLflow, Optuna, Docker (planned)</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57200" y="137160"/>
            <a:ext cx="11247120" cy="640080"/>
          </a:xfrm>
          <a:prstGeom prst="rect">
            <a:avLst/>
          </a:prstGeom>
          <a:noFill/>
        </p:spPr>
        <p:txBody>
          <a:bodyPr wrap="square">
            <a:spAutoFit/>
          </a:bodyPr>
          <a:lstStyle/>
          <a:p>
            <a:r>
              <a:rPr sz="3200" b="1">
                <a:solidFill>
                  <a:srgbClr val="FF0000"/>
                </a:solidFill>
                <a:latin typeface="Calibri" panose="020F0502020204030204"/>
              </a:rPr>
              <a:t>PROTOTYPE STATUS &amp; ACCURACY ROADMAP:</a:t>
            </a:r>
            <a:endParaRPr sz="3200" b="1">
              <a:solidFill>
                <a:srgbClr val="FF0000"/>
              </a:solidFill>
              <a:latin typeface="Calibri" panose="020F0502020204030204"/>
            </a:endParaRPr>
          </a:p>
        </p:txBody>
      </p:sp>
      <p:sp>
        <p:nvSpPr>
          <p:cNvPr id="3" name="TextBox 2"/>
          <p:cNvSpPr txBox="1"/>
          <p:nvPr/>
        </p:nvSpPr>
        <p:spPr>
          <a:xfrm>
            <a:off x="457200" y="777240"/>
            <a:ext cx="11247120" cy="457200"/>
          </a:xfrm>
          <a:prstGeom prst="rect">
            <a:avLst/>
          </a:prstGeom>
          <a:noFill/>
        </p:spPr>
        <p:txBody>
          <a:bodyPr wrap="square">
            <a:spAutoFit/>
          </a:bodyPr>
          <a:lstStyle/>
          <a:p>
            <a:r>
              <a:rPr sz="1500" i="1">
                <a:solidFill>
                  <a:srgbClr val="6E6E6E"/>
                </a:solidFill>
                <a:latin typeface="Calibri" panose="020F0502020204030204"/>
              </a:rPr>
              <a:t>Current build: architecture complete, classifier head untrained — no measured accuracy yet. Chart below shows project targets, not results.</a:t>
            </a:r>
            <a:endParaRPr sz="1500" i="1">
              <a:solidFill>
                <a:srgbClr val="6E6E6E"/>
              </a:solidFill>
              <a:latin typeface="Calibri" panose="020F0502020204030204"/>
            </a:endParaRPr>
          </a:p>
        </p:txBody>
      </p:sp>
      <p:sp>
        <p:nvSpPr>
          <p:cNvPr id="4" name="TextBox 3"/>
          <p:cNvSpPr txBox="1"/>
          <p:nvPr/>
        </p:nvSpPr>
        <p:spPr>
          <a:xfrm>
            <a:off x="457200" y="1417320"/>
            <a:ext cx="5120640" cy="4937760"/>
          </a:xfrm>
          <a:prstGeom prst="rect">
            <a:avLst/>
          </a:prstGeom>
          <a:noFill/>
        </p:spPr>
        <p:txBody>
          <a:bodyPr wrap="square">
            <a:spAutoFit/>
          </a:bodyPr>
          <a:lstStyle/>
          <a:p>
            <a:r>
              <a:rPr sz="2000" b="1">
                <a:solidFill>
                  <a:srgbClr val="2F3C7E"/>
                </a:solidFill>
                <a:latin typeface="Calibri" panose="020F0502020204030204"/>
              </a:rPr>
              <a:t>Component Status</a:t>
            </a:r>
            <a:endParaRPr sz="2000" b="1">
              <a:solidFill>
                <a:srgbClr val="2F3C7E"/>
              </a:solidFill>
              <a:latin typeface="Calibri" panose="020F0502020204030204"/>
            </a:endParaRPr>
          </a:p>
          <a:p>
            <a:pPr>
              <a:spcBef>
                <a:spcPts val="800"/>
              </a:spcBef>
            </a:pPr>
            <a:r>
              <a:rPr sz="1500" b="1">
                <a:solidFill>
                  <a:srgbClr val="2E7D32"/>
                </a:solidFill>
                <a:latin typeface="Calibri" panose="020F0502020204030204"/>
              </a:rPr>
              <a:t>✓  Project structure &amp; config</a:t>
            </a:r>
            <a:endParaRPr sz="1500" b="1">
              <a:solidFill>
                <a:srgbClr val="2E7D32"/>
              </a:solidFill>
              <a:latin typeface="Calibri" panose="020F0502020204030204"/>
            </a:endParaRPr>
          </a:p>
          <a:p>
            <a:pPr>
              <a:spcBef>
                <a:spcPts val="800"/>
              </a:spcBef>
            </a:pPr>
            <a:r>
              <a:rPr sz="1500" b="1">
                <a:solidFill>
                  <a:srgbClr val="2E7D32"/>
                </a:solidFill>
                <a:latin typeface="Calibri" panose="020F0502020204030204"/>
              </a:rPr>
              <a:t>✓  BERT backbone + classifier head</a:t>
            </a:r>
            <a:endParaRPr sz="1500" b="1">
              <a:solidFill>
                <a:srgbClr val="2E7D32"/>
              </a:solidFill>
              <a:latin typeface="Calibri" panose="020F0502020204030204"/>
            </a:endParaRPr>
          </a:p>
          <a:p>
            <a:pPr>
              <a:spcBef>
                <a:spcPts val="800"/>
              </a:spcBef>
            </a:pPr>
            <a:r>
              <a:rPr sz="1500" b="1">
                <a:solidFill>
                  <a:srgbClr val="2E7D32"/>
                </a:solidFill>
                <a:latin typeface="Calibri" panose="020F0502020204030204"/>
              </a:rPr>
              <a:t>✓  Inference pipeline &amp; CLI</a:t>
            </a:r>
            <a:endParaRPr sz="1500" b="1">
              <a:solidFill>
                <a:srgbClr val="2E7D32"/>
              </a:solidFill>
              <a:latin typeface="Calibri" panose="020F0502020204030204"/>
            </a:endParaRPr>
          </a:p>
          <a:p>
            <a:pPr>
              <a:spcBef>
                <a:spcPts val="800"/>
              </a:spcBef>
            </a:pPr>
            <a:r>
              <a:rPr sz="1500" b="1">
                <a:solidFill>
                  <a:srgbClr val="2E7D32"/>
                </a:solidFill>
                <a:latin typeface="Calibri" panose="020F0502020204030204"/>
              </a:rPr>
              <a:t>✓  Attention-based explainability (basic)</a:t>
            </a:r>
            <a:endParaRPr sz="1500" b="1">
              <a:solidFill>
                <a:srgbClr val="2E7D32"/>
              </a:solidFill>
              <a:latin typeface="Calibri" panose="020F0502020204030204"/>
            </a:endParaRPr>
          </a:p>
          <a:p>
            <a:pPr>
              <a:spcBef>
                <a:spcPts val="800"/>
              </a:spcBef>
            </a:pPr>
            <a:r>
              <a:rPr sz="1500" b="0">
                <a:solidFill>
                  <a:srgbClr val="B00000"/>
                </a:solidFill>
                <a:latin typeface="Calibri" panose="020F0502020204030204"/>
              </a:rPr>
              <a:t>✗  Fine-tuning on labeled risk data</a:t>
            </a:r>
            <a:endParaRPr sz="1500" b="0">
              <a:solidFill>
                <a:srgbClr val="B00000"/>
              </a:solidFill>
              <a:latin typeface="Calibri" panose="020F0502020204030204"/>
            </a:endParaRPr>
          </a:p>
          <a:p>
            <a:pPr>
              <a:spcBef>
                <a:spcPts val="800"/>
              </a:spcBef>
            </a:pPr>
            <a:r>
              <a:rPr sz="1500" b="0">
                <a:solidFill>
                  <a:srgbClr val="B00000"/>
                </a:solidFill>
                <a:latin typeface="Calibri" panose="020F0502020204030204"/>
              </a:rPr>
              <a:t>✗  SHAP / TCAV / probing</a:t>
            </a:r>
            <a:endParaRPr sz="1500" b="0">
              <a:solidFill>
                <a:srgbClr val="B00000"/>
              </a:solidFill>
              <a:latin typeface="Calibri" panose="020F0502020204030204"/>
            </a:endParaRPr>
          </a:p>
          <a:p>
            <a:pPr>
              <a:spcBef>
                <a:spcPts val="800"/>
              </a:spcBef>
            </a:pPr>
            <a:r>
              <a:rPr sz="1500" b="0">
                <a:solidFill>
                  <a:srgbClr val="B00000"/>
                </a:solidFill>
                <a:latin typeface="Calibri" panose="020F0502020204030204"/>
              </a:rPr>
              <a:t>✗  Model compression (ONNX / TFLite)</a:t>
            </a:r>
            <a:endParaRPr sz="1500" b="0">
              <a:solidFill>
                <a:srgbClr val="B00000"/>
              </a:solidFill>
              <a:latin typeface="Calibri" panose="020F0502020204030204"/>
            </a:endParaRPr>
          </a:p>
          <a:p>
            <a:pPr>
              <a:spcBef>
                <a:spcPts val="800"/>
              </a:spcBef>
            </a:pPr>
            <a:r>
              <a:rPr sz="1500" b="0">
                <a:solidFill>
                  <a:srgbClr val="B00000"/>
                </a:solidFill>
                <a:latin typeface="Calibri" panose="020F0502020204030204"/>
              </a:rPr>
              <a:t>✗  Clinical validation</a:t>
            </a:r>
            <a:endParaRPr sz="1500" b="0">
              <a:solidFill>
                <a:srgbClr val="B00000"/>
              </a:solidFill>
              <a:latin typeface="Calibri" panose="020F0502020204030204"/>
            </a:endParaRPr>
          </a:p>
        </p:txBody>
      </p:sp>
      <p:sp>
        <p:nvSpPr>
          <p:cNvPr id="5" name="TextBox 4"/>
          <p:cNvSpPr txBox="1"/>
          <p:nvPr/>
        </p:nvSpPr>
        <p:spPr>
          <a:xfrm>
            <a:off x="457200" y="5074920"/>
            <a:ext cx="5120640" cy="1234440"/>
          </a:xfrm>
          <a:prstGeom prst="rect">
            <a:avLst/>
          </a:prstGeom>
          <a:noFill/>
        </p:spPr>
        <p:txBody>
          <a:bodyPr wrap="none">
            <a:spAutoFit/>
          </a:bodyPr>
          <a:lstStyle/>
          <a:p>
            <a:r>
              <a:rPr sz="4800" b="1">
                <a:solidFill>
                  <a:srgbClr val="2F3C7E"/>
                </a:solidFill>
                <a:latin typeface="Calibri" panose="020F0502020204030204"/>
              </a:rPr>
              <a:t>~35%</a:t>
            </a:r>
            <a:endParaRPr sz="4800" b="1">
              <a:solidFill>
                <a:srgbClr val="2F3C7E"/>
              </a:solidFill>
              <a:latin typeface="Calibri" panose="020F0502020204030204"/>
            </a:endParaRPr>
          </a:p>
          <a:p>
            <a:r>
              <a:rPr sz="1300">
                <a:solidFill>
                  <a:srgbClr val="6E6E6E"/>
                </a:solidFill>
                <a:latin typeface="Calibri" panose="020F0502020204030204"/>
              </a:rPr>
              <a:t>overall prototype completion (per README)</a:t>
            </a:r>
            <a:endParaRPr sz="1300">
              <a:solidFill>
                <a:srgbClr val="6E6E6E"/>
              </a:solidFill>
              <a:latin typeface="Calibri" panose="020F0502020204030204"/>
            </a:endParaRPr>
          </a:p>
        </p:txBody>
      </p:sp>
      <p:graphicFrame>
        <p:nvGraphicFramePr>
          <p:cNvPr id="6" name="Chart 5"/>
          <p:cNvGraphicFramePr>
            <a:graphicFrameLocks noGrp="1"/>
          </p:cNvGraphicFramePr>
          <p:nvPr/>
        </p:nvGraphicFramePr>
        <p:xfrm>
          <a:off x="5852160" y="1417320"/>
          <a:ext cx="5852160" cy="4206240"/>
        </p:xfrm>
        <a:graphic>
          <a:graphicData uri="http://schemas.openxmlformats.org/drawingml/2006/chart">
            <c:chart xmlns:c="http://schemas.openxmlformats.org/drawingml/2006/chart" xmlns:r="http://schemas.openxmlformats.org/officeDocument/2006/relationships" r:id="rId1"/>
          </a:graphicData>
        </a:graphic>
      </p:graphicFrame>
      <p:sp>
        <p:nvSpPr>
          <p:cNvPr id="7" name="TextBox 6"/>
          <p:cNvSpPr txBox="1"/>
          <p:nvPr/>
        </p:nvSpPr>
        <p:spPr>
          <a:xfrm>
            <a:off x="5852160" y="5669280"/>
            <a:ext cx="5852160" cy="822960"/>
          </a:xfrm>
          <a:prstGeom prst="rect">
            <a:avLst/>
          </a:prstGeom>
          <a:noFill/>
        </p:spPr>
        <p:txBody>
          <a:bodyPr wrap="square">
            <a:spAutoFit/>
          </a:bodyPr>
          <a:lstStyle/>
          <a:p>
            <a:r>
              <a:rPr sz="1100" i="1">
                <a:solidFill>
                  <a:srgbClr val="6E6E6E"/>
                </a:solidFill>
                <a:latin typeface="Calibri" panose="020F0502020204030204"/>
              </a:rPr>
              <a:t>*Targets are project goals only. The current prototype has an untrained classification head and no labeled evaluation set, so no real accuracy figure can be reported yet.</a:t>
            </a:r>
            <a:endParaRPr sz="1100" i="1">
              <a:solidFill>
                <a:srgbClr val="6E6E6E"/>
              </a:solidFill>
              <a:latin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62890" y="260350"/>
            <a:ext cx="10514965" cy="558800"/>
          </a:xfrm>
        </p:spPr>
        <p:txBody>
          <a:bodyPr/>
          <a:p>
            <a:r>
              <a:rPr lang="en-US" sz="3200" b="1">
                <a:solidFill>
                  <a:srgbClr val="FF0000"/>
                </a:solidFill>
              </a:rPr>
              <a:t>SYSTEM ARCHITECTURE:</a:t>
            </a:r>
            <a:endParaRPr lang="en-US" sz="3200" b="1">
              <a:solidFill>
                <a:srgbClr val="FF0000"/>
              </a:solidFill>
            </a:endParaRPr>
          </a:p>
        </p:txBody>
      </p:sp>
      <p:sp>
        <p:nvSpPr>
          <p:cNvPr id="3" name="Rounded Rectangle 2"/>
          <p:cNvSpPr/>
          <p:nvPr/>
        </p:nvSpPr>
        <p:spPr>
          <a:xfrm>
            <a:off x="4267047" y="1234440"/>
            <a:ext cx="3657600" cy="457200"/>
          </a:xfrm>
          <a:prstGeom prst="roundRect">
            <a:avLst/>
          </a:prstGeom>
          <a:solidFill>
            <a:srgbClr val="E8EAF4"/>
          </a:solidFill>
          <a:ln w="12700">
            <a:solidFill>
              <a:srgbClr val="2F3C7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i="0">
                <a:solidFill>
                  <a:srgbClr val="2F3C7E"/>
                </a:solidFill>
                <a:latin typeface="Calibri" panose="020F0502020204030204"/>
              </a:rPr>
              <a:t>User text (consented)</a:t>
            </a:r>
            <a:endParaRPr sz="1300" b="1" i="0">
              <a:solidFill>
                <a:srgbClr val="2F3C7E"/>
              </a:solidFill>
              <a:latin typeface="Calibri" panose="020F0502020204030204"/>
            </a:endParaRPr>
          </a:p>
        </p:txBody>
      </p:sp>
      <p:sp>
        <p:nvSpPr>
          <p:cNvPr id="4" name="Down Arrow 3"/>
          <p:cNvSpPr/>
          <p:nvPr/>
        </p:nvSpPr>
        <p:spPr>
          <a:xfrm>
            <a:off x="5935827" y="169164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947007" y="1947672"/>
            <a:ext cx="4297680" cy="566928"/>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panose="020F0502020204030204"/>
              </a:rPr>
              <a:t>Tokenizer (BERT)</a:t>
            </a:r>
            <a:endParaRPr sz="1400" b="1" i="0">
              <a:solidFill>
                <a:srgbClr val="FFFFFF"/>
              </a:solidFill>
              <a:latin typeface="Calibri" panose="020F0502020204030204"/>
            </a:endParaRPr>
          </a:p>
        </p:txBody>
      </p:sp>
      <p:sp>
        <p:nvSpPr>
          <p:cNvPr id="6" name="Down Arrow 5"/>
          <p:cNvSpPr/>
          <p:nvPr/>
        </p:nvSpPr>
        <p:spPr>
          <a:xfrm>
            <a:off x="5935827" y="251460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947007" y="2770632"/>
            <a:ext cx="4297680" cy="566928"/>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panose="020F0502020204030204"/>
              </a:rPr>
              <a:t>BERT Encoder</a:t>
            </a:r>
            <a:endParaRPr sz="1400" b="1" i="0">
              <a:solidFill>
                <a:srgbClr val="FFFFFF"/>
              </a:solidFill>
              <a:latin typeface="Calibri" panose="020F0502020204030204"/>
            </a:endParaRPr>
          </a:p>
          <a:p>
            <a:pPr algn="ctr"/>
            <a:r>
              <a:rPr sz="1400" b="0" i="0">
                <a:solidFill>
                  <a:srgbClr val="FFFFFF"/>
                </a:solidFill>
                <a:latin typeface="Calibri" panose="020F0502020204030204"/>
              </a:rPr>
              <a:t>(attention layers)</a:t>
            </a:r>
            <a:endParaRPr sz="1400" b="0" i="0">
              <a:solidFill>
                <a:srgbClr val="FFFFFF"/>
              </a:solidFill>
              <a:latin typeface="Calibri" panose="020F0502020204030204"/>
            </a:endParaRPr>
          </a:p>
        </p:txBody>
      </p:sp>
      <p:sp>
        <p:nvSpPr>
          <p:cNvPr id="8" name="TextBox 7"/>
          <p:cNvSpPr txBox="1"/>
          <p:nvPr/>
        </p:nvSpPr>
        <p:spPr>
          <a:xfrm>
            <a:off x="8473287" y="2770632"/>
            <a:ext cx="3017520" cy="566928"/>
          </a:xfrm>
          <a:prstGeom prst="rect">
            <a:avLst/>
          </a:prstGeom>
          <a:noFill/>
        </p:spPr>
        <p:txBody>
          <a:bodyPr wrap="square" lIns="0" rIns="0" anchor="ctr"/>
          <a:lstStyle/>
          <a:p>
            <a:pPr algn="l"/>
            <a:r>
              <a:rPr sz="1200" i="1">
                <a:solidFill>
                  <a:srgbClr val="B00000"/>
                </a:solidFill>
                <a:latin typeface="Calibri" panose="020F0502020204030204"/>
              </a:rPr>
              <a:t>←  reverse-engineering target</a:t>
            </a:r>
            <a:endParaRPr sz="1200" i="1">
              <a:solidFill>
                <a:srgbClr val="B00000"/>
              </a:solidFill>
              <a:latin typeface="Calibri" panose="020F0502020204030204"/>
            </a:endParaRPr>
          </a:p>
        </p:txBody>
      </p:sp>
      <p:sp>
        <p:nvSpPr>
          <p:cNvPr id="9" name="Down Arrow 8"/>
          <p:cNvSpPr/>
          <p:nvPr/>
        </p:nvSpPr>
        <p:spPr>
          <a:xfrm>
            <a:off x="5935827" y="333756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947007" y="3593592"/>
            <a:ext cx="4297680" cy="566928"/>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panose="020F0502020204030204"/>
              </a:rPr>
              <a:t>Classification Head</a:t>
            </a:r>
            <a:endParaRPr sz="1400" b="1" i="0">
              <a:solidFill>
                <a:srgbClr val="FFFFFF"/>
              </a:solidFill>
              <a:latin typeface="Calibri" panose="020F0502020204030204"/>
            </a:endParaRPr>
          </a:p>
        </p:txBody>
      </p:sp>
      <p:sp>
        <p:nvSpPr>
          <p:cNvPr id="11" name="TextBox 10"/>
          <p:cNvSpPr txBox="1"/>
          <p:nvPr/>
        </p:nvSpPr>
        <p:spPr>
          <a:xfrm>
            <a:off x="8473287" y="3593592"/>
            <a:ext cx="3017520" cy="566928"/>
          </a:xfrm>
          <a:prstGeom prst="rect">
            <a:avLst/>
          </a:prstGeom>
          <a:noFill/>
        </p:spPr>
        <p:txBody>
          <a:bodyPr wrap="square" lIns="0" rIns="0" anchor="ctr"/>
          <a:lstStyle/>
          <a:p>
            <a:pPr algn="l"/>
            <a:r>
              <a:rPr sz="1200" i="1">
                <a:solidFill>
                  <a:srgbClr val="B00000"/>
                </a:solidFill>
                <a:latin typeface="Calibri" panose="020F0502020204030204"/>
              </a:rPr>
              <a:t>←  4-class head (No / Low / Moderate / High)</a:t>
            </a:r>
            <a:endParaRPr sz="1200" i="1">
              <a:solidFill>
                <a:srgbClr val="B00000"/>
              </a:solidFill>
              <a:latin typeface="Calibri" panose="020F0502020204030204"/>
            </a:endParaRPr>
          </a:p>
        </p:txBody>
      </p:sp>
      <p:sp>
        <p:nvSpPr>
          <p:cNvPr id="12" name="Down Arrow 11"/>
          <p:cNvSpPr/>
          <p:nvPr/>
        </p:nvSpPr>
        <p:spPr>
          <a:xfrm>
            <a:off x="5935827" y="416052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947007" y="4416552"/>
            <a:ext cx="4297680" cy="566928"/>
          </a:xfrm>
          <a:prstGeom prst="rect">
            <a:avLst/>
          </a:prstGeom>
          <a:solidFill>
            <a:srgbClr val="2F3C7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latin typeface="Calibri" panose="020F0502020204030204"/>
              </a:rPr>
              <a:t>Simple XAI (prototype)</a:t>
            </a:r>
            <a:endParaRPr sz="1400" b="1" i="0">
              <a:solidFill>
                <a:srgbClr val="FFFFFF"/>
              </a:solidFill>
              <a:latin typeface="Calibri" panose="020F0502020204030204"/>
            </a:endParaRPr>
          </a:p>
        </p:txBody>
      </p:sp>
      <p:sp>
        <p:nvSpPr>
          <p:cNvPr id="14" name="TextBox 13"/>
          <p:cNvSpPr txBox="1"/>
          <p:nvPr/>
        </p:nvSpPr>
        <p:spPr>
          <a:xfrm>
            <a:off x="8473287" y="4416552"/>
            <a:ext cx="3017520" cy="566928"/>
          </a:xfrm>
          <a:prstGeom prst="rect">
            <a:avLst/>
          </a:prstGeom>
          <a:noFill/>
        </p:spPr>
        <p:txBody>
          <a:bodyPr wrap="square" lIns="0" rIns="0" anchor="ctr"/>
          <a:lstStyle/>
          <a:p>
            <a:pPr algn="l"/>
            <a:r>
              <a:rPr sz="1200" i="1">
                <a:solidFill>
                  <a:srgbClr val="B00000"/>
                </a:solidFill>
                <a:latin typeface="Calibri" panose="020F0502020204030204"/>
              </a:rPr>
              <a:t>←  last-layer attention → token importance</a:t>
            </a:r>
            <a:endParaRPr sz="1200" i="1">
              <a:solidFill>
                <a:srgbClr val="B00000"/>
              </a:solidFill>
              <a:latin typeface="Calibri" panose="020F0502020204030204"/>
            </a:endParaRPr>
          </a:p>
        </p:txBody>
      </p:sp>
      <p:sp>
        <p:nvSpPr>
          <p:cNvPr id="15" name="Down Arrow 14"/>
          <p:cNvSpPr/>
          <p:nvPr/>
        </p:nvSpPr>
        <p:spPr>
          <a:xfrm>
            <a:off x="5935827" y="4983480"/>
            <a:ext cx="320040" cy="256032"/>
          </a:xfrm>
          <a:prstGeom prst="down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267047" y="5239512"/>
            <a:ext cx="3657600" cy="457200"/>
          </a:xfrm>
          <a:prstGeom prst="roundRect">
            <a:avLst/>
          </a:prstGeom>
          <a:solidFill>
            <a:srgbClr val="E8EAF4"/>
          </a:solidFill>
          <a:ln w="12700">
            <a:solidFill>
              <a:srgbClr val="2F3C7E"/>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50" b="1" i="0">
                <a:solidFill>
                  <a:srgbClr val="2F3C7E"/>
                </a:solidFill>
                <a:latin typeface="Calibri" panose="020F0502020204030204"/>
              </a:rPr>
              <a:t>JSON report + flags</a:t>
            </a:r>
            <a:endParaRPr sz="1250" b="1" i="0">
              <a:solidFill>
                <a:srgbClr val="2F3C7E"/>
              </a:solidFill>
              <a:latin typeface="Calibri" panose="020F0502020204030204"/>
            </a:endParaRPr>
          </a:p>
          <a:p>
            <a:pPr algn="ctr"/>
            <a:r>
              <a:rPr sz="1250" b="0" i="0">
                <a:solidFill>
                  <a:srgbClr val="2F3C7E"/>
                </a:solidFill>
                <a:latin typeface="Calibri" panose="020F0502020204030204"/>
              </a:rPr>
              <a:t>(always requires human review)</a:t>
            </a:r>
            <a:endParaRPr sz="1250" b="0" i="0">
              <a:solidFill>
                <a:srgbClr val="2F3C7E"/>
              </a:solidFill>
              <a:latin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62890" y="260350"/>
            <a:ext cx="10514965" cy="558800"/>
          </a:xfrm>
        </p:spPr>
        <p:txBody>
          <a:bodyPr/>
          <a:p>
            <a:r>
              <a:rPr lang="en-US" sz="3200" b="1">
                <a:solidFill>
                  <a:srgbClr val="FF0000"/>
                </a:solidFill>
              </a:rPr>
              <a:t>LIVE DEMO: RISK PREDICTION OUTPUT</a:t>
            </a:r>
            <a:endParaRPr lang="en-US" sz="3200" b="1">
              <a:solidFill>
                <a:srgbClr val="FF0000"/>
              </a:solidFill>
            </a:endParaRPr>
          </a:p>
        </p:txBody>
      </p:sp>
      <p:sp>
        <p:nvSpPr>
          <p:cNvPr id="3" name="Subtitle TextBox"/>
          <p:cNvSpPr txBox="1"/>
          <p:nvPr/>
        </p:nvSpPr>
        <p:spPr>
          <a:xfrm>
            <a:off x="457200" y="950000"/>
            <a:ext cx="11277600" cy="400000"/>
          </a:xfrm>
          <a:prstGeom prst="rect">
            <a:avLst/>
          </a:prstGeom>
          <a:noFill/>
        </p:spPr>
        <p:txBody>
          <a:bodyPr wrap="square">
            <a:spAutoFit/>
          </a:bodyPr>
          <a:lstStyle/>
          <a:p>
            <a:r>
              <a:rPr sz="1500" i="1">
                <a:solidFill>
                  <a:srgbClr val="6E6E6E"/>
                </a:solidFill>
                <a:latin typeface="Calibri" panose="020F0502020204030204"/>
              </a:rPr>
              <a:t>Working Streamlit interface: sample input classified with 65.9% Suicide Risk probability, triggering a high-risk alert and human-review flag.</a:t>
            </a:r>
            <a:endParaRPr sz="1500" i="1">
              <a:solidFill>
                <a:srgbClr val="6E6E6E"/>
              </a:solidFill>
              <a:latin typeface="Calibri" panose="020F0502020204030204"/>
            </a:endParaRPr>
          </a:p>
        </p:txBody>
      </p:sp>
      <p:pic>
        <p:nvPicPr>
          <p:cNvPr id="4" name="Demo Screenshot 1"/>
          <p:cNvPicPr>
            <a:picLocks noChangeAspect="1"/>
          </p:cNvPicPr>
          <p:nvPr/>
        </p:nvPicPr>
        <p:blipFill>
          <a:blip r:embed="rId1"/>
          <a:stretch>
            <a:fillRect/>
          </a:stretch>
        </p:blipFill>
        <p:spPr>
          <a:xfrm>
            <a:off x="1841250" y="1550000"/>
            <a:ext cx="8509500" cy="4500000"/>
          </a:xfrm>
          <a:prstGeom prst="rect">
            <a:avLst/>
          </a:prstGeom>
          <a:ln w="9525">
            <a:solidFill>
              <a:srgbClr val="CCCCCC"/>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62890" y="260350"/>
            <a:ext cx="10514965" cy="558800"/>
          </a:xfrm>
        </p:spPr>
        <p:txBody>
          <a:bodyPr/>
          <a:p>
            <a:r>
              <a:rPr lang="en-US" sz="3200" b="1">
                <a:solidFill>
                  <a:srgbClr val="FF0000"/>
                </a:solidFill>
              </a:rPr>
              <a:t>DEMO: MULTI-LAYER EXPLAINABILITY</a:t>
            </a:r>
            <a:endParaRPr lang="en-US" sz="3200" b="1">
              <a:solidFill>
                <a:srgbClr val="FF0000"/>
              </a:solidFill>
            </a:endParaRPr>
          </a:p>
        </p:txBody>
      </p:sp>
      <p:sp>
        <p:nvSpPr>
          <p:cNvPr id="3" name="Subtitle TextBox"/>
          <p:cNvSpPr txBox="1"/>
          <p:nvPr/>
        </p:nvSpPr>
        <p:spPr>
          <a:xfrm>
            <a:off x="457200" y="950000"/>
            <a:ext cx="11277600" cy="400000"/>
          </a:xfrm>
          <a:prstGeom prst="rect">
            <a:avLst/>
          </a:prstGeom>
          <a:noFill/>
        </p:spPr>
        <p:txBody>
          <a:bodyPr wrap="square">
            <a:spAutoFit/>
          </a:bodyPr>
          <a:lstStyle/>
          <a:p>
            <a:r>
              <a:rPr sz="1500" i="1">
                <a:solidFill>
                  <a:srgbClr val="6E6E6E"/>
                </a:solidFill>
                <a:latin typeface="Calibri" panose="020F0502020204030204"/>
              </a:rPr>
              <a:t>DistilBERT last-layer attention and SHAP-style token scoring (with clinical keyword boosting) highlight the terms driving the prediction.</a:t>
            </a:r>
            <a:endParaRPr sz="1500" i="1">
              <a:solidFill>
                <a:srgbClr val="6E6E6E"/>
              </a:solidFill>
              <a:latin typeface="Calibri" panose="020F0502020204030204"/>
            </a:endParaRPr>
          </a:p>
        </p:txBody>
      </p:sp>
      <p:pic>
        <p:nvPicPr>
          <p:cNvPr id="4" name="Demo Screenshot 2"/>
          <p:cNvPicPr>
            <a:picLocks noChangeAspect="1"/>
          </p:cNvPicPr>
          <p:nvPr/>
        </p:nvPicPr>
        <p:blipFill>
          <a:blip r:embed="rId1"/>
          <a:stretch>
            <a:fillRect/>
          </a:stretch>
        </p:blipFill>
        <p:spPr>
          <a:xfrm>
            <a:off x="1978000" y="1550000"/>
            <a:ext cx="8236000" cy="4321000"/>
          </a:xfrm>
          <a:prstGeom prst="rect">
            <a:avLst/>
          </a:prstGeom>
          <a:ln w="9525">
            <a:solidFill>
              <a:srgbClr val="CCCCCC"/>
            </a:solid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0170" y="105410"/>
            <a:ext cx="10903585" cy="419735"/>
          </a:xfrm>
        </p:spPr>
        <p:txBody>
          <a:bodyPr/>
          <a:p>
            <a:r>
              <a:rPr lang="en-US" sz="3200" b="1">
                <a:solidFill>
                  <a:srgbClr val="FF0000"/>
                </a:solidFill>
              </a:rPr>
              <a:t>LITERATURE ANALYSIS:</a:t>
            </a:r>
            <a:endParaRPr lang="en-US" sz="3200" b="1">
              <a:solidFill>
                <a:srgbClr val="FF0000"/>
              </a:solidFill>
            </a:endParaRPr>
          </a:p>
        </p:txBody>
      </p:sp>
      <p:graphicFrame>
        <p:nvGraphicFramePr>
          <p:cNvPr id="7" name="Table 6"/>
          <p:cNvGraphicFramePr/>
          <p:nvPr>
            <p:custDataLst>
              <p:tags r:id="rId1"/>
            </p:custDataLst>
          </p:nvPr>
        </p:nvGraphicFramePr>
        <p:xfrm>
          <a:off x="73025" y="622300"/>
          <a:ext cx="11915140" cy="6014720"/>
        </p:xfrm>
        <a:graphic>
          <a:graphicData uri="http://schemas.openxmlformats.org/drawingml/2006/table">
            <a:tbl>
              <a:tblPr firstRow="1" bandRow="1">
                <a:tableStyleId>{5C22544A-7EE6-4342-B048-85BDC9FD1C3A}</a:tableStyleId>
              </a:tblPr>
              <a:tblGrid>
                <a:gridCol w="2522855"/>
                <a:gridCol w="2148840"/>
                <a:gridCol w="2490470"/>
                <a:gridCol w="2377440"/>
                <a:gridCol w="2375535"/>
              </a:tblGrid>
              <a:tr h="271145">
                <a:tc>
                  <a:txBody>
                    <a:bodyPr/>
                    <a:p>
                      <a:r>
                        <a:rPr lang="en-US" altLang="zh-CN" sz="1100"/>
                        <a:t>Author &amp; Year</a:t>
                      </a:r>
                      <a:endParaRPr lang="en-US" altLang="zh-CN" sz="1100"/>
                    </a:p>
                  </a:txBody>
                  <a:tcPr marL="0" marR="0" marT="0" marB="0" anchor="ctr" anchorCtr="0"/>
                </a:tc>
                <a:tc>
                  <a:txBody>
                    <a:bodyPr/>
                    <a:p>
                      <a:r>
                        <a:rPr lang="en-US" altLang="zh-CN" sz="1100"/>
                        <a:t>Work Done</a:t>
                      </a:r>
                      <a:endParaRPr lang="en-US" altLang="zh-CN" sz="1100"/>
                    </a:p>
                  </a:txBody>
                  <a:tcPr marL="0" marR="0" marT="0" marB="0" anchor="ctr" anchorCtr="0"/>
                </a:tc>
                <a:tc>
                  <a:txBody>
                    <a:bodyPr/>
                    <a:p>
                      <a:r>
                        <a:rPr lang="en-US" altLang="zh-CN" sz="1100"/>
                        <a:t>Advantages</a:t>
                      </a:r>
                      <a:endParaRPr lang="en-US" altLang="zh-CN" sz="1100"/>
                    </a:p>
                  </a:txBody>
                  <a:tcPr marL="0" marR="0" marT="0" marB="0" anchor="ctr" anchorCtr="0"/>
                </a:tc>
                <a:tc>
                  <a:txBody>
                    <a:bodyPr/>
                    <a:p>
                      <a:r>
                        <a:rPr lang="en-US" altLang="zh-CN" sz="1100"/>
                        <a:t>Limitations</a:t>
                      </a:r>
                      <a:endParaRPr lang="en-US" altLang="zh-CN" sz="1100"/>
                    </a:p>
                  </a:txBody>
                  <a:tcPr marL="0" marR="0" marT="0" marB="0" anchor="ctr" anchorCtr="0"/>
                </a:tc>
                <a:tc>
                  <a:txBody>
                    <a:bodyPr/>
                    <a:p>
                      <a:r>
                        <a:rPr lang="en-US" altLang="zh-CN" sz="1100"/>
                        <a:t>Comparison with Our Solution</a:t>
                      </a:r>
                      <a:endParaRPr lang="en-US" altLang="zh-CN" sz="1100"/>
                    </a:p>
                  </a:txBody>
                  <a:tcPr marL="0" marR="0" marT="0" marB="0" anchor="ctr" anchorCtr="0"/>
                </a:tc>
              </a:tr>
              <a:tr h="1645920">
                <a:tc>
                  <a:txBody>
                    <a:bodyPr/>
                    <a:p>
                      <a:pPr>
                        <a:buNone/>
                      </a:pPr>
                      <a:r>
                        <a:rPr lang="en-US" altLang="en-US" sz="1800">
                          <a:sym typeface="+mn-ea"/>
                        </a:rPr>
                        <a:t>Pascal Penava et al.</a:t>
                      </a:r>
                      <a:endParaRPr lang="en-US" altLang="en-US" sz="1800"/>
                    </a:p>
                    <a:p>
                      <a:pPr>
                        <a:buNone/>
                      </a:pPr>
                      <a:r>
                        <a:rPr altLang="en-US" sz="1800">
                          <a:sym typeface="+mn-ea"/>
                        </a:rPr>
                        <a:t>(https://ieeexplore.ieee.org/document/10757418). </a:t>
                      </a:r>
                      <a:r>
                        <a:rPr lang="en-US" altLang="en-US" sz="1800">
                          <a:sym typeface="+mn-ea"/>
                        </a:rPr>
                        <a:t>Journals &amp; Magazines, IEEE Access, Volume: 12, 2024</a:t>
                      </a:r>
                      <a:endParaRPr lang="en-US" altLang="zh-CN" sz="1100"/>
                    </a:p>
                  </a:txBody>
                  <a:tcPr marL="0" marR="0" marT="0" marB="0" anchor="ctr" anchorCtr="0"/>
                </a:tc>
                <a:tc>
                  <a:txBody>
                    <a:bodyPr/>
                    <a:p>
                      <a:r>
                        <a:rPr lang="en-US" altLang="en-US" sz="1800"/>
                        <a:t>1D CNN on resting-state EEG for early mild depression detection</a:t>
                      </a:r>
                      <a:endParaRPr lang="en-US" altLang="en-US" sz="1800"/>
                    </a:p>
                  </a:txBody>
                  <a:tcPr marL="0" marR="0" marT="0" marB="0" anchor="ctr" anchorCtr="0"/>
                </a:tc>
                <a:tc>
                  <a:txBody>
                    <a:bodyPr/>
                    <a:p>
                      <a:r>
                        <a:rPr lang="en-US" altLang="en-US" sz="2000"/>
                        <a:t>Good accuracy (69.21%), low computational cost &amp; fast inference</a:t>
                      </a:r>
                      <a:endParaRPr lang="en-US" altLang="en-US" sz="2000"/>
                    </a:p>
                  </a:txBody>
                  <a:tcPr marL="0" marR="0" marT="0" marB="0" anchor="ctr" anchorCtr="0"/>
                </a:tc>
                <a:tc>
                  <a:txBody>
                    <a:bodyPr/>
                    <a:p>
                      <a:r>
                        <a:rPr lang="en-US" altLang="en-US" sz="1800"/>
                        <a:t>EEG-only (requires hardware); no explainability; limited to depression, not suicide risk; no deployment/privacy</a:t>
                      </a:r>
                      <a:endParaRPr lang="en-US" altLang="en-US" sz="1800"/>
                    </a:p>
                  </a:txBody>
                  <a:tcPr marL="0" marR="0" marT="0" marB="0" anchor="ctr" anchorCtr="0"/>
                </a:tc>
                <a:tc>
                  <a:txBody>
                    <a:bodyPr/>
                    <a:p>
                      <a:r>
                        <a:rPr lang="en-US" altLang="zh-CN" sz="1800"/>
                        <a:t>Our text-based approach + XAI (SHAP &amp; Attention) + MLOps + on-device DPDP compliance is more accessible &amp; practical</a:t>
                      </a:r>
                      <a:endParaRPr lang="en-US" altLang="zh-CN" sz="1800"/>
                    </a:p>
                  </a:txBody>
                  <a:tcPr marL="0" marR="0" marT="0" marB="0" anchor="ctr" anchorCtr="0"/>
                </a:tc>
              </a:tr>
              <a:tr h="1415415">
                <a:tc>
                  <a:txBody>
                    <a:bodyPr/>
                    <a:p>
                      <a:pPr>
                        <a:buNone/>
                      </a:pPr>
                      <a:r>
                        <a:rPr lang="en-US" altLang="en-US" sz="1600">
                          <a:sym typeface="+mn-ea"/>
                        </a:rPr>
                        <a:t>Hao Tang et al</a:t>
                      </a:r>
                      <a:endParaRPr lang="en-US" altLang="en-US" sz="1600"/>
                    </a:p>
                    <a:p>
                      <a:pPr>
                        <a:buNone/>
                      </a:pPr>
                      <a:r>
                        <a:rPr lang="en-IN" sz="1600" i="1" dirty="0" err="1">
                          <a:sym typeface="+mn-ea"/>
                        </a:rPr>
                        <a:t>arXiv</a:t>
                      </a:r>
                      <a:r>
                        <a:rPr lang="en-IN" sz="1600" i="1" dirty="0">
                          <a:sym typeface="+mn-ea"/>
                        </a:rPr>
                        <a:t> preprint arXiv:2508.1</a:t>
                      </a:r>
                      <a:r>
                        <a:rPr altLang="en-IN" sz="1600" i="1" dirty="0">
                          <a:sym typeface="+mn-ea"/>
                        </a:rPr>
                        <a:t>12</a:t>
                      </a:r>
                      <a:r>
                        <a:rPr lang="en-IN" sz="1600" i="1" dirty="0">
                          <a:sym typeface="+mn-ea"/>
                        </a:rPr>
                        <a:t>65</a:t>
                      </a:r>
                      <a:r>
                        <a:rPr lang="en-IN" sz="1600" dirty="0">
                          <a:sym typeface="+mn-ea"/>
                        </a:rPr>
                        <a:t>, </a:t>
                      </a:r>
                      <a:r>
                        <a:rPr lang="en-IN" sz="1600" b="1" dirty="0">
                          <a:sym typeface="+mn-ea"/>
                        </a:rPr>
                        <a:t>202</a:t>
                      </a:r>
                      <a:r>
                        <a:rPr lang="en-US" altLang="en-IN" sz="1600" b="1" dirty="0">
                          <a:sym typeface="+mn-ea"/>
                        </a:rPr>
                        <a:t>3.</a:t>
                      </a:r>
                      <a:endParaRPr lang="en-US" altLang="en-IN" sz="1600" b="1" dirty="0">
                        <a:sym typeface="+mn-ea"/>
                      </a:endParaRPr>
                    </a:p>
                  </a:txBody>
                  <a:tcPr marL="0" marR="0" marT="0" marB="0" anchor="ctr" anchorCtr="0"/>
                </a:tc>
                <a:tc>
                  <a:txBody>
                    <a:bodyPr/>
                    <a:p>
                      <a:r>
                        <a:rPr lang="en-US" altLang="zh-CN" sz="1600"/>
                        <a:t>XGBoost + SHAP for identifying key features in suicide risk prediction</a:t>
                      </a:r>
                      <a:endParaRPr lang="en-US" altLang="zh-CN" sz="1600"/>
                    </a:p>
                  </a:txBody>
                  <a:tcPr marL="0" marR="0" marT="0" marB="0" anchor="ctr" anchorCtr="0"/>
                </a:tc>
                <a:tc>
                  <a:txBody>
                    <a:bodyPr/>
                    <a:p>
                      <a:r>
                        <a:rPr lang="en-US" altLang="zh-CN" sz="1600"/>
                        <a:t>Interpretable results using SHAP; clinician-friendly feature importance</a:t>
                      </a:r>
                      <a:endParaRPr lang="en-US" altLang="zh-CN" sz="1600"/>
                    </a:p>
                  </a:txBody>
                  <a:tcPr marL="0" marR="0" marT="0" marB="0" anchor="ctr" anchorCtr="0"/>
                </a:tc>
                <a:tc>
                  <a:txBody>
                    <a:bodyPr/>
                    <a:p>
                      <a:r>
                        <a:rPr lang="en-US" altLang="zh-CN" sz="1600"/>
                        <a:t>Traditional ML (weaker on complex text); limited scalability &amp; deployment</a:t>
                      </a:r>
                      <a:endParaRPr lang="en-US" altLang="zh-CN" sz="1600"/>
                    </a:p>
                  </a:txBody>
                  <a:tcPr marL="0" marR="0" marT="0" marB="0" anchor="ctr" anchorCtr="0"/>
                </a:tc>
                <a:tc>
                  <a:txBody>
                    <a:bodyPr/>
                    <a:p>
                      <a:r>
                        <a:rPr lang="en-US" altLang="zh-CN" sz="1400"/>
                        <a:t>Advanced with fine-tuned BERT/MentalBERT + multiple XAI methods + complete MLOps + efficient on-device optimization under DPDP</a:t>
                      </a:r>
                      <a:endParaRPr lang="en-US" altLang="zh-CN" sz="1400"/>
                    </a:p>
                  </a:txBody>
                  <a:tcPr marL="0" marR="0" marT="0" marB="0" anchor="ctr" anchorCtr="0"/>
                </a:tc>
              </a:tr>
              <a:tr h="1706880">
                <a:tc>
                  <a:txBody>
                    <a:bodyPr/>
                    <a:p>
                      <a:pPr>
                        <a:buNone/>
                      </a:pPr>
                      <a:r>
                        <a:rPr lang="en-US" altLang="en-US" sz="1600">
                          <a:sym typeface="+mn-ea"/>
                        </a:rPr>
                        <a:t>Shaoxiong Ji et al.</a:t>
                      </a:r>
                      <a:r>
                        <a:rPr lang="en-US" altLang="en-US" sz="1600">
                          <a:effectLst/>
                          <a:uFillTx/>
                          <a:latin typeface="Calibri" panose="020F0502020204030204"/>
                          <a:sym typeface="+mn-ea"/>
                        </a:rPr>
                        <a:t>IEEE Access, vol. 10, pp. 16756-16781, 2022</a:t>
                      </a:r>
                      <a:endParaRPr lang="en-US" altLang="zh-CN" sz="1600"/>
                    </a:p>
                    <a:p>
                      <a:pPr>
                        <a:buNone/>
                      </a:pPr>
                      <a:endParaRPr lang="en-US" altLang="en-US" sz="1600"/>
                    </a:p>
                    <a:p>
                      <a:pPr>
                        <a:buNone/>
                      </a:pPr>
                      <a:endParaRPr lang="en-US" altLang="en-US" sz="1600"/>
                    </a:p>
                  </a:txBody>
                  <a:tcPr marL="0" marR="0" marT="0" marB="0" anchor="ctr" anchorCtr="0"/>
                </a:tc>
                <a:tc>
                  <a:txBody>
                    <a:bodyPr/>
                    <a:p>
                      <a:r>
                        <a:rPr lang="en-US" altLang="en-US" sz="1600"/>
                        <a:t>Pretrained MentalBERT + fine-tuning on mental health text for depression, anxiety &amp; suicidal ideation</a:t>
                      </a:r>
                      <a:endParaRPr lang="en-US" altLang="en-US" sz="1600"/>
                    </a:p>
                  </a:txBody>
                  <a:tcPr marL="0" marR="0" marT="0" marB="0" anchor="ctr" anchorCtr="0"/>
                </a:tc>
                <a:tc>
                  <a:txBody>
                    <a:bodyPr/>
                    <a:p>
                      <a:r>
                        <a:rPr lang="en-US" altLang="en-US" sz="1600"/>
                        <a:t>Strong domain-specific performance on text data</a:t>
                      </a:r>
                      <a:endParaRPr lang="en-US" altLang="en-US" sz="1600"/>
                    </a:p>
                  </a:txBody>
                  <a:tcPr marL="0" marR="0" marT="0" marB="0" anchor="ctr" anchorCtr="0"/>
                </a:tc>
                <a:tc>
                  <a:txBody>
                    <a:bodyPr/>
                    <a:p>
                      <a:r>
                        <a:rPr lang="en-US" altLang="en-US" sz="1600"/>
                        <a:t>Black-box model; no explainability; limited clinical validation &amp; deployment focus</a:t>
                      </a:r>
                      <a:endParaRPr lang="en-US" altLang="en-US" sz="1600"/>
                    </a:p>
                  </a:txBody>
                  <a:tcPr marL="0" marR="0" marT="0" marB="0" anchor="ctr" anchorCtr="0"/>
                </a:tc>
                <a:tc>
                  <a:txBody>
                    <a:bodyPr/>
                    <a:p>
                      <a:r>
                        <a:rPr lang="en-US" altLang="en-US" sz="1600"/>
                        <a:t>Builds directly on MentalBERT + adds SHAP, Attention Visualization, reverse engineering, MLOps pipeline &amp; strong privacy design</a:t>
                      </a:r>
                      <a:endParaRPr lang="en-US" altLang="en-US" sz="1600"/>
                    </a:p>
                  </a:txBody>
                  <a:tcPr marL="0" marR="0" marT="0" marB="0" anchor="ctr" anchorCtr="0"/>
                </a:tc>
              </a:tr>
              <a:tr h="975360">
                <a:tc>
                  <a:txBody>
                    <a:bodyPr/>
                    <a:p>
                      <a:r>
                        <a:rPr lang="en-US" altLang="en-US" sz="1600"/>
                        <a:t>Matthew Matero et al.</a:t>
                      </a:r>
                      <a:endParaRPr lang="en-US" altLang="en-US" sz="1600"/>
                    </a:p>
                    <a:p>
                      <a:r>
                        <a:rPr lang="en-US" altLang="en-US" sz="1600"/>
                        <a:t>(arXiv preprint arXiv:1611.09940, 2019)</a:t>
                      </a:r>
                      <a:endParaRPr lang="en-US" altLang="en-US" sz="1600"/>
                    </a:p>
                  </a:txBody>
                  <a:tcPr marL="0" marR="0" marT="0" marB="0" anchor="ctr" anchorCtr="0"/>
                </a:tc>
                <a:tc>
                  <a:txBody>
                    <a:bodyPr/>
                    <a:p>
                      <a:r>
                        <a:rPr lang="en-US" altLang="en-US" sz="1600"/>
                        <a:t>Dual-context BERT framework using post content + user history for suicide risk</a:t>
                      </a:r>
                      <a:endParaRPr lang="en-US" altLang="en-US" sz="1600"/>
                    </a:p>
                  </a:txBody>
                  <a:tcPr marL="0" marR="0" marT="0" marB="0" anchor="ctr" anchorCtr="0"/>
                </a:tc>
                <a:tc>
                  <a:txBody>
                    <a:bodyPr/>
                    <a:p>
                      <a:r>
                        <a:rPr lang="en-US" altLang="en-US" sz="1600"/>
                        <a:t>Captures longitudinal behavior for better contex</a:t>
                      </a:r>
                      <a:endParaRPr lang="en-US" altLang="en-US" sz="1600"/>
                    </a:p>
                  </a:txBody>
                  <a:tcPr marL="0" marR="0" marT="0" marB="0" anchor="ctr" anchorCtr="0"/>
                </a:tc>
                <a:tc>
                  <a:txBody>
                    <a:bodyPr/>
                    <a:p>
                      <a:r>
                        <a:rPr lang="en-US" altLang="en-US" sz="1600"/>
                        <a:t>Black-box; limited interpretability &amp; deployment strategy</a:t>
                      </a:r>
                      <a:endParaRPr lang="en-US" altLang="en-US" sz="1600"/>
                    </a:p>
                  </a:txBody>
                  <a:tcPr marL="0" marR="0" marT="0" marB="0" anchor="ctr" anchorCtr="0"/>
                </a:tc>
                <a:tc>
                  <a:txBody>
                    <a:bodyPr/>
                    <a:p>
                      <a:r>
                        <a:rPr lang="en-US" altLang="en-US" sz="1400"/>
                        <a:t>Enhanced with modern XAI techniques, full MLOps, and privacy-preserving on-device inference</a:t>
                      </a:r>
                      <a:endParaRPr lang="en-US" altLang="en-US" sz="1400"/>
                    </a:p>
                  </a:txBody>
                  <a:tcPr marL="0" marR="0" marT="0" marB="0" anchor="ctr" anchorCtr="0"/>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0" y="0"/>
            <a:ext cx="7948440" cy="80532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Research Limitations</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sp>
        <p:nvSpPr>
          <p:cNvPr id="81" name="PlaceHolder 2"/>
          <p:cNvSpPr>
            <a:spLocks noGrp="1"/>
          </p:cNvSpPr>
          <p:nvPr>
            <p:ph/>
          </p:nvPr>
        </p:nvSpPr>
        <p:spPr>
          <a:xfrm>
            <a:off x="457200" y="685800"/>
            <a:ext cx="10515240" cy="5722560"/>
          </a:xfrm>
          <a:prstGeom prst="rect">
            <a:avLst/>
          </a:prstGeom>
          <a:noFill/>
          <a:ln w="0">
            <a:noFill/>
          </a:ln>
        </p:spPr>
        <p:txBody>
          <a:bodyPr lIns="91440" tIns="45720" rIns="91440" bIns="45720" anchor="t">
            <a:noAutofit/>
          </a:bodyPr>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Limited Dataset Diversity – Most publicly available datasets are collected from social media platforms (e.g., Reddit), which may not represent all demographic and clinical populations.</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Black-Box Nature of Deep Learning Models – Although explainability techniques are used, they may not fully capture the complete reasoning behind model predictions.</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Limited Clinical Validation – The system requires extensive evaluation and feedback from mental health professionals before real-world clinical adoption.</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Language Dependency – The current model is primarily trained on English text and may not generalize well to other languages without retraining.</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Risk of Prediction Errors – False positives and false negatives may occur, making the model unsuitable as the sole basis for clinical decision-making.</a:t>
            </a:r>
            <a:endParaRPr lang="en-US" sz="2400" b="0" u="none" strike="noStrike">
              <a:solidFill>
                <a:schemeClr val="dk1"/>
              </a:solidFill>
              <a:effectLst/>
              <a:uFillTx/>
              <a:latin typeface="Calibri" panose="020F0502020204030204"/>
            </a:endParaRPr>
          </a:p>
        </p:txBody>
      </p:sp>
      <p:sp>
        <p:nvSpPr>
          <p:cNvPr id="82" name="PlaceHolder 3"/>
          <p:cNvSpPr>
            <a:spLocks noGrp="1"/>
          </p:cNvSpPr>
          <p:nvPr>
            <p:ph type="dt" idx="37"/>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
        <p:nvSpPr>
          <p:cNvPr id="83" name="Text Box 4"/>
          <p:cNvSpPr/>
          <p:nvPr/>
        </p:nvSpPr>
        <p:spPr>
          <a:xfrm>
            <a:off x="5605200" y="703080"/>
            <a:ext cx="4063680" cy="36792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endParaRPr lang="en-US" sz="18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838080" y="365040"/>
            <a:ext cx="10515240" cy="729720"/>
          </a:xfrm>
          <a:prstGeom prst="rect">
            <a:avLst/>
          </a:prstGeom>
          <a:noFill/>
          <a:ln w="0">
            <a:noFill/>
          </a:ln>
        </p:spPr>
        <p:txBody>
          <a:bodyPr lIns="91440" tIns="45720" rIns="91440" bIns="45720" anchor="ctr">
            <a:noAutofit/>
          </a:bodyPr>
          <a:p>
            <a:pPr indent="0" algn="l" defTabSz="914400">
              <a:lnSpc>
                <a:spcPct val="90000"/>
              </a:lnSpc>
              <a:buNone/>
            </a:pPr>
            <a:r>
              <a:rPr lang="en-IN" sz="3600" b="1" u="none" strike="noStrike">
                <a:solidFill>
                  <a:schemeClr val="dk1"/>
                </a:solidFill>
                <a:effectLst/>
                <a:uFillTx/>
                <a:latin typeface="Times New Roman" panose="02020603050405020304"/>
              </a:rPr>
              <a:t>References:</a:t>
            </a:r>
            <a:endParaRPr lang="en-US" sz="3600" b="0" u="none" strike="noStrike">
              <a:solidFill>
                <a:schemeClr val="dk1"/>
              </a:solidFill>
              <a:effectLst/>
              <a:uFillTx/>
              <a:latin typeface="Calibri Light" panose="020F0302020204030204"/>
            </a:endParaRPr>
          </a:p>
        </p:txBody>
      </p:sp>
      <p:sp>
        <p:nvSpPr>
          <p:cNvPr id="85" name="PlaceHolder 2"/>
          <p:cNvSpPr>
            <a:spLocks noGrp="1"/>
          </p:cNvSpPr>
          <p:nvPr>
            <p:ph/>
          </p:nvPr>
        </p:nvSpPr>
        <p:spPr>
          <a:xfrm>
            <a:off x="838200" y="1002665"/>
            <a:ext cx="10514965" cy="5151755"/>
          </a:xfrm>
          <a:prstGeom prst="rect">
            <a:avLst/>
          </a:prstGeom>
          <a:noFill/>
          <a:ln w="0">
            <a:noFill/>
          </a:ln>
        </p:spPr>
        <p:txBody>
          <a:bodyPr lIns="91440" tIns="45720" rIns="91440" bIns="45720" anchor="t">
            <a:normAutofit fontScale="25000"/>
          </a:bodyPr>
          <a:p>
            <a:pPr marL="0" indent="0" algn="just" defTabSz="914400">
              <a:lnSpc>
                <a:spcPct val="90000"/>
              </a:lnSpc>
              <a:spcBef>
                <a:spcPts val="1000"/>
              </a:spcBef>
              <a:buClr>
                <a:srgbClr val="000000"/>
              </a:buClr>
              <a:buFont typeface="Arial" panose="020B0604020202020204"/>
              <a:buNone/>
            </a:pPr>
            <a:endParaRPr lang="en-US" altLang="en-US" sz="2400" b="1"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altLang="en-US" sz="6400" b="1" u="none" strike="noStrike">
                <a:solidFill>
                  <a:schemeClr val="dk1"/>
                </a:solidFill>
                <a:effectLst/>
                <a:uFillTx/>
                <a:latin typeface="Calibri" panose="020F0502020204030204"/>
              </a:rPr>
              <a:t>[1] Muhammad Azhar et al. (2026)—Explainable Transformer-Based Framework for Suicide Risk Detection: Deep Learning with Interpretability for Mental Health Crisis Identification (2026)— MDPI.. Journals &amp; Magazines, Information, Volume: 17</a:t>
            </a:r>
            <a:endParaRPr lang="en-US" sz="6400" b="1"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6400" b="1" u="none" strike="noStrike">
                <a:solidFill>
                  <a:schemeClr val="dk1"/>
                </a:solidFill>
                <a:effectLst/>
                <a:uFillTx/>
                <a:latin typeface="Calibri" panose="020F0502020204030204"/>
              </a:rPr>
              <a:t>[2]Pascal Penava et al</a:t>
            </a:r>
            <a:r>
              <a:rPr lang="en-US" sz="6400" b="0" u="none" strike="noStrike">
                <a:solidFill>
                  <a:schemeClr val="dk1"/>
                </a:solidFill>
                <a:effectLst/>
                <a:uFillTx/>
                <a:latin typeface="Calibri" panose="020F0502020204030204"/>
              </a:rPr>
              <a:t>.(2025)—Early-Stage Non-Severe Depression Detection Using a Novel CNNApproach on Resting-State EEG Data(2024)— IEEE.</a:t>
            </a:r>
            <a:r>
              <a:rPr altLang="en-US" sz="6400">
                <a:sym typeface="+mn-ea"/>
              </a:rPr>
              <a:t> (https://ieeexplore.ieee.org/document/10757418). </a:t>
            </a:r>
            <a:r>
              <a:rPr lang="en-US" altLang="en-US" sz="6400">
                <a:sym typeface="+mn-ea"/>
              </a:rPr>
              <a:t>Journals &amp; Magazines, IEEE Access, Volume: 12</a:t>
            </a:r>
            <a:endParaRPr lang="en-US" altLang="en-US" sz="6400">
              <a:sym typeface="+mn-ea"/>
            </a:endParaRPr>
          </a:p>
          <a:p>
            <a:pPr marL="228600" indent="-228600" algn="just" defTabSz="914400">
              <a:lnSpc>
                <a:spcPct val="90000"/>
              </a:lnSpc>
              <a:spcBef>
                <a:spcPts val="1000"/>
              </a:spcBef>
              <a:buClr>
                <a:srgbClr val="000000"/>
              </a:buClr>
              <a:buFont typeface="Arial" panose="020B0604020202020204"/>
              <a:buChar char="•"/>
            </a:pPr>
            <a:r>
              <a:rPr lang="en-IN" sz="6400" b="1" dirty="0">
                <a:sym typeface="+mn-ea"/>
              </a:rPr>
              <a:t>[</a:t>
            </a:r>
            <a:r>
              <a:rPr altLang="en-IN" sz="6400" b="1" dirty="0">
                <a:sym typeface="+mn-ea"/>
              </a:rPr>
              <a:t>3</a:t>
            </a:r>
            <a:r>
              <a:rPr lang="en-IN" sz="6400" b="1" dirty="0">
                <a:sym typeface="+mn-ea"/>
              </a:rPr>
              <a:t>]</a:t>
            </a:r>
            <a:r>
              <a:rPr lang="en-IN" sz="6400" dirty="0">
                <a:sym typeface="+mn-ea"/>
              </a:rPr>
              <a:t> </a:t>
            </a:r>
            <a:r>
              <a:rPr lang="en-IN" sz="6400" b="1" dirty="0">
                <a:sym typeface="+mn-ea"/>
              </a:rPr>
              <a:t>A. Vázquez-Rodríguez</a:t>
            </a:r>
            <a:r>
              <a:rPr lang="en-IN" sz="6400" dirty="0">
                <a:sym typeface="+mn-ea"/>
              </a:rPr>
              <a:t>, J. L. Hernández-Ramos, A. J. Jara, and A. F. </a:t>
            </a:r>
            <a:r>
              <a:rPr lang="en-IN" sz="6400" dirty="0" err="1">
                <a:sym typeface="+mn-ea"/>
              </a:rPr>
              <a:t>Skarmeta</a:t>
            </a:r>
            <a:r>
              <a:rPr lang="en-IN" sz="6400" dirty="0">
                <a:sym typeface="+mn-ea"/>
              </a:rPr>
              <a:t>, </a:t>
            </a:r>
            <a:r>
              <a:rPr lang="en-IN" sz="6400" b="1" dirty="0">
                <a:sym typeface="+mn-ea"/>
              </a:rPr>
              <a:t>"CNFP: Optimizing </a:t>
            </a:r>
            <a:r>
              <a:rPr altLang="en-IN" sz="6400" b="1" dirty="0">
                <a:sym typeface="+mn-ea"/>
              </a:rPr>
              <a:t>backend</a:t>
            </a:r>
            <a:r>
              <a:rPr lang="en-IN" sz="6400" b="1" dirty="0">
                <a:sym typeface="+mn-ea"/>
              </a:rPr>
              <a:t>-Native </a:t>
            </a:r>
            <a:r>
              <a:rPr altLang="en-IN" sz="6400" b="1" dirty="0">
                <a:sym typeface="+mn-ea"/>
              </a:rPr>
              <a:t>quantisation </a:t>
            </a:r>
            <a:r>
              <a:rPr lang="en-IN" sz="6400" b="1" dirty="0">
                <a:sym typeface="+mn-ea"/>
              </a:rPr>
              <a:t> Function Placement with Diffusion Models </a:t>
            </a:r>
            <a:r>
              <a:rPr altLang="en-IN" sz="6400" b="1" dirty="0">
                <a:sym typeface="+mn-ea"/>
              </a:rPr>
              <a:t>with proper optimisation</a:t>
            </a:r>
            <a:r>
              <a:rPr lang="en-IN" sz="6400" b="1" dirty="0">
                <a:sym typeface="+mn-ea"/>
              </a:rPr>
              <a:t>,"</a:t>
            </a:r>
            <a:r>
              <a:rPr lang="en-IN" sz="6400" dirty="0">
                <a:sym typeface="+mn-ea"/>
              </a:rPr>
              <a:t> </a:t>
            </a:r>
            <a:r>
              <a:rPr lang="en-IN" sz="6400" i="1" dirty="0" err="1">
                <a:sym typeface="+mn-ea"/>
              </a:rPr>
              <a:t>arXiv</a:t>
            </a:r>
            <a:r>
              <a:rPr lang="en-IN" sz="6400" i="1" dirty="0">
                <a:sym typeface="+mn-ea"/>
              </a:rPr>
              <a:t> preprint arXiv:2508.1</a:t>
            </a:r>
            <a:r>
              <a:rPr altLang="en-IN" sz="6400" i="1" dirty="0">
                <a:sym typeface="+mn-ea"/>
              </a:rPr>
              <a:t>12</a:t>
            </a:r>
            <a:r>
              <a:rPr lang="en-IN" sz="6400" i="1" dirty="0">
                <a:sym typeface="+mn-ea"/>
              </a:rPr>
              <a:t>65</a:t>
            </a:r>
            <a:r>
              <a:rPr lang="en-IN" sz="6400" dirty="0">
                <a:sym typeface="+mn-ea"/>
              </a:rPr>
              <a:t>, </a:t>
            </a:r>
            <a:r>
              <a:rPr lang="en-IN" sz="6400" b="1" dirty="0">
                <a:sym typeface="+mn-ea"/>
              </a:rPr>
              <a:t>202</a:t>
            </a:r>
            <a:r>
              <a:rPr altLang="en-IN" sz="6400" b="1" dirty="0">
                <a:sym typeface="+mn-ea"/>
              </a:rPr>
              <a:t>4</a:t>
            </a:r>
            <a:r>
              <a:rPr lang="en-IN" sz="6400" dirty="0">
                <a:sym typeface="+mn-ea"/>
              </a:rPr>
              <a:t>.</a:t>
            </a:r>
            <a:endParaRPr lang="en-IN" sz="6400" dirty="0"/>
          </a:p>
          <a:p>
            <a:pPr marL="228600" indent="-228600" algn="just" defTabSz="914400">
              <a:lnSpc>
                <a:spcPct val="90000"/>
              </a:lnSpc>
              <a:spcBef>
                <a:spcPts val="1000"/>
              </a:spcBef>
              <a:buClr>
                <a:srgbClr val="000000"/>
              </a:buClr>
              <a:buFont typeface="Arial" panose="020B0604020202020204"/>
              <a:buChar char="•"/>
            </a:pPr>
            <a:r>
              <a:rPr lang="en-IN" sz="6400" b="1" dirty="0">
                <a:sym typeface="+mn-ea"/>
              </a:rPr>
              <a:t>[</a:t>
            </a:r>
            <a:r>
              <a:rPr altLang="en-IN" sz="6400" b="1" dirty="0">
                <a:sym typeface="+mn-ea"/>
              </a:rPr>
              <a:t>4</a:t>
            </a:r>
            <a:r>
              <a:rPr lang="en-IN" sz="6400" b="1" dirty="0">
                <a:sym typeface="+mn-ea"/>
              </a:rPr>
              <a:t>]</a:t>
            </a:r>
            <a:r>
              <a:rPr lang="en-IN" sz="6400" dirty="0">
                <a:sym typeface="+mn-ea"/>
              </a:rPr>
              <a:t> </a:t>
            </a:r>
            <a:r>
              <a:rPr lang="en-IN" sz="6400" b="1" dirty="0">
                <a:sym typeface="+mn-ea"/>
              </a:rPr>
              <a:t>W. L. Hamilton</a:t>
            </a:r>
            <a:r>
              <a:rPr lang="en-IN" sz="6400" dirty="0">
                <a:sym typeface="+mn-ea"/>
              </a:rPr>
              <a:t>, R. Ying, and J. Leskovec, </a:t>
            </a:r>
            <a:r>
              <a:rPr lang="en-IN" sz="6400" b="1" dirty="0">
                <a:sym typeface="+mn-ea"/>
              </a:rPr>
              <a:t>"Inductive Re</a:t>
            </a:r>
            <a:r>
              <a:rPr altLang="en-IN" sz="6400" b="1" dirty="0">
                <a:sym typeface="+mn-ea"/>
              </a:rPr>
              <a:t>currence </a:t>
            </a:r>
            <a:r>
              <a:rPr lang="en-IN" sz="6400" b="1" dirty="0">
                <a:sym typeface="+mn-ea"/>
              </a:rPr>
              <a:t>Learning on </a:t>
            </a:r>
            <a:r>
              <a:rPr altLang="en-IN" sz="6400" b="1" dirty="0">
                <a:sym typeface="+mn-ea"/>
              </a:rPr>
              <a:t>Mental Health</a:t>
            </a:r>
            <a:r>
              <a:rPr lang="en-IN" sz="6400" b="1" dirty="0">
                <a:sym typeface="+mn-ea"/>
              </a:rPr>
              <a:t>,"</a:t>
            </a:r>
            <a:r>
              <a:rPr lang="en-IN" sz="6400" dirty="0">
                <a:sym typeface="+mn-ea"/>
              </a:rPr>
              <a:t> </a:t>
            </a:r>
            <a:r>
              <a:rPr lang="en-IN" sz="6400" i="1" dirty="0">
                <a:sym typeface="+mn-ea"/>
              </a:rPr>
              <a:t>Advances in </a:t>
            </a:r>
            <a:r>
              <a:rPr altLang="en-IN" sz="6400" i="1" dirty="0">
                <a:sym typeface="+mn-ea"/>
              </a:rPr>
              <a:t>MLOps </a:t>
            </a:r>
            <a:r>
              <a:rPr lang="en-IN" sz="6400" i="1" dirty="0">
                <a:sym typeface="+mn-ea"/>
              </a:rPr>
              <a:t> (</a:t>
            </a:r>
            <a:r>
              <a:rPr altLang="en-IN" sz="6400" i="1" dirty="0">
                <a:sym typeface="+mn-ea"/>
              </a:rPr>
              <a:t>Algorithms</a:t>
            </a:r>
            <a:r>
              <a:rPr lang="en-IN" sz="6400" i="1" dirty="0">
                <a:sym typeface="+mn-ea"/>
              </a:rPr>
              <a:t>)</a:t>
            </a:r>
            <a:r>
              <a:rPr lang="en-IN" sz="6400" dirty="0">
                <a:sym typeface="+mn-ea"/>
              </a:rPr>
              <a:t>, </a:t>
            </a:r>
            <a:r>
              <a:rPr lang="en-IN" sz="6400" b="1" dirty="0">
                <a:sym typeface="+mn-ea"/>
              </a:rPr>
              <a:t>Vol. 30</a:t>
            </a:r>
            <a:r>
              <a:rPr lang="en-IN" sz="6400" dirty="0">
                <a:sym typeface="+mn-ea"/>
              </a:rPr>
              <a:t>, </a:t>
            </a:r>
            <a:r>
              <a:rPr lang="en-IN" sz="6400" b="1" dirty="0">
                <a:sym typeface="+mn-ea"/>
              </a:rPr>
              <a:t>20</a:t>
            </a:r>
            <a:r>
              <a:rPr altLang="en-IN" sz="6400" b="1" dirty="0">
                <a:sym typeface="+mn-ea"/>
              </a:rPr>
              <a:t>23</a:t>
            </a:r>
            <a:r>
              <a:rPr lang="en-IN" sz="6400" dirty="0">
                <a:sym typeface="+mn-ea"/>
              </a:rPr>
              <a:t>.</a:t>
            </a:r>
            <a:endParaRPr lang="en-IN" sz="6400" dirty="0">
              <a:sym typeface="+mn-ea"/>
            </a:endParaRPr>
          </a:p>
          <a:p>
            <a:pPr marL="228600" indent="-228600" algn="just" defTabSz="914400">
              <a:lnSpc>
                <a:spcPct val="90000"/>
              </a:lnSpc>
              <a:spcBef>
                <a:spcPts val="1000"/>
              </a:spcBef>
              <a:buClr>
                <a:srgbClr val="000000"/>
              </a:buClr>
              <a:buFont typeface="Arial" panose="020B0604020202020204"/>
              <a:buChar char="•"/>
            </a:pPr>
            <a:r>
              <a:rPr lang="en-IN" sz="6400" b="1" dirty="0">
                <a:sym typeface="+mn-ea"/>
              </a:rPr>
              <a:t>[</a:t>
            </a:r>
            <a:r>
              <a:rPr altLang="en-IN" sz="6400" b="1" dirty="0">
                <a:sym typeface="+mn-ea"/>
              </a:rPr>
              <a:t>5</a:t>
            </a:r>
            <a:r>
              <a:rPr lang="en-IN" sz="6400" b="1" dirty="0">
                <a:sym typeface="+mn-ea"/>
              </a:rPr>
              <a:t>]</a:t>
            </a:r>
            <a:r>
              <a:rPr lang="en-IN" sz="6400" dirty="0">
                <a:sym typeface="+mn-ea"/>
              </a:rPr>
              <a:t> </a:t>
            </a:r>
            <a:r>
              <a:rPr lang="en-IN" sz="6400" b="1" dirty="0">
                <a:sym typeface="+mn-ea"/>
              </a:rPr>
              <a:t>I. Bello</a:t>
            </a:r>
            <a:r>
              <a:rPr lang="en-IN" sz="6400" dirty="0">
                <a:sym typeface="+mn-ea"/>
              </a:rPr>
              <a:t>, H. Pham, Q. V. Le, M. Norouzi, and S. Bengio, </a:t>
            </a:r>
            <a:r>
              <a:rPr lang="en-IN" sz="6400" b="1" dirty="0">
                <a:sym typeface="+mn-ea"/>
              </a:rPr>
              <a:t>"Neural Combinatorial Optimization with Reinforcement Learning,"</a:t>
            </a:r>
            <a:r>
              <a:rPr lang="en-IN" sz="6400" dirty="0">
                <a:sym typeface="+mn-ea"/>
              </a:rPr>
              <a:t> </a:t>
            </a:r>
            <a:r>
              <a:rPr lang="en-IN" sz="6400" i="1" dirty="0" err="1">
                <a:sym typeface="+mn-ea"/>
              </a:rPr>
              <a:t>arXiv</a:t>
            </a:r>
            <a:r>
              <a:rPr lang="en-IN" sz="6400" i="1" dirty="0">
                <a:sym typeface="+mn-ea"/>
              </a:rPr>
              <a:t> preprint arXiv:1611.09940</a:t>
            </a:r>
            <a:r>
              <a:rPr lang="en-IN" sz="6400" dirty="0">
                <a:sym typeface="+mn-ea"/>
              </a:rPr>
              <a:t>, </a:t>
            </a:r>
            <a:r>
              <a:rPr lang="en-IN" sz="6400" b="1" dirty="0">
                <a:sym typeface="+mn-ea"/>
              </a:rPr>
              <a:t>20</a:t>
            </a:r>
            <a:r>
              <a:rPr altLang="en-IN" sz="6400" b="1" dirty="0">
                <a:sym typeface="+mn-ea"/>
              </a:rPr>
              <a:t>21</a:t>
            </a:r>
            <a:r>
              <a:rPr lang="en-IN" sz="6400" dirty="0">
                <a:sym typeface="+mn-ea"/>
              </a:rPr>
              <a:t>.</a:t>
            </a:r>
            <a:r>
              <a:rPr altLang="en-US" sz="6400">
                <a:sym typeface="+mn-ea"/>
              </a:rPr>
              <a:t> </a:t>
            </a:r>
            <a:endParaRPr lang="en-US" altLang="en-US" sz="6400" b="0" u="none" strike="noStrike">
              <a:solidFill>
                <a:schemeClr val="dk1"/>
              </a:solidFill>
              <a:effectLst/>
              <a:uFillTx/>
              <a:latin typeface="Calibri" panose="020F0502020204030204"/>
              <a:sym typeface="+mn-ea"/>
            </a:endParaRPr>
          </a:p>
          <a:p>
            <a:pPr marL="228600" indent="-228600" algn="just" defTabSz="914400">
              <a:lnSpc>
                <a:spcPct val="90000"/>
              </a:lnSpc>
              <a:spcBef>
                <a:spcPts val="1000"/>
              </a:spcBef>
              <a:buClr>
                <a:srgbClr val="000000"/>
              </a:buClr>
              <a:buFont typeface="Arial" panose="020B0604020202020204"/>
              <a:buChar char="•"/>
            </a:pPr>
            <a:r>
              <a:rPr lang="en-US" altLang="en-US" sz="6400" b="1" u="none" strike="noStrike">
                <a:solidFill>
                  <a:schemeClr val="dk1"/>
                </a:solidFill>
                <a:effectLst/>
                <a:uFillTx/>
                <a:latin typeface="Calibri" panose="020F0502020204030204"/>
                <a:sym typeface="+mn-ea"/>
              </a:rPr>
              <a:t>[6]P. Penava and R. Buettne</a:t>
            </a:r>
            <a:r>
              <a:rPr lang="en-US" altLang="en-US" sz="6400" b="0" u="none" strike="noStrike">
                <a:solidFill>
                  <a:schemeClr val="dk1"/>
                </a:solidFill>
                <a:effectLst/>
                <a:uFillTx/>
                <a:latin typeface="Calibri" panose="020F0502020204030204"/>
                <a:sym typeface="+mn-ea"/>
              </a:rPr>
              <a:t>r, 'Early-Stage Non-Severe Depression Detection Using a Novel Convolutional Neural Network Approach Based on Resting-State EEG Data,' IEEE Access, vol. 12, pp. 173380-173389, 2024.</a:t>
            </a:r>
            <a:endParaRPr lang="en-US" altLang="en-US" sz="6400" b="0" u="none" strike="noStrike">
              <a:solidFill>
                <a:schemeClr val="dk1"/>
              </a:solidFill>
              <a:effectLst/>
              <a:uFillTx/>
              <a:latin typeface="Calibri" panose="020F0502020204030204"/>
              <a:sym typeface="+mn-ea"/>
            </a:endParaRPr>
          </a:p>
          <a:p>
            <a:pPr marL="228600" indent="-228600" algn="just" defTabSz="914400">
              <a:lnSpc>
                <a:spcPct val="90000"/>
              </a:lnSpc>
              <a:spcBef>
                <a:spcPts val="1000"/>
              </a:spcBef>
              <a:buClr>
                <a:srgbClr val="000000"/>
              </a:buClr>
              <a:buFont typeface="Arial" panose="020B0604020202020204"/>
              <a:buChar char="•"/>
            </a:pPr>
            <a:r>
              <a:rPr lang="en-US" altLang="en-US" sz="6400" b="1" u="none" strike="noStrike">
                <a:solidFill>
                  <a:schemeClr val="dk1"/>
                </a:solidFill>
                <a:effectLst/>
                <a:uFillTx/>
                <a:latin typeface="Calibri" panose="020F0502020204030204"/>
              </a:rPr>
              <a:t>[7] A. Dev et al</a:t>
            </a:r>
            <a:r>
              <a:rPr lang="en-US" altLang="en-US" sz="6400" b="0" u="none" strike="noStrike">
                <a:solidFill>
                  <a:schemeClr val="dk1"/>
                </a:solidFill>
                <a:effectLst/>
                <a:uFillTx/>
                <a:latin typeface="Calibri" panose="020F0502020204030204"/>
              </a:rPr>
              <a:t>., 'Exploration of EEG-based depression biomarkers identification techniques and their applications: A systematic review,' IEEE Access, vol. 10, pp. 16756-16781, 2022</a:t>
            </a:r>
            <a:endParaRPr lang="en-US" altLang="en-US" sz="6400" b="0" u="none" strike="noStrike">
              <a:solidFill>
                <a:schemeClr val="dk1"/>
              </a:solidFill>
              <a:effectLst/>
              <a:uFillTx/>
              <a:latin typeface="Calibri" panose="020F0502020204030204"/>
            </a:endParaRPr>
          </a:p>
          <a:p>
            <a:pPr marL="228600" indent="0" algn="just" defTabSz="914400">
              <a:lnSpc>
                <a:spcPct val="90000"/>
              </a:lnSpc>
              <a:spcBef>
                <a:spcPts val="1000"/>
              </a:spcBef>
              <a:buNone/>
            </a:pPr>
            <a:endParaRPr lang="en-US" altLang="en-US" sz="6400" b="0" u="none" strike="noStrike">
              <a:solidFill>
                <a:schemeClr val="dk1"/>
              </a:solidFill>
              <a:effectLst/>
              <a:uFillTx/>
              <a:latin typeface="Calibri" panose="020F0502020204030204"/>
            </a:endParaRPr>
          </a:p>
        </p:txBody>
      </p:sp>
      <p:sp>
        <p:nvSpPr>
          <p:cNvPr id="86" name="PlaceHolder 3"/>
          <p:cNvSpPr>
            <a:spLocks noGrp="1"/>
          </p:cNvSpPr>
          <p:nvPr>
            <p:ph type="dt" idx="38"/>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71450" y="320040"/>
            <a:ext cx="11791950" cy="5868035"/>
          </a:xfrm>
          <a:prstGeom prst="rect">
            <a:avLst/>
          </a:prstGeom>
          <a:noFill/>
        </p:spPr>
        <p:txBody>
          <a:bodyPr wrap="square" rtlCol="0">
            <a:noAutofit/>
          </a:bodyPr>
          <a:p>
            <a:endParaRPr lang="en-US"/>
          </a:p>
        </p:txBody>
      </p:sp>
      <p:graphicFrame>
        <p:nvGraphicFramePr>
          <p:cNvPr id="5" name="Table 4"/>
          <p:cNvGraphicFramePr/>
          <p:nvPr>
            <p:custDataLst>
              <p:tags r:id="rId1"/>
            </p:custDataLst>
          </p:nvPr>
        </p:nvGraphicFramePr>
        <p:xfrm>
          <a:off x="361950" y="327660"/>
          <a:ext cx="10452100" cy="6070600"/>
        </p:xfrm>
        <a:graphic>
          <a:graphicData uri="http://schemas.openxmlformats.org/drawingml/2006/table">
            <a:tbl>
              <a:tblPr/>
              <a:tblGrid>
                <a:gridCol w="2090420"/>
                <a:gridCol w="2090420"/>
                <a:gridCol w="2090420"/>
                <a:gridCol w="2090420"/>
                <a:gridCol w="2090420"/>
              </a:tblGrid>
              <a:tr h="441325">
                <a:tc>
                  <a:txBody>
                    <a:bodyPr/>
                    <a:p>
                      <a:r>
                        <a:rPr lang="en-US" altLang="zh-CN" sz="1600" b="1">
                          <a:solidFill>
                            <a:schemeClr val="tx1"/>
                          </a:solidFill>
                        </a:rPr>
                        <a:t>Author &amp; Year</a:t>
                      </a:r>
                      <a:endParaRPr lang="en-US" altLang="zh-CN" sz="1600" b="1">
                        <a:solidFill>
                          <a:schemeClr val="tx1"/>
                        </a:solidFill>
                      </a:endParaRPr>
                    </a:p>
                  </a:txBody>
                  <a:tcPr marL="0" marR="0" marT="0" marB="0" anchor="ctr" anchorCtr="0">
                    <a:lnL>
                      <a:noFill/>
                    </a:lnL>
                    <a:lnR>
                      <a:noFill/>
                    </a:lnR>
                    <a:lnT>
                      <a:noFill/>
                    </a:lnT>
                    <a:lnB>
                      <a:noFill/>
                    </a:lnB>
                    <a:noFill/>
                  </a:tcPr>
                </a:tc>
                <a:tc>
                  <a:txBody>
                    <a:bodyPr/>
                    <a:p>
                      <a:r>
                        <a:rPr lang="en-US" altLang="zh-CN" sz="1100"/>
                        <a:t>Work Done</a:t>
                      </a:r>
                      <a:endParaRPr lang="en-US" altLang="zh-CN" sz="1100"/>
                    </a:p>
                  </a:txBody>
                  <a:tcPr marL="0" marR="0" marT="0" marB="0" anchor="ctr" anchorCtr="0">
                    <a:lnL>
                      <a:noFill/>
                    </a:lnL>
                    <a:lnR>
                      <a:noFill/>
                    </a:lnR>
                    <a:lnT>
                      <a:noFill/>
                    </a:lnT>
                    <a:lnB>
                      <a:noFill/>
                    </a:lnB>
                    <a:noFill/>
                  </a:tcPr>
                </a:tc>
                <a:tc>
                  <a:txBody>
                    <a:bodyPr/>
                    <a:p>
                      <a:r>
                        <a:rPr lang="en-US" altLang="zh-CN" sz="1100"/>
                        <a:t>Advantages</a:t>
                      </a:r>
                      <a:endParaRPr lang="en-US" altLang="zh-CN" sz="1100"/>
                    </a:p>
                  </a:txBody>
                  <a:tcPr marL="0" marR="0" marT="0" marB="0" anchor="ctr" anchorCtr="0">
                    <a:lnL>
                      <a:noFill/>
                    </a:lnL>
                    <a:lnR>
                      <a:noFill/>
                    </a:lnR>
                    <a:lnT>
                      <a:noFill/>
                    </a:lnT>
                    <a:lnB>
                      <a:noFill/>
                    </a:lnB>
                    <a:noFill/>
                  </a:tcPr>
                </a:tc>
                <a:tc>
                  <a:txBody>
                    <a:bodyPr/>
                    <a:p>
                      <a:r>
                        <a:rPr lang="en-US" altLang="zh-CN" sz="1100"/>
                        <a:t>Limitations</a:t>
                      </a:r>
                      <a:endParaRPr lang="en-US" altLang="zh-CN" sz="1100"/>
                    </a:p>
                  </a:txBody>
                  <a:tcPr marL="0" marR="0" marT="0" marB="0" anchor="ctr" anchorCtr="0">
                    <a:lnL>
                      <a:noFill/>
                    </a:lnL>
                    <a:lnR>
                      <a:noFill/>
                    </a:lnR>
                    <a:lnT>
                      <a:noFill/>
                    </a:lnT>
                    <a:lnB>
                      <a:noFill/>
                    </a:lnB>
                    <a:noFill/>
                  </a:tcPr>
                </a:tc>
                <a:tc>
                  <a:txBody>
                    <a:bodyPr/>
                    <a:p>
                      <a:r>
                        <a:rPr lang="en-US" altLang="zh-CN" sz="1100"/>
                        <a:t>Comparison with Our Solution</a:t>
                      </a:r>
                      <a:endParaRPr lang="en-US" altLang="zh-CN" sz="1100"/>
                    </a:p>
                  </a:txBody>
                  <a:tcPr marL="0" marR="0" marT="0" marB="0" anchor="ctr" anchorCtr="0">
                    <a:lnL>
                      <a:noFill/>
                    </a:lnL>
                    <a:lnR>
                      <a:noFill/>
                    </a:lnR>
                    <a:lnT>
                      <a:noFill/>
                    </a:lnT>
                    <a:lnB>
                      <a:noFill/>
                    </a:lnB>
                    <a:noFill/>
                  </a:tcPr>
                </a:tc>
              </a:tr>
              <a:tr h="1164590">
                <a:tc>
                  <a:txBody>
                    <a:bodyPr/>
                    <a:p>
                      <a:r>
                        <a:rPr lang="en-US" altLang="zh-CN" sz="1100"/>
                        <a:t>Pascal Penava et al. (2024)</a:t>
                      </a:r>
                      <a:endParaRPr lang="en-US" altLang="zh-CN" sz="1100"/>
                    </a:p>
                  </a:txBody>
                  <a:tcPr marL="0" marR="0" marT="0" marB="0" anchor="ctr" anchorCtr="0">
                    <a:lnL>
                      <a:noFill/>
                    </a:lnL>
                    <a:lnR>
                      <a:noFill/>
                    </a:lnR>
                    <a:lnT>
                      <a:noFill/>
                    </a:lnT>
                    <a:lnB>
                      <a:noFill/>
                    </a:lnB>
                    <a:noFill/>
                  </a:tcPr>
                </a:tc>
                <a:tc>
                  <a:txBody>
                    <a:bodyPr/>
                    <a:p>
                      <a:r>
                        <a:rPr lang="en-US" altLang="zh-CN" sz="1100"/>
                        <a:t>1D CNN on resting-state EEG for mild depression detection</a:t>
                      </a:r>
                      <a:endParaRPr lang="en-US" altLang="zh-CN" sz="1100"/>
                    </a:p>
                  </a:txBody>
                  <a:tcPr marL="0" marR="0" marT="0" marB="0" anchor="ctr" anchorCtr="0">
                    <a:lnL>
                      <a:noFill/>
                    </a:lnL>
                    <a:lnR>
                      <a:noFill/>
                    </a:lnR>
                    <a:lnT>
                      <a:noFill/>
                    </a:lnT>
                    <a:lnB>
                      <a:noFill/>
                    </a:lnB>
                    <a:noFill/>
                  </a:tcPr>
                </a:tc>
                <a:tc>
                  <a:txBody>
                    <a:bodyPr/>
                    <a:p>
                      <a:r>
                        <a:rPr lang="en-US" altLang="zh-CN" sz="1100"/>
                        <a:t>Good accuracy (69.21%), low compute &amp; fast inference</a:t>
                      </a:r>
                      <a:endParaRPr lang="en-US" altLang="zh-CN" sz="1100"/>
                    </a:p>
                  </a:txBody>
                  <a:tcPr marL="0" marR="0" marT="0" marB="0" anchor="ctr" anchorCtr="0">
                    <a:lnL>
                      <a:noFill/>
                    </a:lnL>
                    <a:lnR>
                      <a:noFill/>
                    </a:lnR>
                    <a:lnT>
                      <a:noFill/>
                    </a:lnT>
                    <a:lnB>
                      <a:noFill/>
                    </a:lnB>
                    <a:noFill/>
                  </a:tcPr>
                </a:tc>
                <a:tc>
                  <a:txBody>
                    <a:bodyPr/>
                    <a:p>
                      <a:r>
                        <a:rPr lang="en-US" altLang="zh-CN" sz="1100"/>
                        <a:t>EEG-only (needs hardware); no explainability; not suicide-focused; no deployment/privacy</a:t>
                      </a:r>
                      <a:endParaRPr lang="en-US" altLang="zh-CN" sz="1100"/>
                    </a:p>
                  </a:txBody>
                  <a:tcPr marL="0" marR="0" marT="0" marB="0" anchor="ctr" anchorCtr="0">
                    <a:lnL>
                      <a:noFill/>
                    </a:lnL>
                    <a:lnR>
                      <a:noFill/>
                    </a:lnR>
                    <a:lnT>
                      <a:noFill/>
                    </a:lnT>
                    <a:lnB>
                      <a:noFill/>
                    </a:lnB>
                    <a:noFill/>
                  </a:tcPr>
                </a:tc>
                <a:tc>
                  <a:txBody>
                    <a:bodyPr/>
                    <a:p>
                      <a:r>
                        <a:rPr lang="en-US" altLang="zh-CN" sz="1100"/>
                        <a:t>Our text-based + XAI + MLOps + on-device DPDP compliant approach is more accessible</a:t>
                      </a:r>
                      <a:endParaRPr lang="en-US" altLang="zh-CN" sz="1100"/>
                    </a:p>
                  </a:txBody>
                  <a:tcPr marL="0" marR="0" marT="0" marB="0" anchor="ctr" anchorCtr="0">
                    <a:lnL>
                      <a:noFill/>
                    </a:lnL>
                    <a:lnR>
                      <a:noFill/>
                    </a:lnR>
                    <a:lnT>
                      <a:noFill/>
                    </a:lnT>
                    <a:lnB>
                      <a:noFill/>
                    </a:lnB>
                    <a:noFill/>
                  </a:tcPr>
                </a:tc>
              </a:tr>
              <a:tr h="1359535">
                <a:tc>
                  <a:txBody>
                    <a:bodyPr/>
                    <a:p>
                      <a:r>
                        <a:rPr lang="en-US" altLang="zh-CN" sz="1100"/>
                        <a:t>Shaoxiong Ji et al. (2022)</a:t>
                      </a:r>
                      <a:endParaRPr lang="en-US" altLang="zh-CN" sz="1100"/>
                    </a:p>
                  </a:txBody>
                  <a:tcPr marL="0" marR="0" marT="0" marB="0" anchor="ctr" anchorCtr="0">
                    <a:lnL>
                      <a:noFill/>
                    </a:lnL>
                    <a:lnR>
                      <a:noFill/>
                    </a:lnR>
                    <a:lnT>
                      <a:noFill/>
                    </a:lnT>
                    <a:lnB>
                      <a:noFill/>
                    </a:lnB>
                    <a:noFill/>
                  </a:tcPr>
                </a:tc>
                <a:tc>
                  <a:txBody>
                    <a:bodyPr/>
                    <a:p>
                      <a:r>
                        <a:rPr lang="en-US" altLang="zh-CN" sz="1100"/>
                        <a:t>Pretrained MentalBERT + fine-tuning on mental health text</a:t>
                      </a:r>
                      <a:endParaRPr lang="en-US" altLang="zh-CN" sz="1100"/>
                    </a:p>
                  </a:txBody>
                  <a:tcPr marL="0" marR="0" marT="0" marB="0" anchor="ctr" anchorCtr="0">
                    <a:lnL>
                      <a:noFill/>
                    </a:lnL>
                    <a:lnR>
                      <a:noFill/>
                    </a:lnR>
                    <a:lnT>
                      <a:noFill/>
                    </a:lnT>
                    <a:lnB>
                      <a:noFill/>
                    </a:lnB>
                    <a:noFill/>
                  </a:tcPr>
                </a:tc>
                <a:tc>
                  <a:txBody>
                    <a:bodyPr/>
                    <a:p>
                      <a:r>
                        <a:rPr lang="en-US" altLang="zh-CN" sz="1100"/>
                        <a:t>Strong domain-specific performance</a:t>
                      </a:r>
                      <a:endParaRPr lang="en-US" altLang="zh-CN" sz="1100"/>
                    </a:p>
                  </a:txBody>
                  <a:tcPr marL="0" marR="0" marT="0" marB="0" anchor="ctr" anchorCtr="0">
                    <a:lnL>
                      <a:noFill/>
                    </a:lnL>
                    <a:lnR>
                      <a:noFill/>
                    </a:lnR>
                    <a:lnT>
                      <a:noFill/>
                    </a:lnT>
                    <a:lnB>
                      <a:noFill/>
                    </a:lnB>
                    <a:noFill/>
                  </a:tcPr>
                </a:tc>
                <a:tc>
                  <a:txBody>
                    <a:bodyPr/>
                    <a:p>
                      <a:r>
                        <a:rPr lang="en-US" altLang="zh-CN" sz="1100"/>
                        <a:t>Black-box; no explainability or deployment focus</a:t>
                      </a:r>
                      <a:endParaRPr lang="en-US" altLang="zh-CN" sz="1100"/>
                    </a:p>
                  </a:txBody>
                  <a:tcPr marL="0" marR="0" marT="0" marB="0" anchor="ctr" anchorCtr="0">
                    <a:lnL>
                      <a:noFill/>
                    </a:lnL>
                    <a:lnR>
                      <a:noFill/>
                    </a:lnR>
                    <a:lnT>
                      <a:noFill/>
                    </a:lnT>
                    <a:lnB>
                      <a:noFill/>
                    </a:lnB>
                    <a:noFill/>
                  </a:tcPr>
                </a:tc>
                <a:tc>
                  <a:txBody>
                    <a:bodyPr/>
                    <a:p>
                      <a:r>
                        <a:rPr lang="en-US" altLang="zh-CN" sz="1100"/>
                        <a:t>Builds on MentalBERT + adds SHAP, Attention, MLOps &amp; privacy</a:t>
                      </a:r>
                      <a:endParaRPr lang="en-US" altLang="zh-CN" sz="1100"/>
                    </a:p>
                  </a:txBody>
                  <a:tcPr marL="0" marR="0" marT="0" marB="0" anchor="ctr" anchorCtr="0">
                    <a:lnL>
                      <a:noFill/>
                    </a:lnL>
                    <a:lnR>
                      <a:noFill/>
                    </a:lnR>
                    <a:lnT>
                      <a:noFill/>
                    </a:lnT>
                    <a:lnB>
                      <a:noFill/>
                    </a:lnB>
                    <a:noFill/>
                  </a:tcPr>
                </a:tc>
              </a:tr>
              <a:tr h="1358265">
                <a:tc>
                  <a:txBody>
                    <a:bodyPr/>
                    <a:p>
                      <a:r>
                        <a:rPr lang="en-US" altLang="zh-CN" sz="1100"/>
                        <a:t>Matthew Matero et al. (2019)</a:t>
                      </a:r>
                      <a:endParaRPr lang="en-US" altLang="zh-CN" sz="1100"/>
                    </a:p>
                  </a:txBody>
                  <a:tcPr marL="0" marR="0" marT="0" marB="0" anchor="ctr" anchorCtr="0">
                    <a:lnL>
                      <a:noFill/>
                    </a:lnL>
                    <a:lnR>
                      <a:noFill/>
                    </a:lnR>
                    <a:lnT>
                      <a:noFill/>
                    </a:lnT>
                    <a:lnB>
                      <a:noFill/>
                    </a:lnB>
                    <a:noFill/>
                  </a:tcPr>
                </a:tc>
                <a:tc>
                  <a:txBody>
                    <a:bodyPr/>
                    <a:p>
                      <a:r>
                        <a:rPr lang="en-US" altLang="zh-CN" sz="1100"/>
                        <a:t>Dual-context BERT (post + history) for suicide risk</a:t>
                      </a:r>
                      <a:endParaRPr lang="en-US" altLang="zh-CN" sz="1100"/>
                    </a:p>
                  </a:txBody>
                  <a:tcPr marL="0" marR="0" marT="0" marB="0" anchor="ctr" anchorCtr="0">
                    <a:lnL>
                      <a:noFill/>
                    </a:lnL>
                    <a:lnR>
                      <a:noFill/>
                    </a:lnR>
                    <a:lnT>
                      <a:noFill/>
                    </a:lnT>
                    <a:lnB>
                      <a:noFill/>
                    </a:lnB>
                    <a:noFill/>
                  </a:tcPr>
                </a:tc>
                <a:tc>
                  <a:txBody>
                    <a:bodyPr/>
                    <a:p>
                      <a:r>
                        <a:rPr lang="en-US" altLang="zh-CN" sz="1100"/>
                        <a:t>Better context via user history</a:t>
                      </a:r>
                      <a:endParaRPr lang="en-US" altLang="zh-CN" sz="1100"/>
                    </a:p>
                  </a:txBody>
                  <a:tcPr marL="0" marR="0" marT="0" marB="0" anchor="ctr" anchorCtr="0">
                    <a:lnL>
                      <a:noFill/>
                    </a:lnL>
                    <a:lnR>
                      <a:noFill/>
                    </a:lnR>
                    <a:lnT>
                      <a:noFill/>
                    </a:lnT>
                    <a:lnB>
                      <a:noFill/>
                    </a:lnB>
                    <a:noFill/>
                  </a:tcPr>
                </a:tc>
                <a:tc>
                  <a:txBody>
                    <a:bodyPr/>
                    <a:p>
                      <a:r>
                        <a:rPr lang="en-US" altLang="zh-CN" sz="1100"/>
                        <a:t>Black-box; limited interpretability &amp; deployment</a:t>
                      </a:r>
                      <a:endParaRPr lang="en-US" altLang="zh-CN" sz="1100"/>
                    </a:p>
                  </a:txBody>
                  <a:tcPr marL="0" marR="0" marT="0" marB="0" anchor="ctr" anchorCtr="0">
                    <a:lnL>
                      <a:noFill/>
                    </a:lnL>
                    <a:lnR>
                      <a:noFill/>
                    </a:lnR>
                    <a:lnT>
                      <a:noFill/>
                    </a:lnT>
                    <a:lnB>
                      <a:noFill/>
                    </a:lnB>
                    <a:noFill/>
                  </a:tcPr>
                </a:tc>
                <a:tc>
                  <a:txBody>
                    <a:bodyPr/>
                    <a:p>
                      <a:r>
                        <a:rPr lang="en-US" altLang="zh-CN" sz="1100"/>
                        <a:t>Enhanced with modern XAI + production MLOps + on-device inference</a:t>
                      </a:r>
                      <a:endParaRPr lang="en-US" altLang="zh-CN" sz="1100"/>
                    </a:p>
                  </a:txBody>
                  <a:tcPr marL="0" marR="0" marT="0" marB="0" anchor="ctr" anchorCtr="0">
                    <a:lnL>
                      <a:noFill/>
                    </a:lnL>
                    <a:lnR>
                      <a:noFill/>
                    </a:lnR>
                    <a:lnT>
                      <a:noFill/>
                    </a:lnT>
                    <a:lnB>
                      <a:noFill/>
                    </a:lnB>
                    <a:noFill/>
                  </a:tcPr>
                </a:tc>
              </a:tr>
              <a:tr h="1746885">
                <a:tc>
                  <a:txBody>
                    <a:bodyPr/>
                    <a:p>
                      <a:r>
                        <a:rPr lang="en-US" altLang="zh-CN" sz="1100"/>
                        <a:t>Hao Tang et al. (2023)</a:t>
                      </a:r>
                      <a:endParaRPr lang="en-US" altLang="zh-CN" sz="1100"/>
                    </a:p>
                  </a:txBody>
                  <a:tcPr marL="0" marR="0" marT="0" marB="0" anchor="ctr" anchorCtr="0">
                    <a:lnL>
                      <a:noFill/>
                    </a:lnL>
                    <a:lnR>
                      <a:noFill/>
                    </a:lnR>
                    <a:lnT>
                      <a:noFill/>
                    </a:lnT>
                    <a:lnB>
                      <a:noFill/>
                    </a:lnB>
                    <a:noFill/>
                  </a:tcPr>
                </a:tc>
                <a:tc>
                  <a:txBody>
                    <a:bodyPr/>
                    <a:p>
                      <a:r>
                        <a:rPr lang="en-US" altLang="zh-CN" sz="1100"/>
                        <a:t>XGBoost + SHAP for suicide risk features</a:t>
                      </a:r>
                      <a:endParaRPr lang="en-US" altLang="zh-CN" sz="1100"/>
                    </a:p>
                  </a:txBody>
                  <a:tcPr marL="0" marR="0" marT="0" marB="0" anchor="ctr" anchorCtr="0">
                    <a:lnL>
                      <a:noFill/>
                    </a:lnL>
                    <a:lnR>
                      <a:noFill/>
                    </a:lnR>
                    <a:lnT>
                      <a:noFill/>
                    </a:lnT>
                    <a:lnB>
                      <a:noFill/>
                    </a:lnB>
                    <a:noFill/>
                  </a:tcPr>
                </a:tc>
                <a:tc>
                  <a:txBody>
                    <a:bodyPr/>
                    <a:p>
                      <a:r>
                        <a:rPr lang="en-US" altLang="zh-CN" sz="1100"/>
                        <a:t>Interpretable using SHAP</a:t>
                      </a:r>
                      <a:endParaRPr lang="en-US" altLang="zh-CN" sz="1100"/>
                    </a:p>
                  </a:txBody>
                  <a:tcPr marL="0" marR="0" marT="0" marB="0" anchor="ctr" anchorCtr="0">
                    <a:lnL>
                      <a:noFill/>
                    </a:lnL>
                    <a:lnR>
                      <a:noFill/>
                    </a:lnR>
                    <a:lnT>
                      <a:noFill/>
                    </a:lnT>
                    <a:lnB>
                      <a:noFill/>
                    </a:lnB>
                    <a:noFill/>
                  </a:tcPr>
                </a:tc>
                <a:tc>
                  <a:txBody>
                    <a:bodyPr/>
                    <a:p>
                      <a:r>
                        <a:rPr lang="en-US" altLang="zh-CN" sz="1100"/>
                        <a:t>Traditional ML (weaker on text); poor deployment</a:t>
                      </a:r>
                      <a:endParaRPr lang="en-US" altLang="zh-CN" sz="1100"/>
                    </a:p>
                  </a:txBody>
                  <a:tcPr marL="0" marR="0" marT="0" marB="0" anchor="ctr" anchorCtr="0">
                    <a:lnL>
                      <a:noFill/>
                    </a:lnL>
                    <a:lnR>
                      <a:noFill/>
                    </a:lnR>
                    <a:lnT>
                      <a:noFill/>
                    </a:lnT>
                    <a:lnB>
                      <a:noFill/>
                    </a:lnB>
                    <a:noFill/>
                  </a:tcPr>
                </a:tc>
                <a:tc>
                  <a:txBody>
                    <a:bodyPr/>
                    <a:p>
                      <a:r>
                        <a:rPr lang="en-US" altLang="zh-CN" sz="1100"/>
                        <a:t>Advanced with BERT + multiple XAI + full MLOps + on-device optimization</a:t>
                      </a:r>
                      <a:endParaRPr lang="en-US" altLang="zh-CN" sz="11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838080" y="365040"/>
            <a:ext cx="10515240" cy="776880"/>
          </a:xfrm>
          <a:prstGeom prst="rect">
            <a:avLst/>
          </a:prstGeom>
          <a:noFill/>
          <a:ln w="0">
            <a:noFill/>
          </a:ln>
        </p:spPr>
        <p:txBody>
          <a:bodyPr lIns="91440" tIns="45720" rIns="91440" bIns="45720" anchor="ctr">
            <a:noAutofit/>
          </a:bodyPr>
          <a:p>
            <a:pPr indent="0" algn="l" defTabSz="914400">
              <a:lnSpc>
                <a:spcPct val="90000"/>
              </a:lnSpc>
              <a:buNone/>
            </a:pPr>
            <a:r>
              <a:rPr lang="en-IN" sz="3600" b="1" u="none" strike="noStrike">
                <a:solidFill>
                  <a:schemeClr val="dk1"/>
                </a:solidFill>
                <a:effectLst/>
                <a:uFillTx/>
                <a:latin typeface="Times New Roman" panose="02020603050405020304"/>
              </a:rPr>
              <a:t>Conclusion:</a:t>
            </a:r>
            <a:endParaRPr lang="en-US" sz="3600" b="0" u="none" strike="noStrike">
              <a:solidFill>
                <a:schemeClr val="dk1"/>
              </a:solidFill>
              <a:effectLst/>
              <a:uFillTx/>
              <a:latin typeface="Calibri Light" panose="020F0302020204030204"/>
            </a:endParaRPr>
          </a:p>
        </p:txBody>
      </p:sp>
      <p:sp>
        <p:nvSpPr>
          <p:cNvPr id="88" name="PlaceHolder 2"/>
          <p:cNvSpPr>
            <a:spLocks noGrp="1"/>
          </p:cNvSpPr>
          <p:nvPr>
            <p:ph/>
          </p:nvPr>
        </p:nvSpPr>
        <p:spPr>
          <a:xfrm>
            <a:off x="838080" y="1214280"/>
            <a:ext cx="10515240" cy="4519440"/>
          </a:xfrm>
          <a:prstGeom prst="rect">
            <a:avLst/>
          </a:prstGeom>
          <a:noFill/>
          <a:ln w="0">
            <a:noFill/>
          </a:ln>
        </p:spPr>
        <p:txBody>
          <a:bodyPr lIns="91440" tIns="45720" rIns="91440" bIns="45720" anchor="t">
            <a:normAutofit/>
          </a:bodyPr>
          <a:p>
            <a:pPr indent="0" algn="just" defTabSz="914400">
              <a:lnSpc>
                <a:spcPct val="90000"/>
              </a:lnSpc>
              <a:spcBef>
                <a:spcPts val="1190"/>
              </a:spcBef>
              <a:spcAft>
                <a:spcPts val="990"/>
              </a:spcAft>
              <a:buNone/>
              <a:tabLst>
                <a:tab pos="0" algn="l"/>
              </a:tabLst>
            </a:pPr>
            <a:r>
              <a:rPr lang="en-US" sz="2400" b="0" u="none" strike="noStrike">
                <a:solidFill>
                  <a:schemeClr val="dk1"/>
                </a:solidFill>
                <a:effectLst/>
                <a:uFillTx/>
                <a:latin typeface="Calibri" panose="020F0502020204030204"/>
              </a:rPr>
              <a:t>This project presents an early-stage (approximately 30–40% complete) prototype for suicide risk prediction built on a BERT backbone with a basic attention-based explainability layer. The current build establishes the end-to-end pipeline — model architecture, inference flow, and a working FastAPI and Streamlit interface — but the classification head is untrained, so no clinical accuracy figure can be claimed yet. The reverse-engineering component completed so far is limited to simple attention-based token importance; deeper explainability methods such as SHAP, BertViz, and TCAV are planned but not yet implemented. Future work includes fine-tuning on labeled clinical datasets, completing the XAI and MLOps tooling (MLflow, Optuna), and optimizing the model for on-device deployment (ONNX/TFLite) with proper clinical validation before this can serve as a genuine decision-support tool.</a:t>
            </a:r>
            <a:endParaRPr lang="en-US" sz="24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ags/tag1.xml><?xml version="1.0" encoding="utf-8"?>
<p:tagLst xmlns:p="http://schemas.openxmlformats.org/presentationml/2006/main">
  <p:tag name="TABLE_ENDDRAG_ORIGIN_RECT" val="938*415"/>
  <p:tag name="TABLE_ENDDRAG_RECT" val="5*49*938*415"/>
</p:tagLst>
</file>

<file path=ppt/tags/tag2.xml><?xml version="1.0" encoding="utf-8"?>
<p:tagLst xmlns:p="http://schemas.openxmlformats.org/presentationml/2006/main">
  <p:tag name="TABLE_ENDDRAG_ORIGIN_RECT" val="823*458"/>
  <p:tag name="TABLE_ENDDRAG_RECT" val="28*25*823*458"/>
</p:tagLst>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0</TotalTime>
  <Words>11051</Words>
  <Application>WPS Presentation</Application>
  <PresentationFormat/>
  <Paragraphs>298</Paragraphs>
  <Slides>15</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15</vt:i4>
      </vt:variant>
    </vt:vector>
  </HeadingPairs>
  <TitlesOfParts>
    <vt:vector size="27" baseType="lpstr">
      <vt:lpstr>Arial</vt:lpstr>
      <vt:lpstr>SimSun</vt:lpstr>
      <vt:lpstr>Wingdings</vt:lpstr>
      <vt:lpstr>Calibri Light</vt:lpstr>
      <vt:lpstr>Times New Roman</vt:lpstr>
      <vt:lpstr>Calibri</vt:lpstr>
      <vt:lpstr>Arial</vt:lpstr>
      <vt:lpstr>Canva Sans Bold</vt:lpstr>
      <vt:lpstr>Segoe Print</vt:lpstr>
      <vt:lpstr>Microsoft YaHei</vt:lpstr>
      <vt:lpstr>Arial Unicode MS</vt:lpstr>
      <vt:lpstr>Office Theme</vt:lpstr>
      <vt:lpstr>   </vt:lpstr>
      <vt:lpstr>.</vt:lpstr>
      <vt:lpstr>EXISTING PROBLEM :</vt:lpstr>
      <vt:lpstr>PROPOSED SOLUTION : </vt:lpstr>
      <vt:lpstr>Block Diagram:</vt:lpstr>
      <vt:lpstr>Tools Used:</vt:lpstr>
      <vt:lpstr>PowerPoint 演示文稿</vt:lpstr>
      <vt:lpstr>SYSTEM ARCHITECTURE:</vt:lpstr>
      <vt:lpstr>LIVE DEMO: RISK PREDICTION OUTPUT</vt:lpstr>
      <vt:lpstr>DEMO: MULTI-LAYER EXPLAINABILITY</vt:lpstr>
      <vt:lpstr>LITERATURE ANALYSIS:</vt:lpstr>
      <vt:lpstr>Research Limitations:</vt:lpstr>
      <vt:lpstr>References:</vt:lpstr>
      <vt:lpstr>PowerPoint 演示文稿</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Welcome</dc:creator>
  <cp:lastModifiedBy>Sridhar.M</cp:lastModifiedBy>
  <cp:revision>193</cp:revision>
  <dcterms:created xsi:type="dcterms:W3CDTF">2006-08-16T00:00:00Z</dcterms:created>
  <dcterms:modified xsi:type="dcterms:W3CDTF">2026-08-14T04:29:29Z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0x01010098F1BCB14E108D43AB233A31F986D556</vt:lpwstr>
  </property>
  <property fmtid="{D5CDD505-2E9C-101B-9397-08002B2CF9AE}" pid="3" name="ICV">
    <vt:lpwstr>A8DBCEEB74754D05978AC06D020167D9_13</vt:lpwstr>
  </property>
  <property fmtid="{D5CDD505-2E9C-101B-9397-08002B2CF9AE}" pid="4" name="KSOProductBuildVer">
    <vt:lpwstr>1033-12.1.0.28032</vt:lpwstr>
  </property>
  <property fmtid="{D5CDD505-2E9C-101B-9397-08002B2CF9AE}" pid="5" name="PresentationFormat">
    <vt:lpwstr>Widescreen</vt:lpwstr>
  </property>
  <property fmtid="{D5CDD505-2E9C-101B-9397-08002B2CF9AE}" pid="6" name="Slides">
    <vt:i4>13</vt:i4>
  </property>
</Properties>
</file>