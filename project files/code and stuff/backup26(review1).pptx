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7" r:id="rId4"/>
    <p:sldId id="258" r:id="rId5"/>
    <p:sldId id="260" r:id="rId6"/>
    <p:sldId id="261" r:id="rId7"/>
    <p:sldId id="262" r:id="rId8"/>
    <p:sldId id="270" r:id="rId9"/>
    <p:sldId id="271" r:id="rId10"/>
    <p:sldId id="267" r:id="rId11"/>
    <p:sldId id="264" r:id="rId13"/>
    <p:sldId id="265" r:id="rId14"/>
    <p:sldId id="269" r:id="rId15"/>
    <p:sldId id="266" r:id="rId16"/>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Explainability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SHAP, BertViz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PyTorch, HuggingFace Transformers (BERT)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Model 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Backend Framework</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FastAPI, Uvicorn, Pydantic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TFLite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Frontend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Streamlit, Plotly, Pandas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&amp; Containerization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 Docker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panose="020F0502020204030204"/>
              </a:rPr>
              <a:t>Current build: architecture complete, classifier head untrained — no measured accuracy yet. Chart below shows project targets, not results.</a:t>
            </a:r>
            <a:endParaRPr sz="1500" i="1">
              <a:solidFill>
                <a:srgbClr val="6E6E6E"/>
              </a:solidFill>
              <a:latin typeface="Calibri" panose="020F0502020204030204"/>
            </a:endParaRP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1500" b="1">
                <a:solidFill>
                  <a:srgbClr val="2E7D32"/>
                </a:solidFill>
                <a:latin typeface="Calibri" panose="020F0502020204030204"/>
              </a:rPr>
              <a:t>✓  Project structure &amp; config</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BERT backbone + classifier head</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Inference pipeline &amp; CLI</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Attention-based explainability (basic)</a:t>
            </a:r>
            <a:endParaRPr sz="1500" b="1">
              <a:solidFill>
                <a:srgbClr val="2E7D32"/>
              </a:solidFill>
              <a:latin typeface="Calibri" panose="020F0502020204030204"/>
            </a:endParaRPr>
          </a:p>
          <a:p>
            <a:pPr>
              <a:spcBef>
                <a:spcPts val="800"/>
              </a:spcBef>
            </a:pPr>
            <a:r>
              <a:rPr sz="1500" b="0">
                <a:solidFill>
                  <a:srgbClr val="B00000"/>
                </a:solidFill>
                <a:latin typeface="Calibri" panose="020F0502020204030204"/>
              </a:rPr>
              <a:t>✗  Fine-tuning on labeled risk data</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SHAP / TCAV / probing</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Model compression (ONNX / TFLite)</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Clinical validation</a:t>
            </a:r>
            <a:endParaRPr sz="15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sz="1100"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200" y="1002665"/>
            <a:ext cx="10514965" cy="5151755"/>
          </a:xfrm>
          <a:prstGeom prst="rect">
            <a:avLst/>
          </a:prstGeom>
          <a:noFill/>
          <a:ln w="0">
            <a:noFill/>
          </a:ln>
        </p:spPr>
        <p:txBody>
          <a:bodyPr lIns="91440" tIns="45720" rIns="91440" bIns="45720" anchor="t">
            <a:normAutofit fontScale="25000"/>
          </a:bodyPr>
          <a:p>
            <a:pPr marL="0" indent="0" algn="just" defTabSz="914400">
              <a:lnSpc>
                <a:spcPct val="90000"/>
              </a:lnSpc>
              <a:spcBef>
                <a:spcPts val="1000"/>
              </a:spcBef>
              <a:buClr>
                <a:srgbClr val="000000"/>
              </a:buClr>
              <a:buFont typeface="Arial" panose="020B0604020202020204"/>
              <a:buNone/>
            </a:pPr>
            <a:endParaRPr lang="en-US" altLang="en-US" sz="2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6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6400" b="1" u="none" strike="noStrike">
                <a:solidFill>
                  <a:schemeClr val="dk1"/>
                </a:solidFill>
                <a:effectLst/>
                <a:uFillTx/>
                <a:latin typeface="Calibri" panose="020F0502020204030204"/>
              </a:rPr>
              <a:t>[2]Pascal Penava et al</a:t>
            </a:r>
            <a:r>
              <a:rPr lang="en-US" sz="6400" b="0" u="none" strike="noStrike">
                <a:solidFill>
                  <a:schemeClr val="dk1"/>
                </a:solidFill>
                <a:effectLst/>
                <a:uFillTx/>
                <a:latin typeface="Calibri" panose="020F0502020204030204"/>
              </a:rPr>
              <a:t>.(2025)—Early-Stage Non-Severe Depression Detection Using a Novel CNNApproach on Resting-State EEG Data(2024)— IEEE.</a:t>
            </a:r>
            <a:r>
              <a:rPr altLang="en-US" sz="6400">
                <a:sym typeface="+mn-ea"/>
              </a:rPr>
              <a:t> (https://ieeexplore.ieee.org/document/10757418). </a:t>
            </a:r>
            <a:r>
              <a:rPr lang="en-US" altLang="en-US" sz="6400">
                <a:sym typeface="+mn-ea"/>
              </a:rPr>
              <a:t>Journals &amp; Magazines, IEEE Access, Volume: 12</a:t>
            </a:r>
            <a:endParaRPr lang="en-US" altLang="en-US" sz="640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3</a:t>
            </a:r>
            <a:r>
              <a:rPr lang="en-IN" sz="6400" b="1" dirty="0">
                <a:sym typeface="+mn-ea"/>
              </a:rPr>
              <a:t>]</a:t>
            </a:r>
            <a:r>
              <a:rPr lang="en-IN" sz="6400" dirty="0">
                <a:sym typeface="+mn-ea"/>
              </a:rPr>
              <a:t> </a:t>
            </a:r>
            <a:r>
              <a:rPr lang="en-IN" sz="6400" b="1" dirty="0">
                <a:sym typeface="+mn-ea"/>
              </a:rPr>
              <a:t>A. Vázquez-Rodríguez</a:t>
            </a:r>
            <a:r>
              <a:rPr lang="en-IN" sz="6400" dirty="0">
                <a:sym typeface="+mn-ea"/>
              </a:rPr>
              <a:t>, J. L. Hernández-Ramos, A. J. Jara, and A. F. </a:t>
            </a:r>
            <a:r>
              <a:rPr lang="en-IN" sz="6400" dirty="0" err="1">
                <a:sym typeface="+mn-ea"/>
              </a:rPr>
              <a:t>Skarmeta</a:t>
            </a:r>
            <a:r>
              <a:rPr lang="en-IN" sz="6400" dirty="0">
                <a:sym typeface="+mn-ea"/>
              </a:rPr>
              <a:t>, </a:t>
            </a:r>
            <a:r>
              <a:rPr lang="en-IN" sz="6400" b="1" dirty="0">
                <a:sym typeface="+mn-ea"/>
              </a:rPr>
              <a:t>"CNFP: Optimizing </a:t>
            </a:r>
            <a:r>
              <a:rPr altLang="en-IN" sz="6400" b="1" dirty="0">
                <a:sym typeface="+mn-ea"/>
              </a:rPr>
              <a:t>backend</a:t>
            </a:r>
            <a:r>
              <a:rPr lang="en-IN" sz="6400" b="1" dirty="0">
                <a:sym typeface="+mn-ea"/>
              </a:rPr>
              <a:t>-Native </a:t>
            </a:r>
            <a:r>
              <a:rPr altLang="en-IN" sz="6400" b="1" dirty="0">
                <a:sym typeface="+mn-ea"/>
              </a:rPr>
              <a:t>quantisation </a:t>
            </a:r>
            <a:r>
              <a:rPr lang="en-IN" sz="6400" b="1" dirty="0">
                <a:sym typeface="+mn-ea"/>
              </a:rPr>
              <a:t> Function Placement with Diffusion Models </a:t>
            </a:r>
            <a:r>
              <a:rPr altLang="en-IN" sz="6400" b="1" dirty="0">
                <a:sym typeface="+mn-ea"/>
              </a:rPr>
              <a:t>with proper optimisation</a:t>
            </a:r>
            <a:r>
              <a:rPr lang="en-IN" sz="6400" b="1" dirty="0">
                <a:sym typeface="+mn-ea"/>
              </a:rPr>
              <a:t>,"</a:t>
            </a:r>
            <a:r>
              <a:rPr lang="en-IN" sz="6400" dirty="0">
                <a:sym typeface="+mn-ea"/>
              </a:rPr>
              <a:t> </a:t>
            </a:r>
            <a:r>
              <a:rPr lang="en-IN" sz="6400" i="1" dirty="0" err="1">
                <a:sym typeface="+mn-ea"/>
              </a:rPr>
              <a:t>arXiv</a:t>
            </a:r>
            <a:r>
              <a:rPr lang="en-IN" sz="6400" i="1" dirty="0">
                <a:sym typeface="+mn-ea"/>
              </a:rPr>
              <a:t> preprint arXiv:2508.1</a:t>
            </a:r>
            <a:r>
              <a:rPr altLang="en-IN" sz="6400" i="1" dirty="0">
                <a:sym typeface="+mn-ea"/>
              </a:rPr>
              <a:t>12</a:t>
            </a:r>
            <a:r>
              <a:rPr lang="en-IN" sz="6400" i="1" dirty="0">
                <a:sym typeface="+mn-ea"/>
              </a:rPr>
              <a:t>65</a:t>
            </a:r>
            <a:r>
              <a:rPr lang="en-IN" sz="6400" dirty="0">
                <a:sym typeface="+mn-ea"/>
              </a:rPr>
              <a:t>, </a:t>
            </a:r>
            <a:r>
              <a:rPr lang="en-IN" sz="6400" b="1" dirty="0">
                <a:sym typeface="+mn-ea"/>
              </a:rPr>
              <a:t>202</a:t>
            </a:r>
            <a:r>
              <a:rPr altLang="en-IN" sz="6400" b="1" dirty="0">
                <a:sym typeface="+mn-ea"/>
              </a:rPr>
              <a:t>4</a:t>
            </a:r>
            <a:r>
              <a:rPr lang="en-IN" sz="6400" dirty="0">
                <a:sym typeface="+mn-ea"/>
              </a:rPr>
              <a:t>.</a:t>
            </a:r>
            <a:endParaRPr lang="en-IN" sz="6400" dirty="0"/>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4</a:t>
            </a:r>
            <a:r>
              <a:rPr lang="en-IN" sz="6400" b="1" dirty="0">
                <a:sym typeface="+mn-ea"/>
              </a:rPr>
              <a:t>]</a:t>
            </a:r>
            <a:r>
              <a:rPr lang="en-IN" sz="6400" dirty="0">
                <a:sym typeface="+mn-ea"/>
              </a:rPr>
              <a:t> </a:t>
            </a:r>
            <a:r>
              <a:rPr lang="en-IN" sz="6400" b="1" dirty="0">
                <a:sym typeface="+mn-ea"/>
              </a:rPr>
              <a:t>W. L. Hamilton</a:t>
            </a:r>
            <a:r>
              <a:rPr lang="en-IN" sz="6400" dirty="0">
                <a:sym typeface="+mn-ea"/>
              </a:rPr>
              <a:t>, R. Ying, and J. Leskovec, </a:t>
            </a:r>
            <a:r>
              <a:rPr lang="en-IN" sz="6400" b="1" dirty="0">
                <a:sym typeface="+mn-ea"/>
              </a:rPr>
              <a:t>"Inductive Re</a:t>
            </a:r>
            <a:r>
              <a:rPr altLang="en-IN" sz="6400" b="1" dirty="0">
                <a:sym typeface="+mn-ea"/>
              </a:rPr>
              <a:t>currence </a:t>
            </a:r>
            <a:r>
              <a:rPr lang="en-IN" sz="6400" b="1" dirty="0">
                <a:sym typeface="+mn-ea"/>
              </a:rPr>
              <a:t>Learning on </a:t>
            </a:r>
            <a:r>
              <a:rPr altLang="en-IN" sz="6400" b="1" dirty="0">
                <a:sym typeface="+mn-ea"/>
              </a:rPr>
              <a:t>Mental Health</a:t>
            </a:r>
            <a:r>
              <a:rPr lang="en-IN" sz="6400" b="1" dirty="0">
                <a:sym typeface="+mn-ea"/>
              </a:rPr>
              <a:t>,"</a:t>
            </a:r>
            <a:r>
              <a:rPr lang="en-IN" sz="6400" dirty="0">
                <a:sym typeface="+mn-ea"/>
              </a:rPr>
              <a:t> </a:t>
            </a:r>
            <a:r>
              <a:rPr lang="en-IN" sz="6400" i="1" dirty="0">
                <a:sym typeface="+mn-ea"/>
              </a:rPr>
              <a:t>Advances in </a:t>
            </a:r>
            <a:r>
              <a:rPr altLang="en-IN" sz="6400" i="1" dirty="0">
                <a:sym typeface="+mn-ea"/>
              </a:rPr>
              <a:t>MLOps </a:t>
            </a:r>
            <a:r>
              <a:rPr lang="en-IN" sz="6400" i="1" dirty="0">
                <a:sym typeface="+mn-ea"/>
              </a:rPr>
              <a:t> (</a:t>
            </a:r>
            <a:r>
              <a:rPr altLang="en-IN" sz="6400" i="1" dirty="0">
                <a:sym typeface="+mn-ea"/>
              </a:rPr>
              <a:t>Algorithms</a:t>
            </a:r>
            <a:r>
              <a:rPr lang="en-IN" sz="6400" i="1" dirty="0">
                <a:sym typeface="+mn-ea"/>
              </a:rPr>
              <a:t>)</a:t>
            </a:r>
            <a:r>
              <a:rPr lang="en-IN" sz="6400" dirty="0">
                <a:sym typeface="+mn-ea"/>
              </a:rPr>
              <a:t>, </a:t>
            </a:r>
            <a:r>
              <a:rPr lang="en-IN" sz="6400" b="1" dirty="0">
                <a:sym typeface="+mn-ea"/>
              </a:rPr>
              <a:t>Vol. 30</a:t>
            </a:r>
            <a:r>
              <a:rPr lang="en-IN" sz="6400" dirty="0">
                <a:sym typeface="+mn-ea"/>
              </a:rPr>
              <a:t>, </a:t>
            </a:r>
            <a:r>
              <a:rPr lang="en-IN" sz="6400" b="1" dirty="0">
                <a:sym typeface="+mn-ea"/>
              </a:rPr>
              <a:t>20</a:t>
            </a:r>
            <a:r>
              <a:rPr altLang="en-IN" sz="6400" b="1" dirty="0">
                <a:sym typeface="+mn-ea"/>
              </a:rPr>
              <a:t>23</a:t>
            </a:r>
            <a:r>
              <a:rPr lang="en-IN" sz="6400" dirty="0">
                <a:sym typeface="+mn-ea"/>
              </a:rPr>
              <a:t>.</a:t>
            </a:r>
            <a:endParaRPr lang="en-IN" sz="6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5</a:t>
            </a:r>
            <a:r>
              <a:rPr lang="en-IN" sz="6400" b="1" dirty="0">
                <a:sym typeface="+mn-ea"/>
              </a:rPr>
              <a:t>]</a:t>
            </a:r>
            <a:r>
              <a:rPr lang="en-IN" sz="6400" dirty="0">
                <a:sym typeface="+mn-ea"/>
              </a:rPr>
              <a:t> </a:t>
            </a:r>
            <a:r>
              <a:rPr lang="en-IN" sz="6400" b="1" dirty="0">
                <a:sym typeface="+mn-ea"/>
              </a:rPr>
              <a:t>I. Bello</a:t>
            </a:r>
            <a:r>
              <a:rPr lang="en-IN" sz="6400" dirty="0">
                <a:sym typeface="+mn-ea"/>
              </a:rPr>
              <a:t>, H. Pham, Q. V. Le, M. Norouzi, and S. Bengio, </a:t>
            </a:r>
            <a:r>
              <a:rPr lang="en-IN" sz="6400" b="1" dirty="0">
                <a:sym typeface="+mn-ea"/>
              </a:rPr>
              <a:t>"Neural Combinatorial Optimization with Reinforcement Learning,"</a:t>
            </a:r>
            <a:r>
              <a:rPr lang="en-IN" sz="6400" dirty="0">
                <a:sym typeface="+mn-ea"/>
              </a:rPr>
              <a:t> </a:t>
            </a:r>
            <a:r>
              <a:rPr lang="en-IN" sz="6400" i="1" dirty="0" err="1">
                <a:sym typeface="+mn-ea"/>
              </a:rPr>
              <a:t>arXiv</a:t>
            </a:r>
            <a:r>
              <a:rPr lang="en-IN" sz="6400" i="1" dirty="0">
                <a:sym typeface="+mn-ea"/>
              </a:rPr>
              <a:t> preprint arXiv:1611.09940</a:t>
            </a:r>
            <a:r>
              <a:rPr lang="en-IN" sz="6400" dirty="0">
                <a:sym typeface="+mn-ea"/>
              </a:rPr>
              <a:t>, </a:t>
            </a:r>
            <a:r>
              <a:rPr lang="en-IN" sz="6400" b="1" dirty="0">
                <a:sym typeface="+mn-ea"/>
              </a:rPr>
              <a:t>20</a:t>
            </a:r>
            <a:r>
              <a:rPr altLang="en-IN" sz="6400" b="1" dirty="0">
                <a:sym typeface="+mn-ea"/>
              </a:rPr>
              <a:t>21</a:t>
            </a:r>
            <a:r>
              <a:rPr lang="en-IN" sz="6400" dirty="0">
                <a:sym typeface="+mn-ea"/>
              </a:rPr>
              <a:t>.</a:t>
            </a:r>
            <a:r>
              <a:rPr altLang="en-US" sz="6400">
                <a:sym typeface="+mn-ea"/>
              </a:rPr>
              <a:t> </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sym typeface="+mn-ea"/>
              </a:rPr>
              <a:t>[6]P. Penava and R. Buettne</a:t>
            </a:r>
            <a:r>
              <a:rPr lang="en-US" altLang="en-US" sz="6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[7] A. Dev et al</a:t>
            </a:r>
            <a:r>
              <a:rPr lang="en-US" altLang="en-US" sz="6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6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6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11201</Words>
  <Application>WPS Presentation</Application>
  <PresentationFormat/>
  <Paragraphs>290</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190</cp:revision>
  <dcterms:created xsi:type="dcterms:W3CDTF">2006-08-16T00:00:00Z</dcterms:created>
  <dcterms:modified xsi:type="dcterms:W3CDTF">2026-08-13T17:46:07Z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783F2A4370E84AB791048A231416425B_13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