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3"/>
    <p:sldId id="258" r:id="rId4"/>
    <p:sldId id="260" r:id="rId5"/>
    <p:sldId id="270" r:id="rId6"/>
    <p:sldId id="280" r:id="rId7"/>
    <p:sldId id="261" r:id="rId8"/>
    <p:sldId id="262" r:id="rId9"/>
    <p:sldId id="272" r:id="rId10"/>
    <p:sldId id="263" r:id="rId11"/>
    <p:sldId id="282" r:id="rId12"/>
    <p:sldId id="279" r:id="rId13"/>
    <p:sldId id="281" r:id="rId14"/>
    <p:sldId id="27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2"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howGuides="1">
      <p:cViewPr varScale="1">
        <p:scale>
          <a:sx n="78" d="100"/>
          <a:sy n="78" d="100"/>
        </p:scale>
        <p:origin x="230" y="62"/>
      </p:cViewPr>
      <p:guideLst>
        <p:guide orient="horz" pos="2152"/>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notesMaster" Target="notesMasters/notesMaster1.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2BBAC0CA-2AD6-4EE7-937D-509BD6249079}" type="datetimeFigureOut">
              <a:rPr lang="en-US"/>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3D2A3619-0F3E-409F-8BBC-62CAA7C845C7}" type="slidenum">
              <a:rPr lang="en-IN"/>
            </a:fld>
            <a:endParaRPr lang="en-I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BADD89DD-81C4-4E6B-AFEA-7492BED30D4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E24E1BA5-2B3A-4BA0-82C4-250B1E03B99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C4ED520F-C50B-47BE-919C-C536996A22A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57776205-8481-4410-854E-4E65F0EAD3D5}"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Cancer Prediction Web application </a:t>
            </a:r>
            <a:endParaRPr lang="en-US"/>
          </a:p>
        </p:txBody>
      </p:sp>
      <p:sp>
        <p:nvSpPr>
          <p:cNvPr id="9" name="Slide Number Placeholder 8"/>
          <p:cNvSpPr>
            <a:spLocks noGrp="1"/>
          </p:cNvSpPr>
          <p:nvPr>
            <p:ph type="sldNum" sz="quarter" idx="12"/>
          </p:nvPr>
        </p:nvSpPr>
        <p:spPr/>
        <p:txBody>
          <a:bodyPr/>
          <a:lstStyle/>
          <a:p>
            <a:pPr>
              <a:defRPr/>
            </a:pPr>
            <a:fld id="{4C484B84-5CB0-42B5-A7C1-8F6F1B611DD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Cancer Prediction Web application </a:t>
            </a:r>
            <a:endParaRPr lang="en-US"/>
          </a:p>
        </p:txBody>
      </p:sp>
      <p:sp>
        <p:nvSpPr>
          <p:cNvPr id="5" name="Slide Number Placeholder 4"/>
          <p:cNvSpPr>
            <a:spLocks noGrp="1"/>
          </p:cNvSpPr>
          <p:nvPr>
            <p:ph type="sldNum" sz="quarter" idx="12"/>
          </p:nvPr>
        </p:nvSpPr>
        <p:spPr/>
        <p:txBody>
          <a:bodyPr/>
          <a:lstStyle/>
          <a:p>
            <a:pPr>
              <a:defRPr/>
            </a:pPr>
            <a:fld id="{94403558-3183-467E-979E-874438A3662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Cancer Prediction Web application </a:t>
            </a:r>
            <a:endParaRPr lang="en-US"/>
          </a:p>
        </p:txBody>
      </p:sp>
      <p:sp>
        <p:nvSpPr>
          <p:cNvPr id="4" name="Slide Number Placeholder 3"/>
          <p:cNvSpPr>
            <a:spLocks noGrp="1"/>
          </p:cNvSpPr>
          <p:nvPr>
            <p:ph type="sldNum" sz="quarter" idx="12"/>
          </p:nvPr>
        </p:nvSpPr>
        <p:spPr/>
        <p:txBody>
          <a:bodyPr/>
          <a:lstStyle/>
          <a:p>
            <a:pPr>
              <a:defRPr/>
            </a:pPr>
            <a:fld id="{E872ECD8-2D72-4EB1-90BF-B7129A01E2D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F02FCE7-E60B-4AB4-93A7-EA35125EBB7E}"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Cancer Prediction Web application </a:t>
            </a:r>
            <a:endParaRPr lang="en-US"/>
          </a:p>
        </p:txBody>
      </p:sp>
      <p:sp>
        <p:nvSpPr>
          <p:cNvPr id="7" name="Slide Number Placeholder 6"/>
          <p:cNvSpPr>
            <a:spLocks noGrp="1"/>
          </p:cNvSpPr>
          <p:nvPr>
            <p:ph type="sldNum" sz="quarter" idx="12"/>
          </p:nvPr>
        </p:nvSpPr>
        <p:spPr/>
        <p:txBody>
          <a:bodyPr/>
          <a:lstStyle/>
          <a:p>
            <a:pPr>
              <a:defRPr/>
            </a:pPr>
            <a:fld id="{072E6F8F-77F3-49D3-92DB-54C5A5D7EE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4ABED7A0-3F6B-46DF-823D-1CE0DBD6302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Cancer Prediction Web application </a:t>
            </a:r>
            <a:endParaRPr lang="en-US"/>
          </a:p>
        </p:txBody>
      </p:sp>
      <p:sp>
        <p:nvSpPr>
          <p:cNvPr id="6" name="Slide Number Placeholder 5"/>
          <p:cNvSpPr>
            <a:spLocks noGrp="1"/>
          </p:cNvSpPr>
          <p:nvPr>
            <p:ph type="sldNum" sz="quarter" idx="12"/>
          </p:nvPr>
        </p:nvSpPr>
        <p:spPr/>
        <p:txBody>
          <a:bodyPr/>
          <a:lstStyle/>
          <a:p>
            <a:pPr>
              <a:defRPr/>
            </a:pPr>
            <a:fld id="{AA76FB47-3F90-442C-8F17-A1D13EE1959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Cancer Prediction Web application </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EAC9AEA-22CE-4FC0-819B-58CD2AEA48F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0"/>
            <a:ext cx="8458200" cy="609600"/>
          </a:xfrm>
        </p:spPr>
        <p:txBody>
          <a:bodyPr>
            <a:normAutofit fontScale="90000"/>
          </a:bodyPr>
          <a:lstStyle/>
          <a:p>
            <a:pPr fontAlgn="auto">
              <a:spcAft>
                <a:spcPts val="0"/>
              </a:spcAft>
              <a:defRPr/>
            </a:pP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br>
              <a:rPr lang="en-IN" b="1" dirty="0">
                <a:solidFill>
                  <a:schemeClr val="tx1">
                    <a:lumMod val="95000"/>
                    <a:lumOff val="5000"/>
                  </a:schemeClr>
                </a:solidFill>
                <a:latin typeface="Times New Roman" panose="02020603050405020304" pitchFamily="18" charset="0"/>
                <a:cs typeface="Times New Roman" panose="02020603050405020304" pitchFamily="18" charset="0"/>
              </a:rPr>
            </a:br>
            <a:endParaRPr lang="en-IN"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3276600" y="152400"/>
            <a:ext cx="6315075" cy="706755"/>
          </a:xfrm>
          <a:prstGeom prst="rect">
            <a:avLst/>
          </a:prstGeom>
        </p:spPr>
        <p:txBody>
          <a:bodyPr wrap="square">
            <a:spAutoFit/>
          </a:bodyPr>
          <a:lstStyle/>
          <a:p>
            <a:pPr algn="just" fontAlgn="auto">
              <a:spcBef>
                <a:spcPts val="0"/>
              </a:spcBef>
              <a:spcAft>
                <a:spcPts val="0"/>
              </a:spcAft>
              <a:defRPr/>
            </a:pPr>
            <a:r>
              <a:rPr lang="en-IN" sz="2000" b="1" dirty="0" err="1">
                <a:solidFill>
                  <a:schemeClr val="tx1">
                    <a:lumMod val="95000"/>
                    <a:lumOff val="5000"/>
                  </a:schemeClr>
                </a:solidFill>
                <a:latin typeface="Calibri" panose="020F0502020204030204" pitchFamily="34" charset="0"/>
                <a:cs typeface="Helvetica" panose="020B0604020202020204" pitchFamily="34" charset="0"/>
              </a:rPr>
              <a:t>Dr.Mahalingam</a:t>
            </a:r>
            <a:r>
              <a:rPr lang="en-IN" sz="2000" b="1" dirty="0">
                <a:solidFill>
                  <a:schemeClr val="tx1">
                    <a:lumMod val="95000"/>
                    <a:lumOff val="5000"/>
                  </a:schemeClr>
                </a:solidFill>
                <a:latin typeface="Calibri" panose="020F0502020204030204" pitchFamily="34" charset="0"/>
                <a:cs typeface="Helvetica" panose="020B0604020202020204" pitchFamily="34" charset="0"/>
              </a:rPr>
              <a:t> College of Engineering &amp; Technology</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a:p>
            <a:pPr algn="just" fontAlgn="auto">
              <a:spcBef>
                <a:spcPts val="0"/>
              </a:spcBef>
              <a:spcAft>
                <a:spcPts val="0"/>
              </a:spcAft>
              <a:defRPr/>
            </a:pPr>
            <a:r>
              <a:rPr lang="en-IN" sz="2000" b="1" dirty="0">
                <a:solidFill>
                  <a:schemeClr val="tx1">
                    <a:lumMod val="95000"/>
                    <a:lumOff val="5000"/>
                  </a:schemeClr>
                </a:solidFill>
                <a:latin typeface="Calibri" panose="020F0502020204030204" pitchFamily="34" charset="0"/>
                <a:cs typeface="Helvetica" panose="020B0604020202020204" pitchFamily="34" charset="0"/>
              </a:rPr>
              <a:t>Department of Artificial Intelligence &amp; Data Science </a:t>
            </a:r>
            <a:endParaRPr lang="en-IN" sz="2000" b="1" dirty="0">
              <a:solidFill>
                <a:schemeClr val="tx1">
                  <a:lumMod val="95000"/>
                  <a:lumOff val="5000"/>
                </a:schemeClr>
              </a:solidFill>
              <a:latin typeface="Helvetica" panose="020B0604020202020204" pitchFamily="34" charset="0"/>
              <a:cs typeface="Helvetica" panose="020B0604020202020204" pitchFamily="34" charset="0"/>
            </a:endParaRPr>
          </a:p>
        </p:txBody>
      </p:sp>
      <p:pic>
        <p:nvPicPr>
          <p:cNvPr id="8" name="Picture 7" descr="C:\Users\STAFFS\Desktop\MCET LOGO NEW_1 (1).jp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96240" y="152548"/>
            <a:ext cx="1584960" cy="762000"/>
          </a:xfrm>
          <a:prstGeom prst="rect">
            <a:avLst/>
          </a:prstGeom>
          <a:noFill/>
          <a:ln>
            <a:noFill/>
          </a:ln>
        </p:spPr>
      </p:pic>
      <p:sp>
        <p:nvSpPr>
          <p:cNvPr id="9" name="Google Shape;452;p13"/>
          <p:cNvSpPr txBox="1"/>
          <p:nvPr/>
        </p:nvSpPr>
        <p:spPr>
          <a:xfrm>
            <a:off x="1524000" y="1219200"/>
            <a:ext cx="8907145" cy="4871085"/>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indent="-274320" algn="just">
              <a:lnSpc>
                <a:spcPct val="150000"/>
              </a:lnSpc>
              <a:spcBef>
                <a:spcPts val="0"/>
              </a:spcBef>
              <a:buSzPts val="2044"/>
              <a:buFont typeface="Arial" panose="020B0604020202020204" pitchFamily="34" charset="0"/>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Number         :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A17</a:t>
            </a:r>
            <a:endParaRPr lang="en-IN" sz="2400" b="1"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Machine Learning Operations (MLOps)</a:t>
            </a:r>
            <a:endParaRPr lang="en-IN" sz="2400"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Sub-Domain          </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chemeClr val="tx1"/>
                </a:solidFill>
                <a:latin typeface="Calibri" panose="020F0502020204030204"/>
                <a:ea typeface="Times New Roman" panose="02020603050405020304"/>
                <a:cs typeface="Times New Roman" panose="02020603050405020304"/>
                <a:sym typeface="Times New Roman" panose="02020603050405020304"/>
              </a:rPr>
              <a:t>Explainable &amp; Deployable AI for Mental Health Risk Prediction</a:t>
            </a:r>
            <a:endPar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endParaRPr>
          </a:p>
          <a:p>
            <a:pPr marL="274320" indent="-27432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Title</a:t>
            </a:r>
            <a:r>
              <a:rPr lang="en-US"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1400" b="1" dirty="0">
                <a:solidFill>
                  <a:srgbClr val="0C0C0C"/>
                </a:solidFill>
                <a:latin typeface="Calibri" panose="020F0502020204030204"/>
                <a:ea typeface="Times New Roman" panose="02020603050405020304"/>
                <a:cs typeface="Times New Roman" panose="02020603050405020304"/>
                <a:sym typeface="Times New Roman" panose="02020603050405020304"/>
              </a:rPr>
              <a:t> </a:t>
            </a:r>
            <a:r>
              <a:rPr lang="en-US" altLang="en-US" sz="1800" b="1" dirty="0">
                <a:solidFill>
                  <a:srgbClr val="0C0C0C"/>
                </a:solidFill>
                <a:latin typeface="Calibri" panose="020F0502020204030204"/>
                <a:ea typeface="Times New Roman" panose="02020603050405020304"/>
                <a:cs typeface="Times New Roman" panose="02020603050405020304"/>
                <a:sym typeface="Times New Roman" panose="02020603050405020304"/>
              </a:rPr>
              <a:t>Suicide Risk Prediction Models with Clinical Explainability</a:t>
            </a:r>
            <a:endParaRPr lang="en-US" altLang="en-US" sz="1400" b="1" dirty="0">
              <a:solidFill>
                <a:srgbClr val="0C0C0C"/>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Faculty Supervisor</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0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US"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Ms.M. RAJALAKSHMI</a:t>
            </a:r>
            <a:endParaRPr lang="en-US" altLang="en-US" sz="2400" dirty="0">
              <a:solidFill>
                <a:srgbClr val="FF0000"/>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Team Members</a:t>
            </a:r>
            <a:r>
              <a:rPr lang="en-US" alt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IN" sz="2400" dirty="0">
                <a:solidFill>
                  <a:srgbClr val="FF0000"/>
                </a:solidFill>
                <a:latin typeface="Calibri" panose="020F0502020204030204"/>
                <a:ea typeface="Times New Roman" panose="02020603050405020304"/>
                <a:cs typeface="Times New Roman" panose="02020603050405020304"/>
                <a:sym typeface="Times New Roman" panose="02020603050405020304"/>
              </a:rPr>
              <a:t>:</a:t>
            </a:r>
            <a:r>
              <a:rPr lang="en-US" altLang="en-IN" sz="2400" b="1" dirty="0">
                <a:solidFill>
                  <a:srgbClr val="FF0000"/>
                </a:solidFill>
                <a:latin typeface="Calibri" panose="020F0502020204030204"/>
                <a:ea typeface="Times New Roman" panose="02020603050405020304"/>
                <a:cs typeface="Times New Roman" panose="02020603050405020304"/>
                <a:sym typeface="Times New Roman" panose="02020603050405020304"/>
              </a:rPr>
              <a:t> </a:t>
            </a: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Maha mathesh raja B (727624BAD031)</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irfan basha R (727624BAD009)</a:t>
            </a:r>
            <a:endParaRPr lang="en-US" altLang="en-IN" sz="20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lnSpc>
                <a:spcPct val="150000"/>
              </a:lnSpc>
              <a:spcBef>
                <a:spcPts val="580"/>
              </a:spcBef>
              <a:buSzPts val="2044"/>
              <a:buNone/>
            </a:pPr>
            <a:r>
              <a:rPr lang="en-US" altLang="en-IN" sz="2000" b="1" dirty="0">
                <a:solidFill>
                  <a:schemeClr val="tx1"/>
                </a:solidFill>
                <a:latin typeface="Calibri" panose="020F0502020204030204"/>
                <a:ea typeface="Times New Roman" panose="02020603050405020304"/>
                <a:cs typeface="Times New Roman" panose="02020603050405020304"/>
                <a:sym typeface="Times New Roman" panose="02020603050405020304"/>
              </a:rPr>
              <a:t>                                           Sridhar M (727624BAD091)</a:t>
            </a:r>
            <a:endParaRPr lang="en-IN" sz="2400" b="1" dirty="0">
              <a:solidFill>
                <a:schemeClr val="tx1"/>
              </a:solidFill>
              <a:latin typeface="Times New Roman" panose="02020603050405020304"/>
              <a:ea typeface="Times New Roman" panose="02020603050405020304"/>
              <a:cs typeface="Times New Roman" panose="02020603050405020304"/>
              <a:sym typeface="Times New Roman" panose="02020603050405020304"/>
            </a:endParaRPr>
          </a:p>
          <a:p>
            <a:pPr marL="2468880" lvl="8">
              <a:lnSpc>
                <a:spcPct val="80000"/>
              </a:lnSpc>
              <a:buSzPts val="1665"/>
              <a:buFont typeface="Arial" panose="020B0604020202020204" pitchFamily="34" charset="0"/>
              <a:buNone/>
            </a:pPr>
            <a:endParaRPr lang="en-IN" sz="1665" dirty="0">
              <a:solidFill>
                <a:srgbClr val="0C0C0C"/>
              </a:solidFill>
            </a:endParaRPr>
          </a:p>
          <a:p>
            <a:pPr marL="2468880" lvl="8">
              <a:lnSpc>
                <a:spcPct val="80000"/>
              </a:lnSpc>
              <a:buSzPts val="1665"/>
              <a:buFont typeface="Arial" panose="020B0604020202020204" pitchFamily="34" charset="0"/>
              <a:buNone/>
            </a:pPr>
            <a:r>
              <a:rPr lang="en-IN" sz="1665" dirty="0">
                <a:solidFill>
                  <a:srgbClr val="0C0C0C"/>
                </a:solidFill>
                <a:latin typeface="Calibri" panose="020F0502020204030204"/>
              </a:rPr>
              <a:t>		</a:t>
            </a:r>
            <a:endParaRPr lang="en-IN" dirty="0"/>
          </a:p>
          <a:p>
            <a:pPr marL="2468880" lvl="8">
              <a:lnSpc>
                <a:spcPct val="80000"/>
              </a:lnSpc>
              <a:buSzPts val="1665"/>
              <a:buFont typeface="Arial" panose="020B0604020202020204" pitchFamily="34" charset="0"/>
              <a:buNone/>
            </a:pPr>
            <a:endParaRPr lang="en-IN" sz="1665" dirty="0">
              <a:solidFill>
                <a:srgbClr val="0C0C0C"/>
              </a:solidFill>
            </a:endParaRPr>
          </a:p>
          <a:p>
            <a:pPr marL="274320" indent="-144780">
              <a:lnSpc>
                <a:spcPct val="80000"/>
              </a:lnSpc>
              <a:spcBef>
                <a:spcPts val="580"/>
              </a:spcBef>
              <a:buSzPts val="2044"/>
              <a:buFont typeface="Arial" panose="020B0604020202020204" pitchFamily="34" charset="0"/>
              <a:buNone/>
            </a:pPr>
            <a:endParaRPr lang="en-IN" sz="2405" dirty="0">
              <a:solidFill>
                <a:srgbClr val="0C0C0C"/>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 y="228600"/>
            <a:ext cx="1193800" cy="88900"/>
          </a:xfrm>
        </p:spPr>
        <p:txBody>
          <a:bodyPr>
            <a:normAutofit fontScale="90000"/>
          </a:bodyPr>
          <a:lstStyle/>
          <a:p>
            <a:r>
              <a:rPr lang="en-US" sz="2000" b="1" i="1" dirty="0">
                <a:latin typeface="Calibri" panose="020F0502020204030204"/>
              </a:rPr>
              <a:t>.</a:t>
            </a:r>
            <a:endParaRPr lang="en-US" sz="2000" b="1" i="1" dirty="0">
              <a:latin typeface="Calibri" panose="020F0502020204030204"/>
            </a:endParaRPr>
          </a:p>
        </p:txBody>
      </p:sp>
      <p:sp>
        <p:nvSpPr>
          <p:cNvPr id="3" name="Content Placeholder 2"/>
          <p:cNvSpPr>
            <a:spLocks noGrp="1"/>
          </p:cNvSpPr>
          <p:nvPr>
            <p:ph idx="1"/>
          </p:nvPr>
        </p:nvSpPr>
        <p:spPr>
          <a:xfrm>
            <a:off x="152400" y="457200"/>
            <a:ext cx="11693525" cy="5293995"/>
          </a:xfrm>
        </p:spPr>
        <p:txBody>
          <a:bodyPr>
            <a:normAutofit fontScale="90000" lnSpcReduction="10000"/>
          </a:bodyPr>
          <a:lstStyle/>
          <a:p>
            <a:pPr marL="0" indent="0" algn="just">
              <a:buNone/>
            </a:pPr>
            <a:r>
              <a:rPr lang="en-US" sz="4400" b="1" dirty="0">
                <a:solidFill>
                  <a:schemeClr val="accent2"/>
                </a:solidFill>
                <a:latin typeface="Calibri" panose="020F0502020204030204"/>
              </a:rPr>
              <a:t>Abstract:</a:t>
            </a:r>
            <a:endParaRPr lang="en-US" sz="4400" b="1" dirty="0">
              <a:solidFill>
                <a:schemeClr val="accent2"/>
              </a:solidFill>
              <a:latin typeface="Calibri" panose="020F0502020204030204"/>
            </a:endParaRPr>
          </a:p>
          <a:p>
            <a:pPr marL="0" indent="0" algn="just">
              <a:buNone/>
            </a:pPr>
            <a:r>
              <a:rPr lang="en-US" altLang="en-US" sz="3600" b="1" dirty="0">
                <a:latin typeface="Calibri" panose="020F0502020204030204"/>
              </a:rPr>
              <a:t>  </a:t>
            </a:r>
            <a:r>
              <a:rPr lang="en-US" altLang="en-US" sz="2400" dirty="0">
                <a:latin typeface="Calibri" panose="020F0502020204030204"/>
              </a:rPr>
              <a:t>Over 300 million people worldwide are affected by depression, with symptoms that have a major impact on patients and, in the worst cases, can lead to suicide.</a:t>
            </a:r>
            <a:endParaRPr lang="en-US" altLang="en-US" sz="2400" dirty="0">
              <a:latin typeface="Calibri" panose="020F0502020204030204"/>
            </a:endParaRPr>
          </a:p>
          <a:p>
            <a:pPr marL="0" indent="0" algn="just">
              <a:buNone/>
            </a:pPr>
            <a:r>
              <a:rPr lang="en-US" altLang="en-US" dirty="0">
                <a:latin typeface="Calibri" panose="020F0502020204030204"/>
              </a:rPr>
              <a:t> </a:t>
            </a:r>
            <a:r>
              <a:rPr lang="en-US" altLang="en-US" sz="2400" dirty="0">
                <a:latin typeface="Calibri" panose="020F0502020204030204"/>
              </a:rPr>
              <a:t>As the severity of the disease increases over time, early detection can save a patient’s life. The disease is diagnosed by professionals using questionnaires that might be influenced by biases, and of which the accuracy and reliability are not guaranteed.</a:t>
            </a:r>
            <a:endParaRPr lang="en-US" altLang="en-US" sz="2400" dirty="0">
              <a:latin typeface="Calibri" panose="020F0502020204030204"/>
            </a:endParaRPr>
          </a:p>
          <a:p>
            <a:pPr marL="0" indent="0" algn="just">
              <a:buNone/>
            </a:pPr>
            <a:r>
              <a:rPr lang="en-US" altLang="en-US" sz="2400" dirty="0">
                <a:latin typeface="Calibri" panose="020F0502020204030204"/>
              </a:rPr>
              <a:t>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a:t>
            </a:r>
            <a:endParaRPr lang="en-US" altLang="en-US" sz="2400" dirty="0">
              <a:latin typeface="Calibri" panose="020F0502020204030204"/>
            </a:endParaRPr>
          </a:p>
          <a:p>
            <a:pPr marL="0" indent="0" algn="just">
              <a:buNone/>
            </a:pPr>
            <a:r>
              <a:rPr lang="en-US" altLang="en-US" sz="2400" dirty="0">
                <a:latin typeface="Calibri" panose="020F0502020204030204"/>
              </a:rPr>
              <a:t>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a:t>
            </a:r>
            <a:endParaRPr lang="en-US" altLang="en-US" sz="2400" dirty="0">
              <a:latin typeface="Calibri" panose="020F0502020204030204"/>
            </a:endParaRPr>
          </a:p>
        </p:txBody>
      </p:sp>
      <p:sp>
        <p:nvSpPr>
          <p:cNvPr id="4" name="Date Placeholder 3"/>
          <p:cNvSpPr>
            <a:spLocks noGrp="1"/>
          </p:cNvSpPr>
          <p:nvPr>
            <p:ph type="dt" sz="half" idx="10"/>
          </p:nvPr>
        </p:nvSpPr>
        <p:spPr/>
        <p:txBody>
          <a:bodyPr/>
          <a:lstStyle/>
          <a:p>
            <a:pPr>
              <a:defRPr/>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81305"/>
          </a:xfrm>
        </p:spPr>
        <p:txBody>
          <a:bodyPr>
            <a:normAutofit fontScale="90000"/>
          </a:bodyPr>
          <a:lstStyle/>
          <a:p>
            <a:r>
              <a:rPr lang="en-US" altLang="en-US" sz="3200" b="1" i="1" dirty="0">
                <a:latin typeface="Calibri" panose="020F0502020204030204"/>
              </a:rPr>
              <a:t>Project Improvements &amp; Key Innovations</a:t>
            </a:r>
            <a:endParaRPr lang="en-US" altLang="en-US" sz="3200" b="1" i="1" dirty="0"/>
          </a:p>
        </p:txBody>
      </p:sp>
      <p:sp>
        <p:nvSpPr>
          <p:cNvPr id="3" name="Content Placeholder 2"/>
          <p:cNvSpPr>
            <a:spLocks noGrp="1"/>
          </p:cNvSpPr>
          <p:nvPr>
            <p:ph idx="1"/>
          </p:nvPr>
        </p:nvSpPr>
        <p:spPr>
          <a:xfrm>
            <a:off x="838200" y="798830"/>
            <a:ext cx="10515600" cy="5498465"/>
          </a:xfrm>
        </p:spPr>
        <p:txBody>
          <a:bodyPr>
            <a:noAutofit/>
          </a:bodyPr>
          <a:lstStyle/>
          <a:p>
            <a:pPr marL="0" indent="0" algn="just">
              <a:buNone/>
            </a:pPr>
            <a:r>
              <a:rPr lang="en-US" sz="1800" b="1" dirty="0">
                <a:latin typeface="Calibri" panose="020F0502020204030204"/>
              </a:rPr>
              <a:t> </a:t>
            </a:r>
            <a:r>
              <a:rPr lang="en-US" altLang="en-US" sz="2000" b="1" dirty="0">
                <a:latin typeface="Calibri" panose="020F0502020204030204"/>
              </a:rPr>
              <a:t>Before (Baseline): </a:t>
            </a:r>
            <a:endParaRPr lang="en-US" altLang="en-US" sz="2000" b="1" dirty="0"/>
          </a:p>
          <a:p>
            <a:pPr algn="just">
              <a:buFont typeface="Arial" panose="020B0604020202020204" pitchFamily="34" charset="0"/>
              <a:buChar char="•"/>
            </a:pPr>
            <a:r>
              <a:rPr lang="en-US" altLang="en-US" sz="1600" dirty="0">
                <a:latin typeface="Calibri" panose="020F0502020204030204"/>
              </a:rPr>
              <a:t>Black-box BERT models with high accuracy but no transparency, minimal deployment readiness, and limited clinical trust.</a:t>
            </a:r>
            <a:endParaRPr lang="en-US" altLang="en-US" sz="1600" dirty="0"/>
          </a:p>
          <a:p>
            <a:pPr marL="0" indent="0" algn="just">
              <a:buNone/>
            </a:pPr>
            <a:r>
              <a:rPr lang="en-US" altLang="en-US" sz="2000" b="1" dirty="0">
                <a:latin typeface="Calibri" panose="020F0502020204030204"/>
              </a:rPr>
              <a:t>Current Improvements:</a:t>
            </a:r>
            <a:endParaRPr lang="en-US" altLang="en-US" sz="2000" b="1" dirty="0"/>
          </a:p>
          <a:p>
            <a:pPr algn="just"/>
            <a:r>
              <a:rPr lang="en-US" altLang="en-US" sz="1600" dirty="0">
                <a:latin typeface="Calibri" panose="020F0502020204030204"/>
              </a:rPr>
              <a:t>Systematic reverse engineering of fine-tuned BERT/MentalBERT models to uncover learned linguistic/emotional patterns (hopelessness, urgency, isolation).</a:t>
            </a:r>
            <a:endParaRPr lang="en-US" altLang="en-US" sz="1600" dirty="0"/>
          </a:p>
          <a:p>
            <a:pPr algn="just"/>
            <a:r>
              <a:rPr lang="en-US" altLang="en-US" sz="1600" dirty="0">
                <a:latin typeface="Calibri" panose="020F0502020204030204"/>
              </a:rPr>
              <a:t>Implementing SHAP attributions, attention visualization, and probing to understand model internals.</a:t>
            </a:r>
            <a:endParaRPr lang="en-US" altLang="en-US" sz="1600" dirty="0"/>
          </a:p>
          <a:p>
            <a:pPr algn="just"/>
            <a:r>
              <a:rPr lang="en-US" altLang="en-US" sz="1600" dirty="0">
                <a:latin typeface="Calibri" panose="020F0502020204030204"/>
              </a:rPr>
              <a:t>Laying foundations for MLOps (tracking, basic versioning).</a:t>
            </a:r>
            <a:endParaRPr lang="en-US" altLang="en-US" sz="1600" dirty="0"/>
          </a:p>
          <a:p>
            <a:pPr algn="just"/>
            <a:r>
              <a:rPr lang="en-US" altLang="en-US" sz="1600" dirty="0">
                <a:latin typeface="Calibri" panose="020F0502020204030204"/>
              </a:rPr>
              <a:t>Starting model compression for on-device inference.</a:t>
            </a:r>
            <a:endParaRPr lang="en-US" altLang="en-US" sz="1600" dirty="0"/>
          </a:p>
          <a:p>
            <a:pPr algn="just"/>
            <a:r>
              <a:rPr lang="en-US" altLang="en-US" sz="1600" dirty="0">
                <a:latin typeface="Calibri" panose="020F0502020204030204"/>
              </a:rPr>
              <a:t>Early bias audits and ethical/privacy reviews.</a:t>
            </a:r>
            <a:endParaRPr lang="en-US" altLang="en-US" sz="1600" dirty="0"/>
          </a:p>
          <a:p>
            <a:pPr algn="just"/>
            <a:r>
              <a:rPr lang="en-US" altLang="en-US" sz="1600" dirty="0">
                <a:latin typeface="Calibri" panose="020F0502020204030204"/>
              </a:rPr>
              <a:t>Progress toward cross-platform deployment.</a:t>
            </a:r>
            <a:endParaRPr lang="en-US" altLang="en-US" sz="2000" b="1" dirty="0"/>
          </a:p>
          <a:p>
            <a:pPr marL="0" indent="0" algn="just">
              <a:buNone/>
            </a:pPr>
            <a:r>
              <a:rPr lang="en-US" altLang="en-US" sz="2000" b="1" dirty="0">
                <a:latin typeface="Calibri" panose="020F0502020204030204"/>
              </a:rPr>
              <a:t>Impact So Far: </a:t>
            </a:r>
            <a:endParaRPr lang="en-US" altLang="en-US" sz="2000" b="1" dirty="0"/>
          </a:p>
          <a:p>
            <a:pPr algn="just"/>
            <a:r>
              <a:rPr lang="en-US" altLang="en-US" sz="1600" dirty="0">
                <a:latin typeface="Calibri" panose="020F0502020204030204"/>
              </a:rPr>
              <a:t>Better model understanding, initial explainability, and a clearer path to responsible deployment.</a:t>
            </a:r>
            <a:endParaRPr lang="en-US" altLang="en-US" sz="1600" dirty="0"/>
          </a:p>
          <a:p>
            <a:pPr algn="just"/>
            <a:r>
              <a:rPr lang="en-US" altLang="en-US" sz="1600" dirty="0">
                <a:latin typeface="Calibri" panose="020F0502020204030204"/>
              </a:rPr>
              <a:t>Interpreting complex attention patterns in transformer layers</a:t>
            </a:r>
            <a:endParaRPr lang="en-US" altLang="en-US" sz="1600" dirty="0"/>
          </a:p>
          <a:p>
            <a:pPr marL="0" indent="0" algn="just">
              <a:buNone/>
            </a:pPr>
            <a:r>
              <a:rPr lang="en-US" altLang="en-US" sz="2000" b="1" dirty="0">
                <a:latin typeface="Calibri" panose="020F0502020204030204"/>
              </a:rPr>
              <a:t>Deployment Direction: </a:t>
            </a:r>
            <a:endParaRPr lang="en-US" altLang="en-US" sz="2000" b="1" dirty="0"/>
          </a:p>
          <a:p>
            <a:pPr algn="just"/>
            <a:r>
              <a:rPr lang="en-US" altLang="en-US" sz="1600" dirty="0">
                <a:latin typeface="Calibri" panose="020F0502020204030204"/>
              </a:rPr>
              <a:t>TensorFlow Lite, ONNX</a:t>
            </a:r>
            <a:endParaRPr lang="en-US" alt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US" altLang="en-US" sz="3200" b="1" i="1" dirty="0">
                <a:latin typeface="Calibri" panose="020F0502020204030204"/>
                <a:sym typeface="+mn-ea"/>
              </a:rPr>
              <a:t>Technical Stack &amp; Algorithms</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marL="0" indent="0" algn="just">
              <a:buNone/>
            </a:pPr>
            <a:r>
              <a:rPr lang="en-US" altLang="en-US" sz="2000" b="1" dirty="0">
                <a:latin typeface="Calibri" panose="020F0502020204030204"/>
              </a:rPr>
              <a:t>Core Models:</a:t>
            </a:r>
            <a:endParaRPr lang="en-US" altLang="en-US" sz="2000" b="1" dirty="0"/>
          </a:p>
          <a:p>
            <a:pPr algn="just"/>
            <a:r>
              <a:rPr lang="en-US" altLang="en-US" sz="1800" dirty="0">
                <a:latin typeface="Calibri" panose="020F0502020204030204"/>
              </a:rPr>
              <a:t> BERT-base-uncased, MentalBERT (fine-tuned on UMD/CLPsych datasets)</a:t>
            </a:r>
            <a:endParaRPr lang="en-US" altLang="en-US" sz="1800" dirty="0"/>
          </a:p>
          <a:p>
            <a:pPr marL="0" indent="0" algn="just">
              <a:buNone/>
            </a:pPr>
            <a:r>
              <a:rPr lang="en-US" altLang="en-US" sz="2000" b="1" dirty="0">
                <a:latin typeface="Calibri" panose="020F0502020204030204"/>
              </a:rPr>
              <a:t>Reverse Engineering Techniques:</a:t>
            </a:r>
            <a:endParaRPr lang="en-US" altLang="en-US" sz="2000" b="1" dirty="0"/>
          </a:p>
          <a:p>
            <a:pPr algn="just"/>
            <a:r>
              <a:rPr lang="en-US" altLang="en-US" sz="1800" dirty="0">
                <a:latin typeface="Calibri" panose="020F0502020204030204"/>
              </a:rPr>
              <a:t>SHAP (KernelSHAP for token importance).</a:t>
            </a:r>
            <a:endParaRPr lang="en-US" altLang="en-US" sz="1800" dirty="0"/>
          </a:p>
          <a:p>
            <a:pPr algn="just"/>
            <a:r>
              <a:rPr lang="en-US" altLang="en-US" sz="1800" dirty="0">
                <a:latin typeface="Calibri" panose="020F0502020204030204"/>
              </a:rPr>
              <a:t>Attention visualization (BertViz).</a:t>
            </a:r>
            <a:endParaRPr lang="en-US" altLang="en-US" sz="1800" dirty="0"/>
          </a:p>
          <a:p>
            <a:pPr algn="just"/>
            <a:r>
              <a:rPr lang="en-US" altLang="en-US" sz="1800" dirty="0">
                <a:latin typeface="Calibri" panose="020F0502020204030204"/>
              </a:rPr>
              <a:t>Probing experiments on hidden layers.</a:t>
            </a:r>
            <a:endParaRPr lang="en-US" altLang="en-US" sz="2000" b="1" dirty="0"/>
          </a:p>
          <a:p>
            <a:pPr marL="0" indent="0" algn="just">
              <a:buNone/>
            </a:pPr>
            <a:r>
              <a:rPr lang="en-US" altLang="en-US" sz="2000" b="1" dirty="0">
                <a:latin typeface="Calibri" panose="020F0502020204030204"/>
              </a:rPr>
              <a:t>Current Tools:</a:t>
            </a:r>
            <a:endParaRPr lang="en-US" altLang="en-US" sz="2000" b="1" dirty="0"/>
          </a:p>
          <a:p>
            <a:pPr algn="just"/>
            <a:r>
              <a:rPr lang="en-US" altLang="en-US" sz="1800" dirty="0">
                <a:latin typeface="Calibri" panose="020F0502020204030204"/>
              </a:rPr>
              <a:t>Python + Hugging Face Transformers.</a:t>
            </a:r>
            <a:endParaRPr lang="en-US" altLang="en-US" sz="1800" dirty="0"/>
          </a:p>
          <a:p>
            <a:pPr algn="just"/>
            <a:r>
              <a:rPr lang="en-US" altLang="en-US" sz="1800" dirty="0">
                <a:latin typeface="Calibri" panose="020F0502020204030204"/>
              </a:rPr>
              <a:t>Basic scripts (main.py, model.py, pipeline.py).</a:t>
            </a:r>
            <a:endParaRPr lang="en-US" altLang="en-US" sz="1800" dirty="0"/>
          </a:p>
          <a:p>
            <a:pPr algn="just"/>
            <a:r>
              <a:rPr lang="en-US" altLang="en-US" sz="1800" dirty="0">
                <a:latin typeface="Calibri" panose="020F0502020204030204"/>
              </a:rPr>
              <a:t>Early MLOps: MLflow/Optuna explorations.</a:t>
            </a:r>
            <a:endParaRPr lang="en-US" altLang="en-US" sz="2000" b="1" dirty="0"/>
          </a:p>
          <a:p>
            <a:pPr marL="0" indent="0" algn="just">
              <a:buNone/>
            </a:pPr>
            <a:r>
              <a:rPr lang="en-US" altLang="en-US" sz="2000" b="1" dirty="0">
                <a:latin typeface="Calibri" panose="020F0502020204030204"/>
              </a:rPr>
              <a:t>Algorithms in Focus:</a:t>
            </a:r>
            <a:endParaRPr lang="en-US" altLang="en-US" sz="2000" b="1" dirty="0"/>
          </a:p>
          <a:p>
            <a:pPr algn="just"/>
            <a:r>
              <a:rPr lang="en-US" altLang="en-US" sz="1800" dirty="0">
                <a:latin typeface="Calibri" panose="020F0502020204030204"/>
              </a:rPr>
              <a:t> Token attribution, attention analysis, quantization/pruning.</a:t>
            </a:r>
            <a:endParaRPr lang="en-US" altLang="en-US" sz="1800" dirty="0"/>
          </a:p>
          <a:p>
            <a:pPr algn="just"/>
            <a:r>
              <a:rPr lang="en-US" altLang="en-US" sz="1800" dirty="0">
                <a:latin typeface="Calibri" panose="020F0502020204030204"/>
              </a:rPr>
              <a:t>Concept Activation Vectors (TCAV), Early experiments to measure alignment between model activations and clinical concepts</a:t>
            </a:r>
            <a:endParaRPr lang="en-US" altLang="en-US" sz="18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9189085" cy="132715"/>
          </a:xfrm>
        </p:spPr>
        <p:txBody>
          <a:bodyPr>
            <a:noAutofit/>
          </a:bodyPr>
          <a:p>
            <a:r>
              <a:rPr lang="en-US" altLang="en-US" sz="3200" b="1" i="1" dirty="0">
                <a:latin typeface="Calibri" panose="020F0502020204030204"/>
                <a:sym typeface="+mn-ea"/>
              </a:rPr>
              <a:t>Dataset Details</a:t>
            </a:r>
            <a:endParaRPr lang="en-US" altLang="en-US" sz="3200" b="1" i="1" dirty="0">
              <a:sym typeface="+mn-ea"/>
            </a:endParaRPr>
          </a:p>
        </p:txBody>
      </p:sp>
      <p:sp>
        <p:nvSpPr>
          <p:cNvPr id="3" name="Content Placeholder 2"/>
          <p:cNvSpPr>
            <a:spLocks noGrp="1"/>
          </p:cNvSpPr>
          <p:nvPr>
            <p:ph idx="1"/>
          </p:nvPr>
        </p:nvSpPr>
        <p:spPr>
          <a:xfrm>
            <a:off x="838200" y="647700"/>
            <a:ext cx="10983595" cy="5226685"/>
          </a:xfrm>
        </p:spPr>
        <p:txBody>
          <a:bodyPr>
            <a:noAutofit/>
          </a:bodyPr>
          <a:p>
            <a:pPr marL="0" indent="0" algn="just">
              <a:buNone/>
            </a:pPr>
            <a:r>
              <a:rPr lang="en-US" altLang="en-US" sz="2000" b="1" dirty="0">
                <a:latin typeface="Calibri" panose="020F0502020204030204"/>
              </a:rPr>
              <a:t>Source:</a:t>
            </a:r>
            <a:endParaRPr lang="en-US" altLang="en-US" sz="2000" b="1" dirty="0"/>
          </a:p>
          <a:p>
            <a:pPr algn="just"/>
            <a:r>
              <a:rPr lang="en-US" altLang="en-US" sz="1800" dirty="0">
                <a:latin typeface="Calibri" panose="020F0502020204030204"/>
              </a:rPr>
              <a:t>  UMD Reddit Suicidality Dataset and CLPsych Shared Task corpus (clinician-annotated, de-identified Reddit posts).</a:t>
            </a:r>
            <a:endParaRPr lang="en-US" altLang="en-US" sz="1800" dirty="0"/>
          </a:p>
          <a:p>
            <a:pPr marL="0" indent="0" algn="just">
              <a:buNone/>
            </a:pPr>
            <a:r>
              <a:rPr lang="en-US" altLang="en-US" sz="2000" b="1" dirty="0">
                <a:latin typeface="Calibri" panose="020F0502020204030204"/>
              </a:rPr>
              <a:t>Size:</a:t>
            </a:r>
            <a:endParaRPr lang="en-US" altLang="en-US" sz="2000" b="1" dirty="0"/>
          </a:p>
          <a:p>
            <a:pPr algn="just"/>
            <a:r>
              <a:rPr lang="en-US" altLang="en-US" sz="1800" dirty="0">
                <a:latin typeface="Calibri" panose="020F0502020204030204"/>
              </a:rPr>
              <a:t> ~500 users / ~11,000 posts across risk categories (No Risk, Low, Moderate, Severe, Attempt), per CLPsych 2019 annotation scheme.</a:t>
            </a:r>
            <a:endParaRPr lang="en-US" altLang="en-US" sz="1800" dirty="0"/>
          </a:p>
          <a:p>
            <a:pPr marL="0" indent="0" algn="just">
              <a:buNone/>
            </a:pPr>
            <a:r>
              <a:rPr lang="en-US" altLang="en-US" sz="2000" b="1" dirty="0">
                <a:latin typeface="Calibri" panose="020F0502020204030204"/>
              </a:rPr>
              <a:t>Features:</a:t>
            </a:r>
            <a:endParaRPr lang="en-US" altLang="en-US" sz="2000" b="1" dirty="0"/>
          </a:p>
          <a:p>
            <a:pPr algn="just"/>
            <a:r>
              <a:rPr lang="en-US" altLang="en-US" sz="1800" dirty="0">
                <a:latin typeface="Calibri" panose="020F0502020204030204"/>
              </a:rPr>
              <a:t> Raw post text, timestamp, subreddit metadata, and derived linguistic features (LIWC categories, sentiment scores, n-grams) used alongside BERT embeddings.</a:t>
            </a:r>
            <a:endParaRPr lang="en-US" altLang="en-US" sz="1800" dirty="0"/>
          </a:p>
          <a:p>
            <a:pPr marL="0" indent="0" algn="just">
              <a:buNone/>
            </a:pPr>
            <a:r>
              <a:rPr lang="en-US" altLang="en-US" sz="2000" b="1" dirty="0">
                <a:latin typeface="Calibri" panose="020F0502020204030204"/>
              </a:rPr>
              <a:t>Preprocessing:</a:t>
            </a:r>
            <a:endParaRPr lang="en-US" altLang="en-US" sz="2000" b="1" dirty="0"/>
          </a:p>
          <a:p>
            <a:pPr algn="just"/>
            <a:r>
              <a:rPr lang="en-US" altLang="en-US" sz="1800" dirty="0">
                <a:latin typeface="Calibri" panose="020F0502020204030204"/>
              </a:rPr>
              <a:t> De-identification, tokenization (WordPiece), removal of moderator/bot posts, class-imbalance handling via stratified sampling, and train/validation/test splits by user (not by post) to avoid leakage.</a:t>
            </a:r>
            <a:endParaRPr lang="en-US" altLang="en-US" sz="1800" dirty="0"/>
          </a:p>
          <a:p>
            <a:pPr marL="0" indent="0" algn="just">
              <a:buNone/>
            </a:pPr>
            <a:r>
              <a:rPr lang="en-US" altLang="en-US" sz="2000" b="1" dirty="0">
                <a:latin typeface="Calibri" panose="020F0502020204030204"/>
              </a:rPr>
              <a:t>Relevance to Proposed Work:</a:t>
            </a:r>
            <a:endParaRPr lang="en-US" altLang="en-US" sz="2000" b="1" dirty="0"/>
          </a:p>
          <a:p>
            <a:pPr algn="just"/>
            <a:r>
              <a:rPr lang="en-US" altLang="en-US" sz="1800" dirty="0">
                <a:latin typeface="Calibri" panose="020F0502020204030204"/>
              </a:rPr>
              <a:t> Provides the clinically-annotated ground truth needed to validate that reverse-engineered model signals (hopelessness, urgency, isolation) align with real clinical risk levels.</a:t>
            </a:r>
            <a:endParaRPr lang="en-US" altLang="en-US" sz="1800" dirty="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45135"/>
          </a:xfrm>
        </p:spPr>
        <p:txBody>
          <a:bodyPr>
            <a:normAutofit fontScale="90000"/>
          </a:bodyPr>
          <a:lstStyle/>
          <a:p>
            <a:r>
              <a:rPr lang="en-US" altLang="en-US" sz="3200" b="1" i="1" dirty="0">
                <a:latin typeface="Calibri" panose="020F0502020204030204"/>
              </a:rPr>
              <a:t>Project State – Before vs. Current</a:t>
            </a:r>
            <a:endParaRPr lang="en-US" altLang="en-US" sz="3200" b="1" i="1" dirty="0"/>
          </a:p>
        </p:txBody>
      </p:sp>
      <p:sp>
        <p:nvSpPr>
          <p:cNvPr id="3" name="Content Placeholder 2"/>
          <p:cNvSpPr>
            <a:spLocks noGrp="1"/>
          </p:cNvSpPr>
          <p:nvPr>
            <p:ph idx="1"/>
          </p:nvPr>
        </p:nvSpPr>
        <p:spPr>
          <a:xfrm>
            <a:off x="838200" y="996315"/>
            <a:ext cx="10515600" cy="5180965"/>
          </a:xfrm>
        </p:spPr>
        <p:txBody>
          <a:bodyPr>
            <a:normAutofit lnSpcReduction="20000"/>
          </a:bodyPr>
          <a:lstStyle/>
          <a:p>
            <a:pPr marL="0" indent="0" algn="just">
              <a:buNone/>
            </a:pPr>
            <a:r>
              <a:rPr lang="en-US" altLang="en-US" sz="2000" b="1" dirty="0">
                <a:latin typeface="Calibri" panose="020F0502020204030204"/>
              </a:rPr>
              <a:t>Before state of the project:</a:t>
            </a:r>
            <a:endParaRPr lang="en-US" altLang="en-US" sz="2000" b="1" dirty="0"/>
          </a:p>
          <a:p>
            <a:pPr algn="just"/>
            <a:r>
              <a:rPr lang="en-US" altLang="en-US" sz="1800" dirty="0">
                <a:latin typeface="Calibri" panose="020F0502020204030204"/>
              </a:rPr>
              <a:t>Basic prediction scripts.</a:t>
            </a:r>
            <a:endParaRPr lang="en-US" altLang="en-US" sz="1800" dirty="0"/>
          </a:p>
          <a:p>
            <a:pPr algn="just"/>
            <a:r>
              <a:rPr lang="en-US" altLang="en-US" sz="1800" dirty="0">
                <a:latin typeface="Calibri" panose="020F0502020204030204"/>
              </a:rPr>
              <a:t>Raw risk scores with no explanations.</a:t>
            </a:r>
            <a:endParaRPr lang="en-US" altLang="en-US" sz="1800" dirty="0"/>
          </a:p>
          <a:p>
            <a:pPr algn="just"/>
            <a:r>
              <a:rPr lang="en-US" altLang="en-US" sz="1800" dirty="0">
                <a:latin typeface="Calibri" panose="020F0502020204030204"/>
              </a:rPr>
              <a:t>No auditing or compression.</a:t>
            </a:r>
            <a:endParaRPr lang="en-US" altLang="en-US" sz="1800" dirty="0"/>
          </a:p>
          <a:p>
            <a:pPr algn="just"/>
            <a:r>
              <a:rPr lang="en-US" altLang="en-US" sz="1800" dirty="0">
                <a:latin typeface="Calibri" panose="020F0502020204030204"/>
              </a:rPr>
              <a:t>Desktop-only, privacy risks.</a:t>
            </a:r>
            <a:endParaRPr lang="en-US" altLang="en-US" sz="1800" dirty="0"/>
          </a:p>
          <a:p>
            <a:endParaRPr lang="en-US" altLang="en-US" sz="1800" dirty="0"/>
          </a:p>
          <a:p>
            <a:pPr marL="0" indent="0" algn="just">
              <a:buNone/>
            </a:pPr>
            <a:r>
              <a:rPr lang="en-US" altLang="en-US" sz="2000" b="1" dirty="0">
                <a:latin typeface="Calibri" panose="020F0502020204030204"/>
              </a:rPr>
              <a:t>Current state of the project(version 0):</a:t>
            </a:r>
            <a:endParaRPr lang="en-US" altLang="en-US" sz="2000" b="1" dirty="0"/>
          </a:p>
          <a:p>
            <a:pPr algn="just"/>
            <a:r>
              <a:rPr lang="en-US" altLang="en-US" sz="1800" dirty="0">
                <a:latin typeface="Calibri" panose="020F0502020204030204"/>
              </a:rPr>
              <a:t>Reverse-engineered insights into model behavior.</a:t>
            </a:r>
            <a:endParaRPr lang="en-US" altLang="en-US" sz="1800" dirty="0"/>
          </a:p>
          <a:p>
            <a:pPr algn="just"/>
            <a:r>
              <a:rPr lang="en-US" altLang="en-US" sz="1800" dirty="0">
                <a:latin typeface="Calibri" panose="020F0502020204030204"/>
              </a:rPr>
              <a:t>Initial SHAP-highlighted explanations.</a:t>
            </a:r>
            <a:endParaRPr lang="en-US" altLang="en-US" sz="1800" dirty="0"/>
          </a:p>
          <a:p>
            <a:pPr algn="just"/>
            <a:r>
              <a:rPr lang="en-US" altLang="en-US" sz="1800" dirty="0">
                <a:latin typeface="Calibri" panose="020F0502020204030204"/>
              </a:rPr>
              <a:t>Versioned pipeline improvements .</a:t>
            </a:r>
            <a:endParaRPr lang="en-US" altLang="en-US" sz="1800" dirty="0"/>
          </a:p>
          <a:p>
            <a:pPr algn="just"/>
            <a:r>
              <a:rPr lang="en-US" altLang="en-US" sz="1800" dirty="0">
                <a:latin typeface="Calibri" panose="020F0502020204030204"/>
              </a:rPr>
              <a:t>Early on-device readiness and XAI integration.</a:t>
            </a:r>
            <a:endParaRPr lang="en-US" altLang="en-US" sz="1800" dirty="0"/>
          </a:p>
          <a:p>
            <a:pPr algn="just"/>
            <a:r>
              <a:rPr lang="en-US" altLang="en-US" sz="1800" dirty="0">
                <a:latin typeface="Calibri" panose="020F0502020204030204"/>
              </a:rPr>
              <a:t>Better understanding and auditability</a:t>
            </a:r>
            <a:r>
              <a:rPr lang="en-US" altLang="en-US" sz="1600" b="1" dirty="0">
                <a:latin typeface="Calibri" panose="020F0502020204030204"/>
              </a:rPr>
              <a:t>.</a:t>
            </a:r>
            <a:endParaRPr lang="en-US" altLang="en-US" sz="1600" b="1" dirty="0"/>
          </a:p>
          <a:p>
            <a:pPr marL="0" indent="0">
              <a:buNone/>
            </a:pPr>
            <a:endParaRPr lang="en-US" altLang="en-US" sz="16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4020" y="304800"/>
            <a:ext cx="7346950" cy="768985"/>
          </a:xfrm>
        </p:spPr>
        <p:txBody>
          <a:bodyPr>
            <a:normAutofit/>
          </a:bodyPr>
          <a:lstStyle/>
          <a:p>
            <a:r>
              <a:rPr lang="en-US" altLang="en-US" sz="3200" b="1" i="1" dirty="0">
                <a:latin typeface="Calibri" panose="020F0502020204030204"/>
              </a:rPr>
              <a:t>Loopholes/Gaps – Before vs. Current</a:t>
            </a:r>
            <a:endParaRPr lang="en-US" altLang="en-US" sz="3200" b="1" i="1" dirty="0"/>
          </a:p>
        </p:txBody>
      </p:sp>
      <p:sp>
        <p:nvSpPr>
          <p:cNvPr id="3" name="Content Placeholder 2"/>
          <p:cNvSpPr>
            <a:spLocks noGrp="1"/>
          </p:cNvSpPr>
          <p:nvPr>
            <p:ph idx="1"/>
          </p:nvPr>
        </p:nvSpPr>
        <p:spPr>
          <a:xfrm>
            <a:off x="414020" y="1323340"/>
            <a:ext cx="10939780" cy="4472940"/>
          </a:xfrm>
        </p:spPr>
        <p:txBody>
          <a:bodyPr>
            <a:noAutofit/>
          </a:bodyPr>
          <a:lstStyle/>
          <a:p>
            <a:pPr marL="0" indent="0" algn="just">
              <a:buNone/>
            </a:pPr>
            <a:r>
              <a:rPr lang="en-US" altLang="en-US" sz="2000" b="1" dirty="0">
                <a:latin typeface="Calibri" panose="020F0502020204030204"/>
              </a:rPr>
              <a:t>Before:</a:t>
            </a:r>
            <a:endParaRPr lang="en-US" altLang="en-US" sz="2000" b="1" dirty="0"/>
          </a:p>
          <a:p>
            <a:pPr algn="just"/>
            <a:r>
              <a:rPr lang="en-US" altLang="en-US" sz="1800" dirty="0">
                <a:latin typeface="Calibri" panose="020F0502020204030204"/>
              </a:rPr>
              <a:t>Opaque black-box decisions (low trust).</a:t>
            </a:r>
            <a:endParaRPr lang="en-US" altLang="en-US" sz="1800" dirty="0"/>
          </a:p>
          <a:p>
            <a:pPr algn="just"/>
            <a:r>
              <a:rPr lang="en-US" altLang="en-US" sz="1800" dirty="0">
                <a:latin typeface="Calibri" panose="020F0502020204030204"/>
              </a:rPr>
              <a:t>No explainability or clinical alignment.</a:t>
            </a:r>
            <a:endParaRPr lang="en-US" altLang="en-US" sz="1800" dirty="0"/>
          </a:p>
          <a:p>
            <a:pPr algn="just"/>
            <a:r>
              <a:rPr lang="en-US" altLang="en-US" sz="1800" dirty="0">
                <a:latin typeface="Calibri" panose="020F0502020204030204"/>
              </a:rPr>
              <a:t>Deployment and privacy issues.</a:t>
            </a:r>
            <a:endParaRPr lang="en-US" altLang="en-US" sz="1800" dirty="0"/>
          </a:p>
          <a:p>
            <a:pPr algn="just"/>
            <a:r>
              <a:rPr lang="en-US" altLang="en-US" sz="1800" dirty="0">
                <a:latin typeface="Calibri" panose="020F0502020204030204"/>
              </a:rPr>
              <a:t>Unaddressed biases and robustness gaps.</a:t>
            </a:r>
            <a:endParaRPr lang="en-US" altLang="en-US" sz="1800" dirty="0"/>
          </a:p>
          <a:p>
            <a:pPr algn="just"/>
            <a:endParaRPr lang="en-US" altLang="en-US" sz="1800" dirty="0"/>
          </a:p>
          <a:p>
            <a:pPr marL="0" indent="0" algn="just">
              <a:buNone/>
            </a:pPr>
            <a:r>
              <a:rPr lang="en-US" altLang="en-US" sz="2000" b="1" dirty="0">
                <a:latin typeface="Calibri" panose="020F0502020204030204"/>
              </a:rPr>
              <a:t>Current:</a:t>
            </a:r>
            <a:endParaRPr lang="en-US" altLang="en-US" sz="2000" b="1" dirty="0"/>
          </a:p>
          <a:p>
            <a:pPr algn="just"/>
            <a:r>
              <a:rPr lang="en-US" altLang="en-US" sz="1800" dirty="0">
                <a:latin typeface="Calibri" panose="020F0502020204030204"/>
              </a:rPr>
              <a:t>Addressed: Initial transparency via SHAP/attention; better pattern understanding; privacy foundations.</a:t>
            </a:r>
            <a:endParaRPr lang="en-US" altLang="en-US" sz="1800" dirty="0"/>
          </a:p>
          <a:p>
            <a:pPr algn="just"/>
            <a:r>
              <a:rPr lang="en-US" altLang="en-US" sz="1800" dirty="0">
                <a:latin typeface="Calibri" panose="020F0502020204030204"/>
              </a:rPr>
              <a:t>Remaining Loopholes: Full MLOps not complete, comprehensive clinical validation pending, multimodal expansion needed, full cross-platform testing ongoing.</a:t>
            </a:r>
            <a:endParaRPr lang="en-US" altLang="en-US" sz="1800" dirty="0"/>
          </a:p>
          <a:p>
            <a:pPr algn="just"/>
            <a:r>
              <a:rPr lang="en-US" altLang="en-US" sz="1800" dirty="0">
                <a:latin typeface="Calibri" panose="020F0502020204030204"/>
              </a:rPr>
              <a:t>Overall: Significant reduction in opacity; stronger foundation for responsible AI.</a:t>
            </a:r>
            <a:endParaRPr lang="en-US" altLang="en-US" sz="1800" dirty="0"/>
          </a:p>
          <a:p>
            <a:pPr algn="just"/>
            <a:endParaRPr lang="en-US" alt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304800"/>
            <a:ext cx="7948930" cy="805815"/>
          </a:xfrm>
        </p:spPr>
        <p:txBody>
          <a:bodyPr/>
          <a:p>
            <a:r>
              <a:rPr lang="en-US" b="1" dirty="0">
                <a:latin typeface="Calibri" panose="020F0502020204030204"/>
                <a:sym typeface="+mn-ea"/>
              </a:rPr>
              <a:t>   </a:t>
            </a:r>
            <a:r>
              <a:rPr lang="en-US" sz="3200" b="1" i="1" dirty="0">
                <a:latin typeface="Calibri" panose="020F0502020204030204"/>
                <a:sym typeface="+mn-ea"/>
              </a:rPr>
              <a:t> </a:t>
            </a:r>
            <a:r>
              <a:rPr lang="en-US" altLang="en-US" sz="3200" b="1" i="1" dirty="0">
                <a:latin typeface="Calibri" panose="020F0502020204030204"/>
                <a:sym typeface="+mn-ea"/>
              </a:rPr>
              <a:t>Challenges, Lessons &amp; Roadmap Ahead</a:t>
            </a:r>
            <a:endParaRPr lang="en-US" altLang="en-US" sz="3200" b="1" i="1" dirty="0">
              <a:sym typeface="+mn-ea"/>
            </a:endParaRPr>
          </a:p>
        </p:txBody>
      </p:sp>
      <p:sp>
        <p:nvSpPr>
          <p:cNvPr id="3" name="Content Placeholder 2"/>
          <p:cNvSpPr>
            <a:spLocks noGrp="1"/>
          </p:cNvSpPr>
          <p:nvPr>
            <p:ph idx="1"/>
          </p:nvPr>
        </p:nvSpPr>
        <p:spPr>
          <a:xfrm>
            <a:off x="457200" y="1253490"/>
            <a:ext cx="10515600" cy="4351338"/>
          </a:xfrm>
        </p:spPr>
        <p:txBody>
          <a:bodyPr/>
          <a:p>
            <a:pPr marL="0" indent="0" algn="just">
              <a:buNone/>
            </a:pPr>
            <a:r>
              <a:rPr lang="en-US" altLang="en-US" sz="2000" b="1" dirty="0">
                <a:latin typeface="Calibri" panose="020F0502020204030204"/>
              </a:rPr>
              <a:t>Challenges in Reverse Engineering So Far:</a:t>
            </a:r>
            <a:endParaRPr lang="en-US" altLang="en-US" sz="2000" b="1" dirty="0"/>
          </a:p>
          <a:p>
            <a:pPr algn="just"/>
            <a:r>
              <a:rPr lang="en-US" altLang="en-US" sz="1800" dirty="0">
                <a:latin typeface="Calibri" panose="020F0502020204030204"/>
              </a:rPr>
              <a:t>Interpreting complex attention patterns in transformer layers.</a:t>
            </a:r>
            <a:endParaRPr lang="en-US" altLang="en-US" sz="1800" dirty="0"/>
          </a:p>
          <a:p>
            <a:pPr algn="just"/>
            <a:r>
              <a:rPr lang="en-US" altLang="en-US" sz="1800" dirty="0">
                <a:latin typeface="Calibri" panose="020F0502020204030204"/>
              </a:rPr>
              <a:t>Balancing model compression with accuracy retention.</a:t>
            </a:r>
            <a:endParaRPr lang="en-US" altLang="en-US" sz="1800" dirty="0"/>
          </a:p>
          <a:p>
            <a:pPr algn="just"/>
            <a:r>
              <a:rPr lang="en-US" altLang="en-US" sz="1800" dirty="0">
                <a:latin typeface="Calibri" panose="020F0502020204030204"/>
              </a:rPr>
              <a:t>Handling dataset biases (Reddit-heavy data vs. clinical diversity).</a:t>
            </a:r>
            <a:endParaRPr lang="en-US" altLang="en-US" sz="1800" dirty="0"/>
          </a:p>
          <a:p>
            <a:pPr algn="just"/>
            <a:r>
              <a:rPr lang="en-US" altLang="en-US" sz="1800" dirty="0">
                <a:latin typeface="Calibri" panose="020F0502020204030204"/>
              </a:rPr>
              <a:t>Computational constraints during probing/SHAP on large models.</a:t>
            </a:r>
            <a:endParaRPr lang="en-US" altLang="en-US" sz="1800" dirty="0"/>
          </a:p>
          <a:p>
            <a:pPr algn="just"/>
            <a:r>
              <a:rPr lang="en-US" altLang="en-US" sz="1800" dirty="0">
                <a:latin typeface="Calibri" panose="020F0502020204030204"/>
              </a:rPr>
              <a:t>Ethical navigation (sensitive mental health domain).</a:t>
            </a:r>
            <a:endParaRPr lang="en-US" altLang="en-US" sz="1800" dirty="0"/>
          </a:p>
          <a:p>
            <a:pPr marL="0" indent="0" algn="just">
              <a:buNone/>
            </a:pPr>
            <a:r>
              <a:rPr lang="en-US" altLang="en-US" sz="2000" b="1" dirty="0">
                <a:latin typeface="Calibri" panose="020F0502020204030204"/>
              </a:rPr>
              <a:t>Key Lessons Learned:</a:t>
            </a:r>
            <a:endParaRPr lang="en-US" altLang="en-US" sz="2000" b="1" dirty="0"/>
          </a:p>
          <a:p>
            <a:pPr algn="just"/>
            <a:r>
              <a:rPr lang="en-US" altLang="en-US" sz="1800" dirty="0">
                <a:latin typeface="Calibri" panose="020F0502020204030204"/>
              </a:rPr>
              <a:t>Reverse engineering reveals clinically meaningful signals even without explicit training.</a:t>
            </a:r>
            <a:endParaRPr lang="en-US" altLang="en-US" sz="1800" dirty="0"/>
          </a:p>
          <a:p>
            <a:pPr algn="just"/>
            <a:r>
              <a:rPr lang="en-US" altLang="en-US" sz="1800" dirty="0">
                <a:latin typeface="Calibri" panose="020F0502020204030204"/>
              </a:rPr>
              <a:t>Early XAI integration saves time in later validation.</a:t>
            </a:r>
            <a:endParaRPr lang="en-US" altLang="en-US" sz="1800" dirty="0"/>
          </a:p>
          <a:p>
            <a:pPr algn="just"/>
            <a:r>
              <a:rPr lang="en-US" altLang="en-US" sz="1800" dirty="0">
                <a:latin typeface="Calibri" panose="020F0502020204030204"/>
              </a:rPr>
              <a:t>Version control and modular code  are essential.</a:t>
            </a:r>
            <a:endParaRPr lang="en-US" altLang="en-US" sz="1800" dirty="0"/>
          </a:p>
          <a:p>
            <a:pPr algn="just"/>
            <a:r>
              <a:rPr lang="en-US" altLang="en-US" sz="1800" dirty="0">
                <a:latin typeface="Calibri" panose="020F0502020204030204"/>
              </a:rPr>
              <a:t>On-device focus forces efficient, privacy-first design from the start.</a:t>
            </a:r>
            <a:endParaRPr lang="en-US" altLang="en-US" sz="1800" dirty="0"/>
          </a:p>
        </p:txBody>
      </p:sp>
      <p:sp>
        <p:nvSpPr>
          <p:cNvPr id="4" name="Date Placeholder 3"/>
          <p:cNvSpPr>
            <a:spLocks noGrp="1"/>
          </p:cNvSpPr>
          <p:nvPr>
            <p:ph type="dt" sz="half" idx="10"/>
          </p:nvPr>
        </p:nvSpPr>
        <p:spPr/>
        <p:txBody>
          <a:bodyPr/>
          <a:p>
            <a:pPr>
              <a:defRPr/>
            </a:pPr>
            <a:endParaRPr lang="en-US"/>
          </a:p>
        </p:txBody>
      </p:sp>
      <p:sp>
        <p:nvSpPr>
          <p:cNvPr id="5" name="Text Box 4"/>
          <p:cNvSpPr txBox="1"/>
          <p:nvPr/>
        </p:nvSpPr>
        <p:spPr>
          <a:xfrm>
            <a:off x="5605145" y="702945"/>
            <a:ext cx="4064000" cy="368300"/>
          </a:xfrm>
          <a:prstGeom prst="rect">
            <a:avLst/>
          </a:prstGeom>
          <a:noFill/>
        </p:spPr>
        <p:txBody>
          <a:bodyPr wrap="square" rtlCol="0">
            <a:spAutoFit/>
          </a:bodyPr>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US" altLang="en-US" sz="3200" b="1" i="1" dirty="0">
                <a:latin typeface="Calibri" panose="020F0502020204030204"/>
              </a:rPr>
              <a:t>Challenges, Lessons &amp; Roadmap Ahead</a:t>
            </a:r>
            <a:endParaRPr lang="en-US" altLang="en-US" sz="3200" b="1" i="1" dirty="0"/>
          </a:p>
        </p:txBody>
      </p:sp>
      <p:sp>
        <p:nvSpPr>
          <p:cNvPr id="3" name="Content Placeholder 2"/>
          <p:cNvSpPr>
            <a:spLocks noGrp="1"/>
          </p:cNvSpPr>
          <p:nvPr>
            <p:ph idx="1"/>
          </p:nvPr>
        </p:nvSpPr>
        <p:spPr>
          <a:xfrm>
            <a:off x="838200" y="1214120"/>
            <a:ext cx="10515600" cy="4519930"/>
          </a:xfrm>
        </p:spPr>
        <p:txBody>
          <a:bodyPr>
            <a:normAutofit lnSpcReduction="10000"/>
          </a:bodyPr>
          <a:lstStyle/>
          <a:p>
            <a:pPr marL="0" indent="0" algn="just">
              <a:buNone/>
            </a:pPr>
            <a:r>
              <a:rPr lang="en-US" sz="2000" b="1" dirty="0">
                <a:latin typeface="Calibri" panose="020F0502020204030204"/>
              </a:rPr>
              <a:t> </a:t>
            </a:r>
            <a:r>
              <a:rPr lang="en-US" altLang="en-US" sz="2000" b="1" dirty="0">
                <a:latin typeface="Calibri" panose="020F0502020204030204"/>
              </a:rPr>
              <a:t>Next Steps for improving:</a:t>
            </a:r>
            <a:endParaRPr lang="en-US" altLang="en-US" sz="2000" b="1" dirty="0"/>
          </a:p>
          <a:p>
            <a:pPr algn="just"/>
            <a:r>
              <a:rPr lang="en-US" altLang="en-US" sz="1800" dirty="0">
                <a:latin typeface="Calibri" panose="020F0502020204030204"/>
              </a:rPr>
              <a:t>Complete full MLOps pipeline and CI/CD.</a:t>
            </a:r>
            <a:endParaRPr lang="en-US" altLang="en-US" sz="1800" dirty="0"/>
          </a:p>
          <a:p>
            <a:pPr algn="just"/>
            <a:r>
              <a:rPr lang="en-US" altLang="en-US" sz="1800" dirty="0">
                <a:latin typeface="Calibri" panose="020F0502020204030204"/>
              </a:rPr>
              <a:t>Expand to multimodal (text + EEG if available).</a:t>
            </a:r>
            <a:endParaRPr lang="en-US" altLang="en-US" sz="1800" dirty="0"/>
          </a:p>
          <a:p>
            <a:pPr algn="just"/>
            <a:r>
              <a:rPr lang="en-US" altLang="en-US" sz="1800" dirty="0">
                <a:latin typeface="Calibri" panose="020F0502020204030204"/>
              </a:rPr>
              <a:t>Larger clinician feedback loop for explanations.</a:t>
            </a:r>
            <a:endParaRPr lang="en-US" altLang="en-US" sz="1800" dirty="0"/>
          </a:p>
          <a:p>
            <a:pPr algn="just"/>
            <a:r>
              <a:rPr lang="en-US" altLang="en-US" sz="1800" dirty="0">
                <a:latin typeface="Calibri" panose="020F0502020204030204"/>
              </a:rPr>
              <a:t>Full cross-platform testing and adversarial robustness hardening.</a:t>
            </a:r>
            <a:endParaRPr lang="en-US" altLang="en-US" sz="1800" dirty="0"/>
          </a:p>
          <a:p>
            <a:pPr algn="just"/>
            <a:r>
              <a:rPr lang="en-US" altLang="en-US" sz="1800" dirty="0">
                <a:latin typeface="Calibri" panose="020F0502020204030204"/>
              </a:rPr>
              <a:t>Prepare for conference submission with quantitative benchmarks.</a:t>
            </a:r>
            <a:endParaRPr lang="en-US" altLang="en-US" sz="1800" dirty="0"/>
          </a:p>
          <a:p>
            <a:endParaRPr lang="en-US" altLang="en-US" sz="1800" dirty="0"/>
          </a:p>
          <a:p>
            <a:pPr marL="0" indent="0" algn="just">
              <a:buNone/>
            </a:pPr>
            <a:r>
              <a:rPr lang="en-US" altLang="en-US" sz="2000" b="1" dirty="0">
                <a:latin typeface="Calibri" panose="020F0502020204030204"/>
              </a:rPr>
              <a:t>Plan of Implementation in the Operating System:</a:t>
            </a:r>
            <a:endParaRPr lang="en-US" altLang="en-US" sz="2000" b="1" dirty="0"/>
          </a:p>
          <a:p>
            <a:pPr algn="just"/>
            <a:r>
              <a:rPr lang="en-US" altLang="en-US" sz="1800" dirty="0">
                <a:latin typeface="Calibri" panose="020F0502020204030204"/>
              </a:rPr>
              <a:t>Use eBPF + kprobes as the Core Engine (Safe, powerful, and production-grade)</a:t>
            </a:r>
            <a:endParaRPr lang="en-US" altLang="en-US" sz="1800" dirty="0"/>
          </a:p>
          <a:p>
            <a:pPr algn="just"/>
            <a:r>
              <a:rPr lang="en-US" altLang="en-US" sz="1800" dirty="0">
                <a:latin typeface="Calibri" panose="020F0502020204030204"/>
              </a:rPr>
              <a:t>Use inotify or D-Bus to watch specific allowed directories/files (with permission)</a:t>
            </a:r>
            <a:endParaRPr lang="en-US" altLang="en-US" sz="1800" dirty="0"/>
          </a:p>
          <a:p>
            <a:pPr algn="just"/>
            <a:r>
              <a:rPr lang="en-US" altLang="en-US" sz="1800" dirty="0">
                <a:latin typeface="Calibri" panose="020F0502020204030204"/>
              </a:rPr>
              <a:t>Rate limiting on monitoring.</a:t>
            </a:r>
            <a:endParaRPr lang="en-US" altLang="en-US" sz="1800" dirty="0"/>
          </a:p>
          <a:p>
            <a:pPr algn="just"/>
            <a:r>
              <a:rPr lang="en-US" altLang="en-US" sz="1800" dirty="0">
                <a:latin typeface="Calibri" panose="020F0502020204030204"/>
              </a:rPr>
              <a:t>Kill switch and audit logs for the user.</a:t>
            </a:r>
            <a:endParaRPr lang="en-US" alt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240"/>
          </a:xfrm>
        </p:spPr>
        <p:txBody>
          <a:bodyPr/>
          <a:lstStyle/>
          <a:p>
            <a:r>
              <a:rPr lang="en-US" altLang="en-US" sz="3200" b="1" i="1" dirty="0">
                <a:latin typeface="Calibri" panose="020F0502020204030204"/>
              </a:rPr>
              <a:t>Construction Flow</a:t>
            </a:r>
            <a:endParaRPr lang="en-US" altLang="en-US" sz="3200" b="1" i="1" dirty="0"/>
          </a:p>
        </p:txBody>
      </p:sp>
      <p:pic>
        <p:nvPicPr>
          <p:cNvPr id="4" name="Construction Flow Diagram"/>
          <p:cNvPicPr>
            <a:picLocks noChangeAspect="1"/>
          </p:cNvPicPr>
          <p:nvPr/>
        </p:nvPicPr>
        <p:blipFill>
          <a:blip r:embed="rId1"/>
          <a:stretch>
            <a:fillRect/>
          </a:stretch>
        </p:blipFill>
        <p:spPr>
          <a:xfrm>
            <a:off x="4132580" y="1242060"/>
            <a:ext cx="3927475" cy="46062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US" altLang="en-US" sz="2800" b="1">
                <a:latin typeface="Calibri" panose="020F0502020204030204"/>
              </a:rPr>
              <a:t>Literature Survey</a:t>
            </a:r>
            <a:endParaRPr lang="en-US" altLang="en-US" sz="2800" b="1"/>
          </a:p>
        </p:txBody>
      </p:sp>
      <p:sp>
        <p:nvSpPr>
          <p:cNvPr id="3" name="Content Placeholder 2"/>
          <p:cNvSpPr>
            <a:spLocks noGrp="1"/>
          </p:cNvSpPr>
          <p:nvPr>
            <p:ph idx="1"/>
          </p:nvPr>
        </p:nvSpPr>
        <p:spPr>
          <a:xfrm>
            <a:off x="838200" y="1002665"/>
            <a:ext cx="10515600" cy="4697095"/>
          </a:xfrm>
        </p:spPr>
        <p:txBody>
          <a:bodyPr>
            <a:normAutofit lnSpcReduction="10000"/>
          </a:bodyPr>
          <a:p>
            <a:pPr algn="just"/>
            <a:r>
              <a:rPr lang="en-US" altLang="en-US" sz="2000">
                <a:latin typeface="Calibri" panose="020F0502020204030204"/>
                <a:sym typeface="+mn-ea"/>
              </a:rPr>
              <a:t>Pascal Penava et al.(2025)—</a:t>
            </a:r>
            <a:r>
              <a:rPr lang="en-US" altLang="en-US" sz="2000">
                <a:latin typeface="Calibri" panose="020F0502020204030204"/>
              </a:rPr>
              <a:t>Early-Stage Non-Severe Depression Detection Using a Novel CNN Approach on Resting-State EEG Data (2024) — IEEE.</a:t>
            </a:r>
            <a:endParaRPr lang="en-US" altLang="en-US" sz="2000"/>
          </a:p>
          <a:p>
            <a:pPr algn="just"/>
            <a:r>
              <a:rPr lang="en-US" altLang="en-US" sz="2000">
                <a:latin typeface="Calibri" panose="020F0502020204030204"/>
              </a:rPr>
              <a:t>Ji et al. (2021) — Review of machine learning methods for suicidal ideation detection.</a:t>
            </a:r>
            <a:endParaRPr lang="en-US" altLang="en-US" sz="2000"/>
          </a:p>
          <a:p>
            <a:pPr algn="just"/>
            <a:r>
              <a:rPr lang="en-US" altLang="en-US" sz="2000">
                <a:latin typeface="Calibri" panose="020F0502020204030204"/>
              </a:rPr>
              <a:t>Ophir et al. (2020) — Deep neural networks applied to Facebook posts for risk detection.</a:t>
            </a:r>
            <a:endParaRPr lang="en-US" altLang="en-US" sz="2000"/>
          </a:p>
          <a:p>
            <a:pPr algn="just"/>
            <a:r>
              <a:rPr lang="en-US" altLang="en-US" sz="2000">
                <a:latin typeface="Calibri" panose="020F0502020204030204"/>
              </a:rPr>
              <a:t>Tadesse et al. (2020) — Deep learning approaches on social media forums.</a:t>
            </a:r>
            <a:endParaRPr lang="en-US" altLang="en-US" sz="2000"/>
          </a:p>
          <a:p>
            <a:pPr algn="just"/>
            <a:r>
              <a:rPr lang="en-US" altLang="en-US" sz="2000">
                <a:latin typeface="Calibri" panose="020F0502020204030204"/>
              </a:rPr>
              <a:t>Gaur et al. (2019) — Knowledge-aware severity assessment of suicidal ideation.</a:t>
            </a:r>
            <a:endParaRPr lang="en-US" altLang="en-US" sz="2000"/>
          </a:p>
          <a:p>
            <a:pPr algn="just"/>
            <a:r>
              <a:rPr lang="en-US" altLang="en-US" sz="2000">
                <a:latin typeface="Calibri" panose="020F0502020204030204"/>
              </a:rPr>
              <a:t>Coppersmith et al. (2018) — NLP of social media for suicide risk screening.</a:t>
            </a:r>
            <a:endParaRPr lang="en-US" altLang="en-US" sz="2000"/>
          </a:p>
          <a:p>
            <a:pPr algn="just"/>
            <a:r>
              <a:rPr lang="en-US" altLang="en-US" sz="2000">
                <a:latin typeface="Calibri" panose="020F0502020204030204"/>
              </a:rPr>
              <a:t>Lundberg &amp; Lee (2017) — SHAP: A unified approach to interpreting model predictions.</a:t>
            </a:r>
            <a:endParaRPr lang="en-US" altLang="en-US" sz="2000"/>
          </a:p>
          <a:p>
            <a:pPr algn="just"/>
            <a:r>
              <a:rPr lang="en-US" altLang="en-US" sz="2000">
                <a:latin typeface="Calibri" panose="020F0502020204030204"/>
              </a:rPr>
              <a:t>Ribeiro et al. (2016) — LIME: Explaining the predictions of any classifier.</a:t>
            </a:r>
            <a:endParaRPr lang="en-US" altLang="en-US" sz="20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730250"/>
          </a:xfrm>
        </p:spPr>
        <p:txBody>
          <a:bodyPr/>
          <a:p>
            <a:r>
              <a:rPr lang="en-US" altLang="en-US" sz="2800" b="1">
                <a:latin typeface="Calibri" panose="020F0502020204030204"/>
              </a:rPr>
              <a:t>References</a:t>
            </a:r>
            <a:endParaRPr lang="en-US" altLang="en-US" sz="2800" b="1"/>
          </a:p>
        </p:txBody>
      </p:sp>
      <p:sp>
        <p:nvSpPr>
          <p:cNvPr id="3" name="Content Placeholder 2"/>
          <p:cNvSpPr>
            <a:spLocks noGrp="1"/>
          </p:cNvSpPr>
          <p:nvPr>
            <p:ph idx="1"/>
          </p:nvPr>
        </p:nvSpPr>
        <p:spPr>
          <a:xfrm>
            <a:off x="838200" y="1002665"/>
            <a:ext cx="10515600" cy="4697095"/>
          </a:xfrm>
        </p:spPr>
        <p:txBody>
          <a:bodyPr>
            <a:normAutofit/>
          </a:bodyPr>
          <a:p>
            <a:pPr algn="just"/>
            <a:r>
              <a:rPr lang="en-US" altLang="en-US" sz="2000" b="1">
                <a:latin typeface="Calibri" panose="020F0502020204030204"/>
              </a:rPr>
              <a:t>Book References:</a:t>
            </a:r>
            <a:endParaRPr lang="en-US" altLang="en-US" sz="2000" b="1">
              <a:latin typeface="Calibri" panose="020F0502020204030204"/>
            </a:endParaRPr>
          </a:p>
          <a:p>
            <a:pPr lvl="1" algn="just"/>
            <a:r>
              <a:rPr lang="en-US" altLang="en-US" sz="2000">
                <a:latin typeface="Calibri" panose="020F0502020204030204"/>
              </a:rPr>
              <a:t>Molnar, C. (2022). Interpretable Machine Learning: A Guide for Making Black Box Models Explainable (2nd ed.). independently published.</a:t>
            </a:r>
            <a:endParaRPr lang="en-US" altLang="en-US" sz="2000">
              <a:latin typeface="Calibri" panose="020F0502020204030204"/>
            </a:endParaRPr>
          </a:p>
          <a:p>
            <a:pPr algn="just"/>
            <a:r>
              <a:rPr lang="en-US" altLang="en-US" sz="2000" b="0">
                <a:latin typeface="Calibri" panose="020F0502020204030204"/>
              </a:rPr>
              <a:t> </a:t>
            </a:r>
            <a:r>
              <a:rPr lang="en-US" altLang="en-US" sz="2000" b="1">
                <a:latin typeface="Calibri" panose="020F0502020204030204"/>
              </a:rPr>
              <a:t>Web References:</a:t>
            </a:r>
            <a:endParaRPr lang="en-US" altLang="en-US" sz="2000"/>
          </a:p>
          <a:p>
            <a:pPr algn="just"/>
            <a:r>
              <a:rPr lang="en-US" altLang="en-US" sz="2000" b="0">
                <a:latin typeface="Calibri" panose="020F0502020204030204"/>
              </a:rPr>
              <a:t> Pascal Penava et al.(2025) </a:t>
            </a:r>
            <a:r>
              <a:rPr lang="en-US" altLang="en-US" sz="2000">
                <a:latin typeface="Calibri" panose="020F0502020204030204"/>
                <a:sym typeface="+mn-ea"/>
              </a:rPr>
              <a:t>— </a:t>
            </a:r>
            <a:r>
              <a:rPr lang="en-US" altLang="en-US" sz="2000" b="0">
                <a:latin typeface="Calibri" panose="020F0502020204030204"/>
              </a:rPr>
              <a:t>Early-Stage Non-Severe Depression Detection Using a Novel CNN Approach on Resting-State EEG Data — https://ieeexplore.ieee.org/document/10757418</a:t>
            </a:r>
            <a:endParaRPr lang="en-US" altLang="en-US" sz="2000"/>
          </a:p>
          <a:p>
            <a:pPr algn="just"/>
            <a:r>
              <a:rPr lang="en-US" altLang="en-US" sz="2000" b="0">
                <a:latin typeface="Calibri" panose="020F0502020204030204"/>
              </a:rPr>
              <a:t> Coppersmith et al. (2018) — https://journals.sagepub.com/doi/full/10.1177/1178222618792860</a:t>
            </a:r>
            <a:endParaRPr lang="en-US" altLang="en-US" sz="2000"/>
          </a:p>
          <a:p>
            <a:pPr algn="just"/>
            <a:r>
              <a:rPr lang="en-US" altLang="en-US" sz="2000" b="0">
                <a:latin typeface="Calibri" panose="020F0502020204030204"/>
              </a:rPr>
              <a:t> Ji et al. (2021) — https://ieeexplore.ieee.org/document/9199553</a:t>
            </a:r>
            <a:endParaRPr lang="en-US" altLang="en-US" sz="2000"/>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flipH="1">
            <a:off x="7391400" y="7086600"/>
            <a:ext cx="7825740" cy="1325880"/>
          </a:xfrm>
        </p:spPr>
        <p:txBody>
          <a:bodyPr/>
          <a:p>
            <a:endParaRPr lang="en-US"/>
          </a:p>
        </p:txBody>
      </p:sp>
      <p:sp>
        <p:nvSpPr>
          <p:cNvPr id="3" name="Content Placeholder 2"/>
          <p:cNvSpPr>
            <a:spLocks noGrp="1"/>
          </p:cNvSpPr>
          <p:nvPr>
            <p:ph idx="1"/>
          </p:nvPr>
        </p:nvSpPr>
        <p:spPr>
          <a:xfrm>
            <a:off x="990600" y="2286000"/>
            <a:ext cx="10515600" cy="1818640"/>
          </a:xfrm>
        </p:spPr>
        <p:txBody>
          <a:bodyPr>
            <a:normAutofit fontScale="25000"/>
          </a:bodyPr>
          <a:p>
            <a:r>
              <a:rPr lang="en-US">
                <a:solidFill>
                  <a:schemeClr val="tx1"/>
                </a:solidFill>
                <a:effectLst>
                  <a:outerShdw blurRad="38100" dist="19050" dir="2700000" algn="tl" rotWithShape="0">
                    <a:schemeClr val="dk1">
                      <a:alpha val="40000"/>
                    </a:schemeClr>
                  </a:outerShdw>
                </a:effectLst>
                <a:latin typeface="Calibri" panose="020F0502020204030204"/>
              </a:rPr>
              <a:t>                                                              </a:t>
            </a:r>
            <a:r>
              <a:rPr lang="en-US" sz="38400">
                <a:solidFill>
                  <a:schemeClr val="tx1"/>
                </a:solidFill>
                <a:effectLst>
                  <a:outerShdw blurRad="38100" dist="19050" dir="2700000" algn="tl" rotWithShape="0">
                    <a:schemeClr val="dk1">
                      <a:alpha val="40000"/>
                    </a:schemeClr>
                  </a:outerShdw>
                </a:effectLst>
                <a:latin typeface="Calibri" panose="020F0502020204030204"/>
              </a:rPr>
              <a:t>    </a:t>
            </a:r>
            <a:r>
              <a:rPr lang="en-US" sz="28800" b="1" i="1">
                <a:latin typeface="Calibri" panose="020F0502020204030204"/>
              </a:rPr>
              <a:t>THANK YOU</a:t>
            </a:r>
            <a:r>
              <a:rPr lang="en-US" sz="38400" b="1" i="1">
                <a:latin typeface="Calibri" panose="020F0502020204030204"/>
              </a:rPr>
              <a:t> </a:t>
            </a:r>
            <a:endParaRPr lang="en-US" sz="38400" b="1" i="1"/>
          </a:p>
        </p:txBody>
      </p:sp>
      <p:sp>
        <p:nvSpPr>
          <p:cNvPr id="4" name="Date Placeholder 3"/>
          <p:cNvSpPr>
            <a:spLocks noGrp="1"/>
          </p:cNvSpPr>
          <p:nvPr>
            <p:ph type="dt" sz="half" idx="10"/>
          </p:nvPr>
        </p:nvSpPr>
        <p:spPr/>
        <p:txBody>
          <a:bodyPr/>
          <a:p>
            <a:pPr>
              <a:defRPr/>
            </a:pP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8F1BCB14E108D43AB233A31F986D556" ma:contentTypeVersion="15" ma:contentTypeDescription="Create a new document." ma:contentTypeScope="" ma:versionID="606eb99ade008cbd837459e6299ff69f">
  <xsd:schema xmlns:xsd="http://www.w3.org/2001/XMLSchema" xmlns:xs="http://www.w3.org/2001/XMLSchema" xmlns:p="http://schemas.microsoft.com/office/2006/metadata/properties" xmlns:ns2="9091ee48-ca27-4fcf-b5de-98ddf097c65b" xmlns:ns3="aa0e8f73-967c-4e13-b55c-6b4dcdfd4341" targetNamespace="http://schemas.microsoft.com/office/2006/metadata/properties" ma:root="true" ma:fieldsID="4f0695f8f66d9a55fcdb756ad6a4800d" ns2:_="" ns3:_="">
    <xsd:import namespace="9091ee48-ca27-4fcf-b5de-98ddf097c65b"/>
    <xsd:import namespace="aa0e8f73-967c-4e13-b55c-6b4dcdfd434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91ee48-ca27-4fcf-b5de-98ddf097c6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8a8dc31b-8fe8-4e59-b85a-c7b64a9b44e1"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a0e8f73-967c-4e13-b55c-6b4dcdfd434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7c6695d-8cf1-4d67-be06-2ceec35c97d8}" ma:internalName="TaxCatchAll" ma:showField="CatchAllData" ma:web="aa0e8f73-967c-4e13-b55c-6b4dcdfd4341">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aa0e8f73-967c-4e13-b55c-6b4dcdfd4341" xsi:nil="true"/>
    <lcf76f155ced4ddcb4097134ff3c332f xmlns="9091ee48-ca27-4fcf-b5de-98ddf097c65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91E36E6-5217-4E12-971E-AF9D2089B059}">
  <ds:schemaRefs/>
</ds:datastoreItem>
</file>

<file path=customXml/itemProps2.xml><?xml version="1.0" encoding="utf-8"?>
<ds:datastoreItem xmlns:ds="http://schemas.openxmlformats.org/officeDocument/2006/customXml" ds:itemID="{FFB38897-1384-41D0-8D2B-BBB64548DD67}">
  <ds:schemaRefs/>
</ds:datastoreItem>
</file>

<file path=customXml/itemProps3.xml><?xml version="1.0" encoding="utf-8"?>
<ds:datastoreItem xmlns:ds="http://schemas.openxmlformats.org/officeDocument/2006/customXml" ds:itemID="{E4703F4C-A684-46B9-B306-BF2B5B491245}">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0</TotalTime>
  <Words>7601</Words>
  <Application>WPS Presentation</Application>
  <PresentationFormat>Widescreen</PresentationFormat>
  <Paragraphs>155</Paragraphs>
  <Slides>13</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13</vt:i4>
      </vt:variant>
    </vt:vector>
  </HeadingPairs>
  <TitlesOfParts>
    <vt:vector size="25" baseType="lpstr">
      <vt:lpstr>Arial</vt:lpstr>
      <vt:lpstr>SimSun</vt:lpstr>
      <vt:lpstr>Wingdings</vt:lpstr>
      <vt:lpstr>Times New Roman</vt:lpstr>
      <vt:lpstr>Calibri</vt:lpstr>
      <vt:lpstr>Helvetica</vt:lpstr>
      <vt:lpstr>Calibri</vt:lpstr>
      <vt:lpstr>Times New Roman</vt:lpstr>
      <vt:lpstr>Microsoft YaHei</vt:lpstr>
      <vt:lpstr>Arial Unicode MS</vt:lpstr>
      <vt:lpstr>Calibri Light</vt:lpstr>
      <vt:lpstr>Office Theme</vt:lpstr>
      <vt:lpstr>   </vt:lpstr>
      <vt:lpstr>Reverse Engineering Suicide Prediction Models</vt:lpstr>
      <vt:lpstr>Project Improvements &amp; Key Innovations</vt:lpstr>
      <vt:lpstr>Technical Stack &amp; Algorithms</vt:lpstr>
      <vt:lpstr>Dataset Details</vt:lpstr>
      <vt:lpstr>Project State – Before vs. Current</vt:lpstr>
      <vt:lpstr>Loopholes/Gaps – Before vs. Current</vt:lpstr>
      <vt:lpstr>    Challenges, Lessons &amp; Roadmap Ahead</vt:lpstr>
      <vt:lpstr>Challenges, Lessons &amp; Roadmap Ahead</vt:lpstr>
      <vt:lpstr>Construction Flow</vt:lpstr>
      <vt:lpstr>Literature Survey</vt:lpstr>
      <vt:lpstr>References</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166</cp:revision>
  <dcterms:created xsi:type="dcterms:W3CDTF">2006-08-16T00:00:00Z</dcterms:created>
  <dcterms:modified xsi:type="dcterms:W3CDTF">2026-07-15T05:54:19Z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1033-12.1.0.26886</vt:lpwstr>
  </property>
  <property fmtid="{D5CDD505-2E9C-101B-9397-08002B2CF9AE}" pid="3" name="ICV">
    <vt:lpwstr>3B150D46A83F426F81CA23F6F2AEFF82_13</vt:lpwstr>
  </property>
  <property fmtid="{D5CDD505-2E9C-101B-9397-08002B2CF9AE}" pid="4" name="ContentTypeId">
    <vt:lpwstr>0x01010098F1BCB14E108D43AB233A31F986D556</vt:lpwstr>
  </property>
</Properties>
</file>