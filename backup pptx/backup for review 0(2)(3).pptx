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7" r:id="rId3"/>
    <p:sldId id="258" r:id="rId4"/>
    <p:sldId id="260" r:id="rId5"/>
    <p:sldId id="270" r:id="rId6"/>
    <p:sldId id="280" r:id="rId7"/>
    <p:sldId id="282" r:id="rId8"/>
    <p:sldId id="261" r:id="rId9"/>
    <p:sldId id="262" r:id="rId10"/>
    <p:sldId id="272" r:id="rId11"/>
    <p:sldId id="263" r:id="rId12"/>
    <p:sldId id="279" r:id="rId13"/>
    <p:sldId id="281" r:id="rId14"/>
    <p:sldId id="278"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979" autoAdjust="0"/>
    <p:restoredTop sz="94660"/>
  </p:normalViewPr>
  <p:slideViewPr>
    <p:cSldViewPr showGuides="1">
      <p:cViewPr varScale="1">
        <p:scale>
          <a:sx n="78" d="100"/>
          <a:sy n="78" d="100"/>
        </p:scale>
        <p:origin x="230" y="62"/>
      </p:cViewPr>
      <p:guideLst>
        <p:guide orient="horz" pos="2160"/>
        <p:guide pos="3840"/>
      </p:guideLst>
    </p:cSldViewPr>
  </p:slideViewPr>
  <p:notesTextViewPr>
    <p:cViewPr>
      <p:scale>
        <a:sx n="75" d="100"/>
        <a:sy n="75"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2" Type="http://schemas.openxmlformats.org/officeDocument/2006/relationships/customXml" Target="../customXml/item3.xml"/><Relationship Id="rId21" Type="http://schemas.openxmlformats.org/officeDocument/2006/relationships/customXml" Target="../customXml/item2.xml"/><Relationship Id="rId20" Type="http://schemas.openxmlformats.org/officeDocument/2006/relationships/customXml" Target="../customXml/item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notesMaster" Target="notesMasters/notesMaster1.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cs typeface="+mn-cs"/>
              </a:defRPr>
            </a:lvl1pPr>
          </a:lstStyle>
          <a:p>
            <a:pPr>
              <a:defRPr/>
            </a:pPr>
            <a:fld id="{2BBAC0CA-2AD6-4EE7-937D-509BD6249079}" type="datetimeFigureOut">
              <a:rPr lang="en-US"/>
            </a:fld>
            <a:endParaRPr lang="en-I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IN"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a:p>
            <a:pPr lvl="4"/>
            <a:r>
              <a:rPr lang="en-US" noProof="0"/>
              <a:t>Fifth level</a:t>
            </a:r>
            <a:endParaRPr lang="en-IN"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smtClean="0">
                <a:latin typeface="+mn-lt"/>
                <a:cs typeface="+mn-cs"/>
              </a:defRPr>
            </a:lvl1pPr>
          </a:lstStyle>
          <a:p>
            <a:pPr>
              <a:defRPr/>
            </a:pPr>
            <a:fld id="{3D2A3619-0F3E-409F-8BBC-62CAA7C845C7}" type="slidenum">
              <a:rPr lang="en-IN"/>
            </a:fld>
            <a:endParaRPr lang="en-I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r>
              <a:rPr lang="en-US"/>
              <a:t>Cancer Prediction Web application </a:t>
            </a:r>
            <a:endParaRPr lang="en-US"/>
          </a:p>
        </p:txBody>
      </p:sp>
      <p:sp>
        <p:nvSpPr>
          <p:cNvPr id="6" name="Slide Number Placeholder 5"/>
          <p:cNvSpPr>
            <a:spLocks noGrp="1"/>
          </p:cNvSpPr>
          <p:nvPr>
            <p:ph type="sldNum" sz="quarter" idx="12"/>
          </p:nvPr>
        </p:nvSpPr>
        <p:spPr/>
        <p:txBody>
          <a:bodyPr/>
          <a:lstStyle/>
          <a:p>
            <a:pPr>
              <a:defRPr/>
            </a:pPr>
            <a:fld id="{BADD89DD-81C4-4E6B-AFEA-7492BED30D44}"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r>
              <a:rPr lang="en-US"/>
              <a:t>Cancer Prediction Web application </a:t>
            </a:r>
            <a:endParaRPr lang="en-US"/>
          </a:p>
        </p:txBody>
      </p:sp>
      <p:sp>
        <p:nvSpPr>
          <p:cNvPr id="6" name="Slide Number Placeholder 5"/>
          <p:cNvSpPr>
            <a:spLocks noGrp="1"/>
          </p:cNvSpPr>
          <p:nvPr>
            <p:ph type="sldNum" sz="quarter" idx="12"/>
          </p:nvPr>
        </p:nvSpPr>
        <p:spPr/>
        <p:txBody>
          <a:bodyPr/>
          <a:lstStyle/>
          <a:p>
            <a:pPr>
              <a:defRPr/>
            </a:pPr>
            <a:fld id="{E24E1BA5-2B3A-4BA0-82C4-250B1E03B99C}"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r>
              <a:rPr lang="en-US"/>
              <a:t>Cancer Prediction Web application </a:t>
            </a:r>
            <a:endParaRPr lang="en-US"/>
          </a:p>
        </p:txBody>
      </p:sp>
      <p:sp>
        <p:nvSpPr>
          <p:cNvPr id="6" name="Slide Number Placeholder 5"/>
          <p:cNvSpPr>
            <a:spLocks noGrp="1"/>
          </p:cNvSpPr>
          <p:nvPr>
            <p:ph type="sldNum" sz="quarter" idx="12"/>
          </p:nvPr>
        </p:nvSpPr>
        <p:spPr/>
        <p:txBody>
          <a:bodyPr/>
          <a:lstStyle/>
          <a:p>
            <a:pPr>
              <a:defRPr/>
            </a:pPr>
            <a:fld id="{C4ED520F-C50B-47BE-919C-C536996A22A7}"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r>
              <a:rPr lang="en-US"/>
              <a:t>Cancer Prediction Web application </a:t>
            </a:r>
            <a:endParaRPr lang="en-US"/>
          </a:p>
        </p:txBody>
      </p:sp>
      <p:sp>
        <p:nvSpPr>
          <p:cNvPr id="7" name="Slide Number Placeholder 6"/>
          <p:cNvSpPr>
            <a:spLocks noGrp="1"/>
          </p:cNvSpPr>
          <p:nvPr>
            <p:ph type="sldNum" sz="quarter" idx="12"/>
          </p:nvPr>
        </p:nvSpPr>
        <p:spPr/>
        <p:txBody>
          <a:bodyPr/>
          <a:lstStyle/>
          <a:p>
            <a:pPr>
              <a:defRPr/>
            </a:pPr>
            <a:fld id="{57776205-8481-4410-854E-4E65F0EAD3D5}"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p>
            <a:pPr>
              <a:defRPr/>
            </a:pPr>
            <a:r>
              <a:rPr lang="en-US"/>
              <a:t>Cancer Prediction Web application </a:t>
            </a:r>
            <a:endParaRPr lang="en-US"/>
          </a:p>
        </p:txBody>
      </p:sp>
      <p:sp>
        <p:nvSpPr>
          <p:cNvPr id="9" name="Slide Number Placeholder 8"/>
          <p:cNvSpPr>
            <a:spLocks noGrp="1"/>
          </p:cNvSpPr>
          <p:nvPr>
            <p:ph type="sldNum" sz="quarter" idx="12"/>
          </p:nvPr>
        </p:nvSpPr>
        <p:spPr/>
        <p:txBody>
          <a:bodyPr/>
          <a:lstStyle/>
          <a:p>
            <a:pPr>
              <a:defRPr/>
            </a:pPr>
            <a:fld id="{4C484B84-5CB0-42B5-A7C1-8F6F1B611DD3}"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r>
              <a:rPr lang="en-US"/>
              <a:t>Cancer Prediction Web application </a:t>
            </a:r>
            <a:endParaRPr lang="en-US"/>
          </a:p>
        </p:txBody>
      </p:sp>
      <p:sp>
        <p:nvSpPr>
          <p:cNvPr id="5" name="Slide Number Placeholder 4"/>
          <p:cNvSpPr>
            <a:spLocks noGrp="1"/>
          </p:cNvSpPr>
          <p:nvPr>
            <p:ph type="sldNum" sz="quarter" idx="12"/>
          </p:nvPr>
        </p:nvSpPr>
        <p:spPr/>
        <p:txBody>
          <a:bodyPr/>
          <a:lstStyle/>
          <a:p>
            <a:pPr>
              <a:defRPr/>
            </a:pPr>
            <a:fld id="{94403558-3183-467E-979E-874438A3662C}"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r>
              <a:rPr lang="en-US"/>
              <a:t>Cancer Prediction Web application </a:t>
            </a:r>
            <a:endParaRPr lang="en-US"/>
          </a:p>
        </p:txBody>
      </p:sp>
      <p:sp>
        <p:nvSpPr>
          <p:cNvPr id="4" name="Slide Number Placeholder 3"/>
          <p:cNvSpPr>
            <a:spLocks noGrp="1"/>
          </p:cNvSpPr>
          <p:nvPr>
            <p:ph type="sldNum" sz="quarter" idx="12"/>
          </p:nvPr>
        </p:nvSpPr>
        <p:spPr/>
        <p:txBody>
          <a:bodyPr/>
          <a:lstStyle/>
          <a:p>
            <a:pPr>
              <a:defRPr/>
            </a:pPr>
            <a:fld id="{E872ECD8-2D72-4EB1-90BF-B7129A01E2D7}"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r>
              <a:rPr lang="en-US"/>
              <a:t>Cancer Prediction Web application </a:t>
            </a:r>
            <a:endParaRPr lang="en-US"/>
          </a:p>
        </p:txBody>
      </p:sp>
      <p:sp>
        <p:nvSpPr>
          <p:cNvPr id="7" name="Slide Number Placeholder 6"/>
          <p:cNvSpPr>
            <a:spLocks noGrp="1"/>
          </p:cNvSpPr>
          <p:nvPr>
            <p:ph type="sldNum" sz="quarter" idx="12"/>
          </p:nvPr>
        </p:nvSpPr>
        <p:spPr/>
        <p:txBody>
          <a:bodyPr/>
          <a:lstStyle/>
          <a:p>
            <a:pPr>
              <a:defRPr/>
            </a:pPr>
            <a:fld id="{0F02FCE7-E60B-4AB4-93A7-EA35125EBB7E}"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r>
              <a:rPr lang="en-US"/>
              <a:t>Cancer Prediction Web application </a:t>
            </a:r>
            <a:endParaRPr lang="en-US"/>
          </a:p>
        </p:txBody>
      </p:sp>
      <p:sp>
        <p:nvSpPr>
          <p:cNvPr id="7" name="Slide Number Placeholder 6"/>
          <p:cNvSpPr>
            <a:spLocks noGrp="1"/>
          </p:cNvSpPr>
          <p:nvPr>
            <p:ph type="sldNum" sz="quarter" idx="12"/>
          </p:nvPr>
        </p:nvSpPr>
        <p:spPr/>
        <p:txBody>
          <a:bodyPr/>
          <a:lstStyle/>
          <a:p>
            <a:pPr>
              <a:defRPr/>
            </a:pPr>
            <a:fld id="{072E6F8F-77F3-49D3-92DB-54C5A5D7EE3C}"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r>
              <a:rPr lang="en-US"/>
              <a:t>Cancer Prediction Web application </a:t>
            </a:r>
            <a:endParaRPr lang="en-US"/>
          </a:p>
        </p:txBody>
      </p:sp>
      <p:sp>
        <p:nvSpPr>
          <p:cNvPr id="6" name="Slide Number Placeholder 5"/>
          <p:cNvSpPr>
            <a:spLocks noGrp="1"/>
          </p:cNvSpPr>
          <p:nvPr>
            <p:ph type="sldNum" sz="quarter" idx="12"/>
          </p:nvPr>
        </p:nvSpPr>
        <p:spPr/>
        <p:txBody>
          <a:bodyPr/>
          <a:lstStyle/>
          <a:p>
            <a:pPr>
              <a:defRPr/>
            </a:pPr>
            <a:fld id="{4ABED7A0-3F6B-46DF-823D-1CE0DBD63021}"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r>
              <a:rPr lang="en-US"/>
              <a:t>Cancer Prediction Web application </a:t>
            </a:r>
            <a:endParaRPr lang="en-US"/>
          </a:p>
        </p:txBody>
      </p:sp>
      <p:sp>
        <p:nvSpPr>
          <p:cNvPr id="6" name="Slide Number Placeholder 5"/>
          <p:cNvSpPr>
            <a:spLocks noGrp="1"/>
          </p:cNvSpPr>
          <p:nvPr>
            <p:ph type="sldNum" sz="quarter" idx="12"/>
          </p:nvPr>
        </p:nvSpPr>
        <p:spPr/>
        <p:txBody>
          <a:bodyPr/>
          <a:lstStyle/>
          <a:p>
            <a:pPr>
              <a:defRPr/>
            </a:pPr>
            <a:fld id="{AA76FB47-3F90-442C-8F17-A1D13EE19593}"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r>
              <a:rPr lang="en-US"/>
              <a:t>Cancer Prediction Web application </a:t>
            </a: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CEAC9AEA-22CE-4FC0-819B-58CD2AEA48F2}"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457200"/>
            <a:ext cx="8458200" cy="609600"/>
          </a:xfrm>
        </p:spPr>
        <p:txBody>
          <a:bodyPr>
            <a:normAutofit fontScale="90000"/>
          </a:bodyPr>
          <a:lstStyle/>
          <a:p>
            <a:pPr fontAlgn="auto">
              <a:spcAft>
                <a:spcPts val="0"/>
              </a:spcAft>
              <a:defRPr/>
            </a:pPr>
            <a:br>
              <a:rPr lang="en-IN" b="1" dirty="0">
                <a:solidFill>
                  <a:schemeClr val="tx1">
                    <a:lumMod val="95000"/>
                    <a:lumOff val="5000"/>
                  </a:schemeClr>
                </a:solidFill>
                <a:latin typeface="Times New Roman" panose="02020603050405020304" pitchFamily="18" charset="0"/>
                <a:cs typeface="Times New Roman" panose="02020603050405020304" pitchFamily="18" charset="0"/>
              </a:rPr>
            </a:br>
            <a:br>
              <a:rPr lang="en-IN" b="1" dirty="0">
                <a:solidFill>
                  <a:schemeClr val="tx1">
                    <a:lumMod val="95000"/>
                    <a:lumOff val="5000"/>
                  </a:schemeClr>
                </a:solidFill>
                <a:latin typeface="Times New Roman" panose="02020603050405020304" pitchFamily="18" charset="0"/>
                <a:cs typeface="Times New Roman" panose="02020603050405020304" pitchFamily="18" charset="0"/>
              </a:rPr>
            </a:br>
            <a:br>
              <a:rPr lang="en-IN" b="1" dirty="0">
                <a:solidFill>
                  <a:schemeClr val="tx1">
                    <a:lumMod val="95000"/>
                    <a:lumOff val="5000"/>
                  </a:schemeClr>
                </a:solidFill>
                <a:latin typeface="Times New Roman" panose="02020603050405020304" pitchFamily="18" charset="0"/>
                <a:cs typeface="Times New Roman" panose="02020603050405020304" pitchFamily="18" charset="0"/>
              </a:rPr>
            </a:br>
            <a:endParaRPr lang="en-IN"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6" name="Rectangle 5"/>
          <p:cNvSpPr/>
          <p:nvPr/>
        </p:nvSpPr>
        <p:spPr>
          <a:xfrm>
            <a:off x="3276600" y="152400"/>
            <a:ext cx="6315075" cy="706755"/>
          </a:xfrm>
          <a:prstGeom prst="rect">
            <a:avLst/>
          </a:prstGeom>
        </p:spPr>
        <p:txBody>
          <a:bodyPr wrap="square">
            <a:spAutoFit/>
          </a:bodyPr>
          <a:lstStyle/>
          <a:p>
            <a:pPr algn="just" fontAlgn="auto">
              <a:spcBef>
                <a:spcPts val="0"/>
              </a:spcBef>
              <a:spcAft>
                <a:spcPts val="0"/>
              </a:spcAft>
              <a:defRPr/>
            </a:pPr>
            <a:r>
              <a:rPr lang="en-IN" sz="2000" b="1" dirty="0" err="1">
                <a:solidFill>
                  <a:schemeClr val="tx1">
                    <a:lumMod val="95000"/>
                    <a:lumOff val="5000"/>
                  </a:schemeClr>
                </a:solidFill>
                <a:latin typeface="Calibri" panose="020F0502020204030204" pitchFamily="34" charset="0"/>
                <a:cs typeface="Helvetica" panose="020B0604020202020204" pitchFamily="34" charset="0"/>
              </a:rPr>
              <a:t>Dr.Mahalingam</a:t>
            </a:r>
            <a:r>
              <a:rPr lang="en-IN" sz="2000" b="1" dirty="0">
                <a:solidFill>
                  <a:schemeClr val="tx1">
                    <a:lumMod val="95000"/>
                    <a:lumOff val="5000"/>
                  </a:schemeClr>
                </a:solidFill>
                <a:latin typeface="Calibri" panose="020F0502020204030204" pitchFamily="34" charset="0"/>
                <a:cs typeface="Helvetica" panose="020B0604020202020204" pitchFamily="34" charset="0"/>
              </a:rPr>
              <a:t> College of Engineering &amp; Technology</a:t>
            </a:r>
            <a:endParaRPr lang="en-IN" sz="2000" b="1" dirty="0">
              <a:solidFill>
                <a:schemeClr val="tx1">
                  <a:lumMod val="95000"/>
                  <a:lumOff val="5000"/>
                </a:schemeClr>
              </a:solidFill>
              <a:latin typeface="Helvetica" panose="020B0604020202020204" pitchFamily="34" charset="0"/>
              <a:cs typeface="Helvetica" panose="020B0604020202020204" pitchFamily="34" charset="0"/>
            </a:endParaRPr>
          </a:p>
          <a:p>
            <a:pPr algn="just" fontAlgn="auto">
              <a:spcBef>
                <a:spcPts val="0"/>
              </a:spcBef>
              <a:spcAft>
                <a:spcPts val="0"/>
              </a:spcAft>
              <a:defRPr/>
            </a:pPr>
            <a:r>
              <a:rPr lang="en-IN" sz="2000" b="1" dirty="0">
                <a:solidFill>
                  <a:schemeClr val="tx1">
                    <a:lumMod val="95000"/>
                    <a:lumOff val="5000"/>
                  </a:schemeClr>
                </a:solidFill>
                <a:latin typeface="Calibri" panose="020F0502020204030204" pitchFamily="34" charset="0"/>
                <a:cs typeface="Helvetica" panose="020B0604020202020204" pitchFamily="34" charset="0"/>
              </a:rPr>
              <a:t>Department of Artificial Intelligence &amp; Data Science </a:t>
            </a:r>
            <a:endParaRPr lang="en-IN" sz="2000" b="1" dirty="0">
              <a:solidFill>
                <a:schemeClr val="tx1">
                  <a:lumMod val="95000"/>
                  <a:lumOff val="5000"/>
                </a:schemeClr>
              </a:solidFill>
              <a:latin typeface="Helvetica" panose="020B0604020202020204" pitchFamily="34" charset="0"/>
              <a:cs typeface="Helvetica" panose="020B0604020202020204" pitchFamily="34" charset="0"/>
            </a:endParaRPr>
          </a:p>
        </p:txBody>
      </p:sp>
      <p:pic>
        <p:nvPicPr>
          <p:cNvPr id="8" name="Picture 7" descr="C:\Users\STAFFS\Desktop\MCET LOGO NEW_1 (1).jpg"/>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96240" y="152548"/>
            <a:ext cx="1584960" cy="762000"/>
          </a:xfrm>
          <a:prstGeom prst="rect">
            <a:avLst/>
          </a:prstGeom>
          <a:noFill/>
          <a:ln>
            <a:noFill/>
          </a:ln>
        </p:spPr>
      </p:pic>
      <p:sp>
        <p:nvSpPr>
          <p:cNvPr id="9" name="Google Shape;452;p13"/>
          <p:cNvSpPr txBox="1"/>
          <p:nvPr/>
        </p:nvSpPr>
        <p:spPr>
          <a:xfrm>
            <a:off x="1524000" y="1219200"/>
            <a:ext cx="8907145" cy="4871085"/>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74320" indent="-274320" algn="just">
              <a:lnSpc>
                <a:spcPct val="150000"/>
              </a:lnSpc>
              <a:spcBef>
                <a:spcPts val="0"/>
              </a:spcBef>
              <a:buSzPts val="2044"/>
              <a:buFont typeface="Arial" panose="020B0604020202020204" pitchFamily="34" charset="0"/>
              <a:buNone/>
            </a:pPr>
            <a:r>
              <a:rPr lang="en-IN" sz="2400" dirty="0">
                <a:solidFill>
                  <a:srgbClr val="FF0000"/>
                </a:solidFill>
                <a:latin typeface="Calibri" panose="020F0502020204030204"/>
                <a:ea typeface="Times New Roman" panose="02020603050405020304"/>
                <a:cs typeface="Times New Roman" panose="02020603050405020304"/>
                <a:sym typeface="Times New Roman" panose="02020603050405020304"/>
              </a:rPr>
              <a:t>Team Number         : </a:t>
            </a:r>
            <a:r>
              <a:rPr lang="en-US" altLang="en-IN" sz="2000" b="1" dirty="0">
                <a:solidFill>
                  <a:schemeClr val="tx1"/>
                </a:solidFill>
                <a:latin typeface="Calibri" panose="020F0502020204030204"/>
                <a:ea typeface="Times New Roman" panose="02020603050405020304"/>
                <a:cs typeface="Times New Roman" panose="02020603050405020304"/>
                <a:sym typeface="Times New Roman" panose="02020603050405020304"/>
              </a:rPr>
              <a:t>A17</a:t>
            </a:r>
            <a:endParaRPr lang="en-IN" sz="2400" b="1" dirty="0">
              <a:solidFill>
                <a:srgbClr val="FF0000"/>
              </a:solidFill>
              <a:latin typeface="Times New Roman" panose="02020603050405020304"/>
              <a:ea typeface="Times New Roman" panose="02020603050405020304"/>
              <a:cs typeface="Times New Roman" panose="02020603050405020304"/>
              <a:sym typeface="Times New Roman" panose="02020603050405020304"/>
            </a:endParaRPr>
          </a:p>
          <a:p>
            <a:pPr marL="274320" indent="-274320" algn="just">
              <a:lnSpc>
                <a:spcPct val="150000"/>
              </a:lnSpc>
              <a:spcBef>
                <a:spcPts val="580"/>
              </a:spcBef>
              <a:buSzPts val="2044"/>
              <a:buNone/>
            </a:pPr>
            <a:r>
              <a:rPr lang="en-IN" sz="2400" dirty="0">
                <a:solidFill>
                  <a:srgbClr val="FF0000"/>
                </a:solidFill>
                <a:latin typeface="Calibri" panose="020F0502020204030204"/>
                <a:ea typeface="Times New Roman" panose="02020603050405020304"/>
                <a:cs typeface="Times New Roman" panose="02020603050405020304"/>
                <a:sym typeface="Times New Roman" panose="02020603050405020304"/>
              </a:rPr>
              <a:t>Domain                  </a:t>
            </a:r>
            <a:r>
              <a:rPr lang="en-US" altLang="en-IN" sz="2400" dirty="0">
                <a:solidFill>
                  <a:srgbClr val="FF0000"/>
                </a:solidFill>
                <a:latin typeface="Calibri" panose="020F0502020204030204"/>
                <a:ea typeface="Times New Roman" panose="02020603050405020304"/>
                <a:cs typeface="Times New Roman" panose="02020603050405020304"/>
                <a:sym typeface="Times New Roman" panose="02020603050405020304"/>
              </a:rPr>
              <a:t> </a:t>
            </a:r>
            <a:r>
              <a:rPr lang="en-IN" sz="2400" dirty="0">
                <a:solidFill>
                  <a:srgbClr val="FF0000"/>
                </a:solidFill>
                <a:latin typeface="Calibri" panose="020F0502020204030204"/>
                <a:ea typeface="Times New Roman" panose="02020603050405020304"/>
                <a:cs typeface="Times New Roman" panose="02020603050405020304"/>
                <a:sym typeface="Times New Roman" panose="02020603050405020304"/>
              </a:rPr>
              <a:t> :</a:t>
            </a:r>
            <a:r>
              <a:rPr lang="en-US" altLang="en-IN" sz="2400" dirty="0">
                <a:solidFill>
                  <a:srgbClr val="FF0000"/>
                </a:solidFill>
                <a:latin typeface="Calibri" panose="020F0502020204030204"/>
                <a:ea typeface="Times New Roman" panose="02020603050405020304"/>
                <a:cs typeface="Times New Roman" panose="02020603050405020304"/>
                <a:sym typeface="Times New Roman" panose="02020603050405020304"/>
              </a:rPr>
              <a:t> </a:t>
            </a:r>
            <a:r>
              <a:rPr lang="en-US" altLang="en-IN" sz="2000" b="1" dirty="0">
                <a:solidFill>
                  <a:schemeClr val="tx1"/>
                </a:solidFill>
                <a:latin typeface="Calibri" panose="020F0502020204030204"/>
                <a:ea typeface="Times New Roman" panose="02020603050405020304"/>
                <a:cs typeface="Times New Roman" panose="02020603050405020304"/>
                <a:sym typeface="Times New Roman" panose="02020603050405020304"/>
              </a:rPr>
              <a:t>Machine Learning Operations (MLOps)</a:t>
            </a:r>
            <a:endParaRPr lang="en-IN" sz="2400" dirty="0">
              <a:solidFill>
                <a:srgbClr val="0C0C0C"/>
              </a:solidFill>
              <a:latin typeface="Times New Roman" panose="02020603050405020304"/>
              <a:ea typeface="Times New Roman" panose="02020603050405020304"/>
              <a:cs typeface="Times New Roman" panose="02020603050405020304"/>
              <a:sym typeface="Times New Roman" panose="02020603050405020304"/>
            </a:endParaRPr>
          </a:p>
          <a:p>
            <a:pPr marL="274320" indent="-274320" algn="just">
              <a:lnSpc>
                <a:spcPct val="150000"/>
              </a:lnSpc>
              <a:spcBef>
                <a:spcPts val="580"/>
              </a:spcBef>
              <a:buSzPts val="2044"/>
              <a:buNone/>
            </a:pPr>
            <a:r>
              <a:rPr lang="en-IN" sz="2400" dirty="0">
                <a:solidFill>
                  <a:srgbClr val="FF0000"/>
                </a:solidFill>
                <a:latin typeface="Calibri" panose="020F0502020204030204"/>
                <a:ea typeface="Times New Roman" panose="02020603050405020304"/>
                <a:cs typeface="Times New Roman" panose="02020603050405020304"/>
                <a:sym typeface="Times New Roman" panose="02020603050405020304"/>
              </a:rPr>
              <a:t>Sub-Domain          </a:t>
            </a:r>
            <a:r>
              <a:rPr lang="en-US" altLang="en-IN" sz="2400" dirty="0">
                <a:solidFill>
                  <a:srgbClr val="FF0000"/>
                </a:solidFill>
                <a:latin typeface="Calibri" panose="020F0502020204030204"/>
                <a:ea typeface="Times New Roman" panose="02020603050405020304"/>
                <a:cs typeface="Times New Roman" panose="02020603050405020304"/>
                <a:sym typeface="Times New Roman" panose="02020603050405020304"/>
              </a:rPr>
              <a:t>  </a:t>
            </a:r>
            <a:r>
              <a:rPr lang="en-IN" sz="2400" dirty="0">
                <a:solidFill>
                  <a:srgbClr val="FF0000"/>
                </a:solidFill>
                <a:latin typeface="Calibri" panose="020F0502020204030204"/>
                <a:ea typeface="Times New Roman" panose="02020603050405020304"/>
                <a:cs typeface="Times New Roman" panose="02020603050405020304"/>
                <a:sym typeface="Times New Roman" panose="02020603050405020304"/>
              </a:rPr>
              <a:t>:</a:t>
            </a:r>
            <a:r>
              <a:rPr lang="en-US" altLang="en-IN" sz="2400" dirty="0">
                <a:solidFill>
                  <a:srgbClr val="FF0000"/>
                </a:solidFill>
                <a:latin typeface="Calibri" panose="020F0502020204030204"/>
                <a:ea typeface="Times New Roman" panose="02020603050405020304"/>
                <a:cs typeface="Times New Roman" panose="02020603050405020304"/>
                <a:sym typeface="Times New Roman" panose="02020603050405020304"/>
              </a:rPr>
              <a:t> </a:t>
            </a:r>
            <a:r>
              <a:rPr lang="en-US" altLang="en-US" sz="1800" b="1" dirty="0">
                <a:solidFill>
                  <a:schemeClr val="tx1"/>
                </a:solidFill>
                <a:latin typeface="Calibri" panose="020F0502020204030204"/>
                <a:ea typeface="Times New Roman" panose="02020603050405020304"/>
                <a:cs typeface="Times New Roman" panose="02020603050405020304"/>
                <a:sym typeface="Times New Roman" panose="02020603050405020304"/>
              </a:rPr>
              <a:t>Explainable &amp; Deployable AI for Mental Health Risk Prediction</a:t>
            </a:r>
            <a:endParaRPr lang="en-US" altLang="en-US" sz="2000" b="1" dirty="0">
              <a:solidFill>
                <a:schemeClr val="tx1"/>
              </a:solidFill>
              <a:latin typeface="Calibri" panose="020F0502020204030204"/>
              <a:ea typeface="Times New Roman" panose="02020603050405020304"/>
              <a:cs typeface="Times New Roman" panose="02020603050405020304"/>
              <a:sym typeface="Times New Roman" panose="02020603050405020304"/>
            </a:endParaRPr>
          </a:p>
          <a:p>
            <a:pPr marL="274320" indent="-274320" algn="just">
              <a:lnSpc>
                <a:spcPct val="150000"/>
              </a:lnSpc>
              <a:spcBef>
                <a:spcPts val="580"/>
              </a:spcBef>
              <a:buSzPts val="2044"/>
              <a:buNone/>
            </a:pPr>
            <a:r>
              <a:rPr lang="en-IN" sz="2400" dirty="0">
                <a:solidFill>
                  <a:srgbClr val="FF0000"/>
                </a:solidFill>
                <a:latin typeface="Calibri" panose="020F0502020204030204"/>
                <a:ea typeface="Times New Roman" panose="02020603050405020304"/>
                <a:cs typeface="Times New Roman" panose="02020603050405020304"/>
                <a:sym typeface="Times New Roman" panose="02020603050405020304"/>
              </a:rPr>
              <a:t>Title</a:t>
            </a:r>
            <a:r>
              <a:rPr lang="en-US" sz="2400" dirty="0">
                <a:solidFill>
                  <a:srgbClr val="FF0000"/>
                </a:solidFill>
                <a:latin typeface="Calibri" panose="020F0502020204030204"/>
                <a:ea typeface="Times New Roman" panose="02020603050405020304"/>
                <a:cs typeface="Times New Roman" panose="02020603050405020304"/>
                <a:sym typeface="Times New Roman" panose="02020603050405020304"/>
              </a:rPr>
              <a:t>                          </a:t>
            </a:r>
            <a:r>
              <a:rPr lang="en-IN" sz="2400" dirty="0">
                <a:solidFill>
                  <a:srgbClr val="FF0000"/>
                </a:solidFill>
                <a:latin typeface="Calibri" panose="020F0502020204030204"/>
                <a:ea typeface="Times New Roman" panose="02020603050405020304"/>
                <a:cs typeface="Times New Roman" panose="02020603050405020304"/>
                <a:sym typeface="Times New Roman" panose="02020603050405020304"/>
              </a:rPr>
              <a:t>:</a:t>
            </a:r>
            <a:r>
              <a:rPr lang="en-US" altLang="en-IN" sz="2400" dirty="0">
                <a:solidFill>
                  <a:srgbClr val="FF0000"/>
                </a:solidFill>
                <a:latin typeface="Calibri" panose="020F0502020204030204"/>
                <a:ea typeface="Times New Roman" panose="02020603050405020304"/>
                <a:cs typeface="Times New Roman" panose="02020603050405020304"/>
                <a:sym typeface="Times New Roman" panose="02020603050405020304"/>
              </a:rPr>
              <a:t> </a:t>
            </a:r>
            <a:r>
              <a:rPr lang="en-US" altLang="en-US" sz="1400" b="1" dirty="0">
                <a:solidFill>
                  <a:srgbClr val="0C0C0C"/>
                </a:solidFill>
                <a:latin typeface="Calibri" panose="020F0502020204030204"/>
                <a:ea typeface="Times New Roman" panose="02020603050405020304"/>
                <a:cs typeface="Times New Roman" panose="02020603050405020304"/>
                <a:sym typeface="Times New Roman" panose="02020603050405020304"/>
              </a:rPr>
              <a:t> </a:t>
            </a:r>
            <a:r>
              <a:rPr lang="en-US" altLang="en-US" sz="1800" b="1" dirty="0">
                <a:solidFill>
                  <a:srgbClr val="0C0C0C"/>
                </a:solidFill>
                <a:latin typeface="Calibri" panose="020F0502020204030204"/>
                <a:ea typeface="Times New Roman" panose="02020603050405020304"/>
                <a:cs typeface="Times New Roman" panose="02020603050405020304"/>
                <a:sym typeface="Times New Roman" panose="02020603050405020304"/>
              </a:rPr>
              <a:t>Suicide Risk Prediction Models with Clinical Explainability</a:t>
            </a:r>
            <a:endParaRPr lang="en-US" altLang="en-US" sz="1400" b="1" dirty="0">
              <a:solidFill>
                <a:srgbClr val="0C0C0C"/>
              </a:solidFill>
              <a:latin typeface="Times New Roman" panose="02020603050405020304"/>
              <a:ea typeface="Times New Roman" panose="02020603050405020304"/>
              <a:cs typeface="Times New Roman" panose="02020603050405020304"/>
              <a:sym typeface="Times New Roman" panose="02020603050405020304"/>
            </a:endParaRPr>
          </a:p>
          <a:p>
            <a:pPr marL="0" indent="0" algn="just">
              <a:lnSpc>
                <a:spcPct val="150000"/>
              </a:lnSpc>
              <a:spcBef>
                <a:spcPts val="580"/>
              </a:spcBef>
              <a:buSzPts val="2044"/>
              <a:buNone/>
            </a:pPr>
            <a:r>
              <a:rPr lang="en-US" altLang="en-IN" sz="2400" dirty="0">
                <a:solidFill>
                  <a:srgbClr val="FF0000"/>
                </a:solidFill>
                <a:latin typeface="Calibri" panose="020F0502020204030204"/>
                <a:ea typeface="Times New Roman" panose="02020603050405020304"/>
                <a:cs typeface="Times New Roman" panose="02020603050405020304"/>
                <a:sym typeface="Times New Roman" panose="02020603050405020304"/>
              </a:rPr>
              <a:t>Faculty Supervisor</a:t>
            </a:r>
            <a:r>
              <a:rPr lang="en-IN" sz="2400" dirty="0">
                <a:solidFill>
                  <a:srgbClr val="FF0000"/>
                </a:solidFill>
                <a:latin typeface="Calibri" panose="020F0502020204030204"/>
                <a:ea typeface="Times New Roman" panose="02020603050405020304"/>
                <a:cs typeface="Times New Roman" panose="02020603050405020304"/>
                <a:sym typeface="Times New Roman" panose="02020603050405020304"/>
              </a:rPr>
              <a:t> :</a:t>
            </a:r>
            <a:r>
              <a:rPr lang="en-IN" sz="2000" dirty="0">
                <a:solidFill>
                  <a:srgbClr val="FF0000"/>
                </a:solidFill>
                <a:latin typeface="Calibri" panose="020F0502020204030204"/>
                <a:ea typeface="Times New Roman" panose="02020603050405020304"/>
                <a:cs typeface="Times New Roman" panose="02020603050405020304"/>
                <a:sym typeface="Times New Roman" panose="02020603050405020304"/>
              </a:rPr>
              <a:t> </a:t>
            </a:r>
            <a:r>
              <a:rPr lang="en-US" altLang="en-US" sz="2000" b="1" dirty="0">
                <a:solidFill>
                  <a:schemeClr val="tx1"/>
                </a:solidFill>
                <a:latin typeface="Calibri" panose="020F0502020204030204"/>
                <a:ea typeface="Times New Roman" panose="02020603050405020304"/>
                <a:cs typeface="Times New Roman" panose="02020603050405020304"/>
                <a:sym typeface="Times New Roman" panose="02020603050405020304"/>
              </a:rPr>
              <a:t>Ms.M. RAJALAKSHMI</a:t>
            </a:r>
            <a:endParaRPr lang="en-US" altLang="en-US" sz="2400" dirty="0">
              <a:solidFill>
                <a:srgbClr val="FF0000"/>
              </a:solidFill>
              <a:latin typeface="Times New Roman" panose="02020603050405020304"/>
              <a:ea typeface="Times New Roman" panose="02020603050405020304"/>
              <a:cs typeface="Times New Roman" panose="02020603050405020304"/>
              <a:sym typeface="Times New Roman" panose="02020603050405020304"/>
            </a:endParaRPr>
          </a:p>
          <a:p>
            <a:pPr marL="0" indent="0" algn="just">
              <a:lnSpc>
                <a:spcPct val="150000"/>
              </a:lnSpc>
              <a:spcBef>
                <a:spcPts val="580"/>
              </a:spcBef>
              <a:buSzPts val="2044"/>
              <a:buNone/>
            </a:pPr>
            <a:r>
              <a:rPr lang="en-IN" sz="2400" dirty="0">
                <a:solidFill>
                  <a:srgbClr val="FF0000"/>
                </a:solidFill>
                <a:latin typeface="Calibri" panose="020F0502020204030204"/>
                <a:ea typeface="Times New Roman" panose="02020603050405020304"/>
                <a:cs typeface="Times New Roman" panose="02020603050405020304"/>
                <a:sym typeface="Times New Roman" panose="02020603050405020304"/>
              </a:rPr>
              <a:t>Team Members</a:t>
            </a:r>
            <a:r>
              <a:rPr lang="en-US" altLang="en-IN" sz="2400" dirty="0">
                <a:solidFill>
                  <a:srgbClr val="FF0000"/>
                </a:solidFill>
                <a:latin typeface="Calibri" panose="020F0502020204030204"/>
                <a:ea typeface="Times New Roman" panose="02020603050405020304"/>
                <a:cs typeface="Times New Roman" panose="02020603050405020304"/>
                <a:sym typeface="Times New Roman" panose="02020603050405020304"/>
              </a:rPr>
              <a:t>      </a:t>
            </a:r>
            <a:r>
              <a:rPr lang="en-IN" sz="2400" dirty="0">
                <a:solidFill>
                  <a:srgbClr val="FF0000"/>
                </a:solidFill>
                <a:latin typeface="Calibri" panose="020F0502020204030204"/>
                <a:ea typeface="Times New Roman" panose="02020603050405020304"/>
                <a:cs typeface="Times New Roman" panose="02020603050405020304"/>
                <a:sym typeface="Times New Roman" panose="02020603050405020304"/>
              </a:rPr>
              <a:t>:</a:t>
            </a:r>
            <a:r>
              <a:rPr lang="en-US" altLang="en-IN" sz="2400" b="1" dirty="0">
                <a:solidFill>
                  <a:srgbClr val="FF0000"/>
                </a:solidFill>
                <a:latin typeface="Calibri" panose="020F0502020204030204"/>
                <a:ea typeface="Times New Roman" panose="02020603050405020304"/>
                <a:cs typeface="Times New Roman" panose="02020603050405020304"/>
                <a:sym typeface="Times New Roman" panose="02020603050405020304"/>
              </a:rPr>
              <a:t> </a:t>
            </a:r>
            <a:r>
              <a:rPr lang="en-US" altLang="en-IN" sz="2000" b="1" dirty="0">
                <a:solidFill>
                  <a:schemeClr val="tx1"/>
                </a:solidFill>
                <a:latin typeface="Calibri" panose="020F0502020204030204"/>
                <a:ea typeface="Times New Roman" panose="02020603050405020304"/>
                <a:cs typeface="Times New Roman" panose="02020603050405020304"/>
                <a:sym typeface="Times New Roman" panose="02020603050405020304"/>
              </a:rPr>
              <a:t>Maha mathesh raja B (727624BAD031)</a:t>
            </a:r>
            <a:endParaRPr lang="en-US" altLang="en-IN" sz="2000" b="1" dirty="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indent="0" algn="just">
              <a:lnSpc>
                <a:spcPct val="150000"/>
              </a:lnSpc>
              <a:spcBef>
                <a:spcPts val="580"/>
              </a:spcBef>
              <a:buSzPts val="2044"/>
              <a:buNone/>
            </a:pPr>
            <a:r>
              <a:rPr lang="en-US" altLang="en-IN" sz="2000" b="1" dirty="0">
                <a:solidFill>
                  <a:schemeClr val="tx1"/>
                </a:solidFill>
                <a:latin typeface="Calibri" panose="020F0502020204030204"/>
                <a:ea typeface="Times New Roman" panose="02020603050405020304"/>
                <a:cs typeface="Times New Roman" panose="02020603050405020304"/>
                <a:sym typeface="Times New Roman" panose="02020603050405020304"/>
              </a:rPr>
              <a:t>                                           irfan basha R (727624BAD009)</a:t>
            </a:r>
            <a:endParaRPr lang="en-US" altLang="en-IN" sz="2000" b="1" dirty="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indent="0" algn="just">
              <a:lnSpc>
                <a:spcPct val="150000"/>
              </a:lnSpc>
              <a:spcBef>
                <a:spcPts val="580"/>
              </a:spcBef>
              <a:buSzPts val="2044"/>
              <a:buNone/>
            </a:pPr>
            <a:r>
              <a:rPr lang="en-US" altLang="en-IN" sz="2000" b="1" dirty="0">
                <a:solidFill>
                  <a:schemeClr val="tx1"/>
                </a:solidFill>
                <a:latin typeface="Calibri" panose="020F0502020204030204"/>
                <a:ea typeface="Times New Roman" panose="02020603050405020304"/>
                <a:cs typeface="Times New Roman" panose="02020603050405020304"/>
                <a:sym typeface="Times New Roman" panose="02020603050405020304"/>
              </a:rPr>
              <a:t>                                           Sridhar M (727624BAD091)</a:t>
            </a:r>
            <a:endParaRPr lang="en-IN" sz="2400" b="1" dirty="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2468880" lvl="8">
              <a:lnSpc>
                <a:spcPct val="80000"/>
              </a:lnSpc>
              <a:buSzPts val="1665"/>
              <a:buFont typeface="Arial" panose="020B0604020202020204" pitchFamily="34" charset="0"/>
              <a:buNone/>
            </a:pPr>
            <a:endParaRPr lang="en-IN" sz="1665" dirty="0">
              <a:solidFill>
                <a:srgbClr val="0C0C0C"/>
              </a:solidFill>
            </a:endParaRPr>
          </a:p>
          <a:p>
            <a:pPr marL="2468880" lvl="8">
              <a:lnSpc>
                <a:spcPct val="80000"/>
              </a:lnSpc>
              <a:buSzPts val="1665"/>
              <a:buFont typeface="Arial" panose="020B0604020202020204" pitchFamily="34" charset="0"/>
              <a:buNone/>
            </a:pPr>
            <a:r>
              <a:rPr lang="en-IN" sz="1665" dirty="0">
                <a:solidFill>
                  <a:srgbClr val="0C0C0C"/>
                </a:solidFill>
                <a:latin typeface="Calibri" panose="020F0502020204030204"/>
              </a:rPr>
              <a:t>		</a:t>
            </a:r>
            <a:endParaRPr lang="en-IN" dirty="0"/>
          </a:p>
          <a:p>
            <a:pPr marL="2468880" lvl="8">
              <a:lnSpc>
                <a:spcPct val="80000"/>
              </a:lnSpc>
              <a:buSzPts val="1665"/>
              <a:buFont typeface="Arial" panose="020B0604020202020204" pitchFamily="34" charset="0"/>
              <a:buNone/>
            </a:pPr>
            <a:endParaRPr lang="en-IN" sz="1665" dirty="0">
              <a:solidFill>
                <a:srgbClr val="0C0C0C"/>
              </a:solidFill>
            </a:endParaRPr>
          </a:p>
          <a:p>
            <a:pPr marL="274320" indent="-144780">
              <a:lnSpc>
                <a:spcPct val="80000"/>
              </a:lnSpc>
              <a:spcBef>
                <a:spcPts val="580"/>
              </a:spcBef>
              <a:buSzPts val="2044"/>
              <a:buFont typeface="Arial" panose="020B0604020202020204" pitchFamily="34" charset="0"/>
              <a:buNone/>
            </a:pPr>
            <a:endParaRPr lang="en-IN" sz="2405" dirty="0">
              <a:solidFill>
                <a:srgbClr val="0C0C0C"/>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228600"/>
            <a:ext cx="1193800" cy="88900"/>
          </a:xfrm>
        </p:spPr>
        <p:txBody>
          <a:bodyPr>
            <a:normAutofit fontScale="90000"/>
          </a:bodyPr>
          <a:lstStyle/>
          <a:p>
            <a:r>
              <a:rPr lang="en-US" sz="2000" b="1" i="1" dirty="0">
                <a:latin typeface="Calibri" panose="020F0502020204030204"/>
              </a:rPr>
              <a:t>.</a:t>
            </a:r>
            <a:endParaRPr lang="en-US" sz="2000" b="1" i="1" dirty="0">
              <a:latin typeface="Calibri" panose="020F0502020204030204"/>
            </a:endParaRPr>
          </a:p>
        </p:txBody>
      </p:sp>
      <p:sp>
        <p:nvSpPr>
          <p:cNvPr id="3" name="Content Placeholder 2"/>
          <p:cNvSpPr>
            <a:spLocks noGrp="1"/>
          </p:cNvSpPr>
          <p:nvPr>
            <p:ph idx="1"/>
          </p:nvPr>
        </p:nvSpPr>
        <p:spPr>
          <a:xfrm>
            <a:off x="152400" y="457200"/>
            <a:ext cx="11693525" cy="5293995"/>
          </a:xfrm>
        </p:spPr>
        <p:txBody>
          <a:bodyPr>
            <a:normAutofit fontScale="90000" lnSpcReduction="10000"/>
          </a:bodyPr>
          <a:lstStyle/>
          <a:p>
            <a:pPr marL="0" indent="0" algn="just">
              <a:buNone/>
            </a:pPr>
            <a:r>
              <a:rPr lang="en-US" sz="4400" b="1" dirty="0">
                <a:solidFill>
                  <a:schemeClr val="accent2"/>
                </a:solidFill>
                <a:latin typeface="Calibri" panose="020F0502020204030204"/>
              </a:rPr>
              <a:t>Abstract:</a:t>
            </a:r>
            <a:endParaRPr lang="en-US" sz="4400" b="1" dirty="0">
              <a:solidFill>
                <a:schemeClr val="accent2"/>
              </a:solidFill>
              <a:latin typeface="Calibri" panose="020F0502020204030204"/>
            </a:endParaRPr>
          </a:p>
          <a:p>
            <a:pPr marL="0" indent="0" algn="just">
              <a:buNone/>
            </a:pPr>
            <a:r>
              <a:rPr lang="en-US" altLang="en-US" sz="3600" b="1" dirty="0">
                <a:latin typeface="Calibri" panose="020F0502020204030204"/>
              </a:rPr>
              <a:t>  </a:t>
            </a:r>
            <a:r>
              <a:rPr lang="en-US" altLang="en-US" sz="2400" dirty="0">
                <a:latin typeface="Calibri" panose="020F0502020204030204"/>
              </a:rPr>
              <a:t>Over 300 million people worldwide are affected by depression, with symptoms that have a major impact on patients and, in the worst cases, can lead to suicide.</a:t>
            </a:r>
            <a:endParaRPr lang="en-US" altLang="en-US" sz="2400" dirty="0">
              <a:latin typeface="Calibri" panose="020F0502020204030204"/>
            </a:endParaRPr>
          </a:p>
          <a:p>
            <a:pPr marL="0" indent="0" algn="just">
              <a:buNone/>
            </a:pPr>
            <a:r>
              <a:rPr lang="en-US" altLang="en-US" dirty="0">
                <a:latin typeface="Calibri" panose="020F0502020204030204"/>
              </a:rPr>
              <a:t> </a:t>
            </a:r>
            <a:r>
              <a:rPr lang="en-US" altLang="en-US" sz="2400" dirty="0">
                <a:latin typeface="Calibri" panose="020F0502020204030204"/>
              </a:rPr>
              <a:t>As the severity of the disease increases over time, early detection can save a patient’s life. The disease is diagnosed by professionals using questionnaires that might be influenced by biases, and of which the accuracy and reliability are not guaranteed.</a:t>
            </a:r>
            <a:endParaRPr lang="en-US" altLang="en-US" sz="2400" dirty="0">
              <a:latin typeface="Calibri" panose="020F0502020204030204"/>
            </a:endParaRPr>
          </a:p>
          <a:p>
            <a:pPr marL="0" indent="0" algn="just">
              <a:buNone/>
            </a:pPr>
            <a:r>
              <a:rPr lang="en-US" altLang="en-US" sz="2400" dirty="0">
                <a:latin typeface="Calibri" panose="020F0502020204030204"/>
              </a:rPr>
              <a:t>Due to the low level of preprocessing and the associated fast computing time and low computational intensity, our innovative approach can serve as a basis for applications in the real world. This enables patients with suitable hardware to recognize the disease themselves at an early stage and thus receive timely treatment to prevent further development.</a:t>
            </a:r>
            <a:endParaRPr lang="en-US" altLang="en-US" sz="2400" dirty="0">
              <a:latin typeface="Calibri" panose="020F0502020204030204"/>
            </a:endParaRPr>
          </a:p>
          <a:p>
            <a:pPr marL="0" indent="0" algn="just">
              <a:buNone/>
            </a:pPr>
            <a:r>
              <a:rPr lang="en-US" altLang="en-US" sz="2400" dirty="0">
                <a:latin typeface="Calibri" panose="020F0502020204030204"/>
              </a:rPr>
              <a:t>However, the focus is not on the early detection of mild depression, which can be the entry point to major depression. In this work, we developed a deep learning based model using a 1D convolutional neural network to detect mild depression in resting-state electroencephalogram data. We evaluated the model using a realistic world-like dataset and were able to achieve a balanced accuracy of 69.21%</a:t>
            </a:r>
            <a:endParaRPr lang="en-US" altLang="en-US" sz="2400" dirty="0">
              <a:latin typeface="Calibri" panose="020F0502020204030204"/>
            </a:endParaRPr>
          </a:p>
        </p:txBody>
      </p:sp>
      <p:sp>
        <p:nvSpPr>
          <p:cNvPr id="4" name="Date Placeholder 3"/>
          <p:cNvSpPr>
            <a:spLocks noGrp="1"/>
          </p:cNvSpPr>
          <p:nvPr>
            <p:ph type="dt" sz="half" idx="10"/>
          </p:nvPr>
        </p:nvSpPr>
        <p:spPr/>
        <p:txBody>
          <a:bodyPr/>
          <a:lstStyle/>
          <a:p>
            <a:pPr>
              <a:defRPr/>
            </a:pP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281305"/>
          </a:xfrm>
        </p:spPr>
        <p:txBody>
          <a:bodyPr>
            <a:normAutofit fontScale="90000"/>
          </a:bodyPr>
          <a:lstStyle/>
          <a:p>
            <a:r>
              <a:rPr lang="en-US" sz="3200" b="1" dirty="0">
                <a:solidFill>
                  <a:srgbClr val="FF0000"/>
                </a:solidFill>
                <a:latin typeface="Times New Roman" panose="02020603050405020304" pitchFamily="18" charset="0"/>
                <a:ea typeface="Canva Sans Bold" panose="020B0803030501040103"/>
                <a:cs typeface="Times New Roman" panose="02020603050405020304" pitchFamily="18" charset="0"/>
                <a:sym typeface="Canva Sans Bold" panose="020B0803030501040103"/>
              </a:rPr>
              <a:t>EXISTING SOLUTION :</a:t>
            </a:r>
            <a:endParaRPr lang="en-US" altLang="en-US" sz="3200" b="1" i="1" dirty="0"/>
          </a:p>
        </p:txBody>
      </p:sp>
      <p:sp>
        <p:nvSpPr>
          <p:cNvPr id="3" name="Content Placeholder 2"/>
          <p:cNvSpPr>
            <a:spLocks noGrp="1"/>
          </p:cNvSpPr>
          <p:nvPr>
            <p:ph idx="1"/>
          </p:nvPr>
        </p:nvSpPr>
        <p:spPr>
          <a:xfrm>
            <a:off x="838200" y="798830"/>
            <a:ext cx="10515600" cy="5498465"/>
          </a:xfrm>
        </p:spPr>
        <p:txBody>
          <a:bodyPr>
            <a:noAutofit/>
          </a:bodyPr>
          <a:lstStyle/>
          <a:p>
            <a:pPr algn="just"/>
            <a:r>
              <a:rPr lang="en-US" altLang="en-US" sz="2400" dirty="0"/>
              <a:t>Existing suicide risk prediction systems primarily use BERT, MentalBERT, and deep learning models for detecting suicidal ideation.</a:t>
            </a:r>
            <a:endParaRPr lang="en-US" altLang="en-US" sz="2400" dirty="0"/>
          </a:p>
          <a:p>
            <a:pPr algn="just"/>
            <a:r>
              <a:rPr lang="en-US" altLang="en-US" sz="2400" dirty="0"/>
              <a:t>Most existing models provide only a risk score or classification without explaining why the prediction was made.</a:t>
            </a:r>
            <a:endParaRPr lang="en-US" altLang="en-US" sz="2400" dirty="0"/>
          </a:p>
          <a:p>
            <a:pPr algn="just"/>
            <a:r>
              <a:rPr lang="en-US" altLang="en-US" sz="2400" dirty="0"/>
              <a:t>Current systems function as black-box models, making it difficult for clinicians to trust and interpret the results.</a:t>
            </a:r>
            <a:endParaRPr lang="en-US" altLang="en-US" sz="2400" dirty="0"/>
          </a:p>
          <a:p>
            <a:pPr algn="just"/>
            <a:r>
              <a:rPr lang="en-US" altLang="en-US" sz="2400" dirty="0"/>
              <a:t>Existing solutions have limited deployment capabilities, with many models remaining as research prototypes rather than production-ready applications.</a:t>
            </a:r>
            <a:endParaRPr lang="en-US" altLang="en-US" sz="2400" dirty="0"/>
          </a:p>
          <a:p>
            <a:pPr algn="just"/>
            <a:r>
              <a:rPr lang="en-US" altLang="en-US" sz="2400" dirty="0"/>
              <a:t>Most platforms rely on cloud-based inference, raising concerns about privacy, latency, and sensitive patient data security.</a:t>
            </a:r>
            <a:endParaRPr lang="en-US" altLang="en-US" sz="2400" dirty="0"/>
          </a:p>
          <a:p>
            <a:pPr algn="just"/>
            <a:r>
              <a:rPr lang="en-US" altLang="en-US" sz="2400" dirty="0"/>
              <a:t>Current models have limited support for cross-platform deployment and are not optimized for efficient on-device inference</a:t>
            </a:r>
            <a:endParaRPr lang="en-US" alt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9189085" cy="132715"/>
          </a:xfrm>
        </p:spPr>
        <p:txBody>
          <a:bodyPr>
            <a:noAutofit/>
          </a:bodyPr>
          <a:p>
            <a:r>
              <a:rPr lang="en-US" sz="3200" b="1" dirty="0">
                <a:solidFill>
                  <a:srgbClr val="FF0000"/>
                </a:solidFill>
                <a:latin typeface="Times New Roman" panose="02020603050405020304" pitchFamily="18" charset="0"/>
                <a:cs typeface="Times New Roman" panose="02020603050405020304" pitchFamily="18" charset="0"/>
                <a:sym typeface="+mn-ea"/>
              </a:rPr>
              <a:t>LITERATURE IDENTIFIED &amp; FINDINGS : </a:t>
            </a:r>
            <a:endParaRPr lang="en-US" altLang="en-US" sz="3200" b="1" i="1" dirty="0">
              <a:sym typeface="+mn-ea"/>
            </a:endParaRPr>
          </a:p>
        </p:txBody>
      </p:sp>
      <p:sp>
        <p:nvSpPr>
          <p:cNvPr id="3" name="Content Placeholder 2"/>
          <p:cNvSpPr>
            <a:spLocks noGrp="1"/>
          </p:cNvSpPr>
          <p:nvPr>
            <p:ph idx="1"/>
          </p:nvPr>
        </p:nvSpPr>
        <p:spPr>
          <a:xfrm>
            <a:off x="838200" y="647700"/>
            <a:ext cx="10983595" cy="5226685"/>
          </a:xfrm>
        </p:spPr>
        <p:txBody>
          <a:bodyPr>
            <a:noAutofit/>
          </a:bodyPr>
          <a:p>
            <a:pPr algn="just"/>
            <a:r>
              <a:rPr lang="en-US" altLang="en-US" sz="2400" dirty="0"/>
              <a:t>Demonstrated that social media text can effectively identify suicidal ideation using Natural Language Processing techniques</a:t>
            </a:r>
            <a:endParaRPr lang="en-US" altLang="en-US" sz="2400" dirty="0"/>
          </a:p>
          <a:p>
            <a:pPr algn="just"/>
            <a:r>
              <a:rPr lang="en-US" altLang="en-US" sz="2400" dirty="0"/>
              <a:t>Reviewed various ML and deep learning approaches, concluding that Transformer-based models outperform traditional machine learning methods</a:t>
            </a:r>
            <a:endParaRPr lang="en-US" altLang="en-US" sz="2400" dirty="0"/>
          </a:p>
          <a:p>
            <a:pPr algn="just"/>
            <a:r>
              <a:rPr lang="en-US" altLang="en-US" sz="2400" dirty="0"/>
              <a:t>Showed that LSTM and CNN models can detect suicidal tendencies but struggle to capture long-range contextual information.</a:t>
            </a:r>
            <a:endParaRPr lang="en-US" altLang="en-US" sz="2400" dirty="0"/>
          </a:p>
          <a:p>
            <a:pPr algn="just"/>
            <a:r>
              <a:rPr lang="en-US" altLang="en-US" sz="2400" dirty="0"/>
              <a:t>Proposed integrating domain knowledge with deep learning to improve suicide severity prediction and clinical relevance.</a:t>
            </a:r>
            <a:endParaRPr lang="en-US" altLang="en-US" sz="2400" dirty="0"/>
          </a:p>
          <a:p>
            <a:pPr algn="just"/>
            <a:r>
              <a:rPr lang="en-US" altLang="en-US" sz="2400" dirty="0"/>
              <a:t>Presented LIME as a local explainability technique that helps interpret individual model predictions, improving transparency.</a:t>
            </a:r>
            <a:endParaRPr lang="en-US" altLang="en-US" sz="2400" dirty="0"/>
          </a:p>
          <a:p>
            <a:pPr algn="just"/>
            <a:r>
              <a:rPr lang="en-US" altLang="en-US" sz="2400" dirty="0"/>
              <a:t>Introduced SHAP as an effective method for explaining AI model predictions by identifying the contribution of each input feature</a:t>
            </a:r>
            <a:endParaRPr lang="en-US" altLang="en-US" sz="2400" dirty="0"/>
          </a:p>
          <a:p>
            <a:pPr algn="just"/>
            <a:endParaRPr lang="en-US" altLang="en-US" sz="2400" dirty="0"/>
          </a:p>
        </p:txBody>
      </p:sp>
      <p:sp>
        <p:nvSpPr>
          <p:cNvPr id="4" name="Date Placeholder 3"/>
          <p:cNvSpPr>
            <a:spLocks noGrp="1"/>
          </p:cNvSpPr>
          <p:nvPr>
            <p:ph type="dt" sz="half" idx="10"/>
          </p:nvPr>
        </p:nvSpPr>
        <p:spPr/>
        <p:txBody>
          <a:bodyPr/>
          <a:p>
            <a:pPr>
              <a:defRPr/>
            </a:pP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9189085" cy="132715"/>
          </a:xfrm>
        </p:spPr>
        <p:txBody>
          <a:bodyPr>
            <a:noAutofit/>
          </a:bodyPr>
          <a:p>
            <a:r>
              <a:rPr lang="en-IN" sz="3200" b="1" dirty="0">
                <a:solidFill>
                  <a:srgbClr val="FF0000"/>
                </a:solidFill>
                <a:latin typeface="Times New Roman" panose="02020603050405020304" pitchFamily="18" charset="0"/>
                <a:cs typeface="Times New Roman" panose="02020603050405020304" pitchFamily="18" charset="0"/>
                <a:sym typeface="+mn-ea"/>
              </a:rPr>
              <a:t>PROPOSED SOLUTION : </a:t>
            </a:r>
            <a:endParaRPr lang="en-US" altLang="en-US" sz="3200" b="1" i="1" dirty="0">
              <a:sym typeface="+mn-ea"/>
            </a:endParaRPr>
          </a:p>
        </p:txBody>
      </p:sp>
      <p:sp>
        <p:nvSpPr>
          <p:cNvPr id="3" name="Content Placeholder 2"/>
          <p:cNvSpPr>
            <a:spLocks noGrp="1"/>
          </p:cNvSpPr>
          <p:nvPr>
            <p:ph idx="1"/>
          </p:nvPr>
        </p:nvSpPr>
        <p:spPr>
          <a:xfrm>
            <a:off x="838200" y="647700"/>
            <a:ext cx="10983595" cy="5226685"/>
          </a:xfrm>
        </p:spPr>
        <p:txBody>
          <a:bodyPr>
            <a:noAutofit/>
          </a:bodyPr>
          <a:p>
            <a:pPr algn="just"/>
            <a:endParaRPr lang="en-US" altLang="en-US" sz="2400" dirty="0"/>
          </a:p>
          <a:p>
            <a:pPr algn="just"/>
            <a:r>
              <a:rPr lang="en-US" altLang="en-US" sz="2400" dirty="0"/>
              <a:t>Develop a Suicide Risk Prediction System using fine-tuned BERT/MentalBERT models to accurately identify suicidal ideation from text.</a:t>
            </a:r>
            <a:endParaRPr lang="en-US" altLang="en-US" sz="2400" dirty="0"/>
          </a:p>
          <a:p>
            <a:pPr algn="just"/>
            <a:r>
              <a:rPr lang="en-US" altLang="en-US" sz="2400" dirty="0"/>
              <a:t>Integrate Explainable AI (XAI) techniques such as SHAP and Attention Visualization to provide clear, clinician-friendly explanations for every prediction.</a:t>
            </a:r>
            <a:endParaRPr lang="en-US" altLang="en-US" sz="2400" dirty="0"/>
          </a:p>
          <a:p>
            <a:pPr algn="just"/>
            <a:r>
              <a:rPr lang="en-US" altLang="en-US" sz="2400" dirty="0"/>
              <a:t>Reverse engineer the trained model to identify the linguistic patterns, emotional cues, and contextual features that influence suicide risk detection.</a:t>
            </a:r>
            <a:endParaRPr lang="en-US" altLang="en-US" sz="2400" dirty="0"/>
          </a:p>
          <a:p>
            <a:pPr algn="just"/>
            <a:r>
              <a:rPr lang="en-US" altLang="en-US" sz="2400" dirty="0"/>
              <a:t>Build a complete MLOps pipeline with model versioning, experiment tracking, automated testing, and continuous monitoring for reliable deployment.</a:t>
            </a:r>
            <a:endParaRPr lang="en-US" altLang="en-US" sz="2400" dirty="0"/>
          </a:p>
          <a:p>
            <a:pPr algn="just"/>
            <a:r>
              <a:rPr lang="en-US" altLang="en-US" sz="2400" dirty="0"/>
              <a:t>Optimize the model using quantization and pruning to enable fast and privacy-preserving on-device inference.</a:t>
            </a:r>
            <a:endParaRPr lang="en-US" altLang="en-US" sz="2400" dirty="0"/>
          </a:p>
          <a:p>
            <a:pPr marL="0" indent="0" algn="just">
              <a:buNone/>
            </a:pPr>
            <a:endParaRPr lang="en-US" altLang="en-US" sz="2400" dirty="0"/>
          </a:p>
        </p:txBody>
      </p:sp>
      <p:sp>
        <p:nvSpPr>
          <p:cNvPr id="4" name="Date Placeholder 3"/>
          <p:cNvSpPr>
            <a:spLocks noGrp="1"/>
          </p:cNvSpPr>
          <p:nvPr>
            <p:ph type="dt" sz="half" idx="10"/>
          </p:nvPr>
        </p:nvSpPr>
        <p:spPr/>
        <p:txBody>
          <a:bodyPr/>
          <a:p>
            <a:pPr>
              <a:defRPr/>
            </a:pP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77240"/>
          </a:xfrm>
        </p:spPr>
        <p:txBody>
          <a:bodyPr/>
          <a:lstStyle/>
          <a:p>
            <a:r>
              <a:rPr lang="en-IN" sz="3200" b="1" dirty="0">
                <a:solidFill>
                  <a:srgbClr val="FF0000"/>
                </a:solidFill>
                <a:latin typeface="Times New Roman" panose="02020603050405020304" pitchFamily="18" charset="0"/>
                <a:cs typeface="Times New Roman" panose="02020603050405020304" pitchFamily="18" charset="0"/>
                <a:sym typeface="+mn-ea"/>
              </a:rPr>
              <a:t>Block Diagram</a:t>
            </a:r>
            <a:r>
              <a:rPr lang="en-US" altLang="en-IN" sz="3200" b="1" dirty="0">
                <a:solidFill>
                  <a:srgbClr val="FF0000"/>
                </a:solidFill>
                <a:latin typeface="Times New Roman" panose="02020603050405020304" pitchFamily="18" charset="0"/>
                <a:cs typeface="Times New Roman" panose="02020603050405020304" pitchFamily="18" charset="0"/>
                <a:sym typeface="+mn-ea"/>
              </a:rPr>
              <a:t>:</a:t>
            </a:r>
            <a:endParaRPr lang="en-US" altLang="en-IN" sz="3200" b="1" i="1" dirty="0">
              <a:solidFill>
                <a:srgbClr val="FF0000"/>
              </a:solidFill>
              <a:latin typeface="Times New Roman" panose="02020603050405020304" pitchFamily="18" charset="0"/>
              <a:cs typeface="Times New Roman" panose="02020603050405020304" pitchFamily="18" charset="0"/>
              <a:sym typeface="+mn-ea"/>
            </a:endParaRPr>
          </a:p>
        </p:txBody>
      </p:sp>
      <p:pic>
        <p:nvPicPr>
          <p:cNvPr id="4" name="Construction Flow Diagram"/>
          <p:cNvPicPr>
            <a:picLocks noChangeAspect="1"/>
          </p:cNvPicPr>
          <p:nvPr/>
        </p:nvPicPr>
        <p:blipFill>
          <a:blip r:embed="rId1"/>
          <a:stretch>
            <a:fillRect/>
          </a:stretch>
        </p:blipFill>
        <p:spPr>
          <a:xfrm>
            <a:off x="1708785" y="959485"/>
            <a:ext cx="9057640" cy="542099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45135"/>
          </a:xfrm>
        </p:spPr>
        <p:txBody>
          <a:bodyPr>
            <a:normAutofit fontScale="90000"/>
          </a:bodyPr>
          <a:lstStyle/>
          <a:p>
            <a:r>
              <a:rPr lang="en-IN" sz="3200" b="1" dirty="0">
                <a:solidFill>
                  <a:srgbClr val="FF0000"/>
                </a:solidFill>
                <a:latin typeface="Times New Roman" panose="02020603050405020304" pitchFamily="18" charset="0"/>
                <a:cs typeface="Times New Roman" panose="02020603050405020304" pitchFamily="18" charset="0"/>
                <a:sym typeface="+mn-ea"/>
              </a:rPr>
              <a:t>Tools Used</a:t>
            </a:r>
            <a:r>
              <a:rPr lang="en-US" altLang="en-IN" sz="3200" b="1" dirty="0">
                <a:solidFill>
                  <a:srgbClr val="FF0000"/>
                </a:solidFill>
                <a:latin typeface="Times New Roman" panose="02020603050405020304" pitchFamily="18" charset="0"/>
                <a:cs typeface="Times New Roman" panose="02020603050405020304" pitchFamily="18" charset="0"/>
                <a:sym typeface="+mn-ea"/>
              </a:rPr>
              <a:t>:</a:t>
            </a:r>
            <a:endParaRPr lang="en-US" altLang="en-IN" sz="3200" b="1" i="1" dirty="0">
              <a:solidFill>
                <a:srgbClr val="FF0000"/>
              </a:solidFill>
              <a:latin typeface="Times New Roman" panose="02020603050405020304" pitchFamily="18" charset="0"/>
              <a:cs typeface="Times New Roman" panose="02020603050405020304" pitchFamily="18" charset="0"/>
              <a:sym typeface="+mn-ea"/>
            </a:endParaRPr>
          </a:p>
        </p:txBody>
      </p:sp>
      <p:graphicFrame>
        <p:nvGraphicFramePr>
          <p:cNvPr id="8" name="Content Placeholder 7"/>
          <p:cNvGraphicFramePr>
            <a:graphicFrameLocks noGrp="1"/>
          </p:cNvGraphicFramePr>
          <p:nvPr>
            <p:ph idx="1"/>
          </p:nvPr>
        </p:nvGraphicFramePr>
        <p:xfrm>
          <a:off x="838200" y="996315"/>
          <a:ext cx="10515600" cy="4253865"/>
        </p:xfrm>
        <a:graphic>
          <a:graphicData uri="http://schemas.openxmlformats.org/drawingml/2006/table">
            <a:tbl>
              <a:tblPr/>
              <a:tblGrid>
                <a:gridCol w="2753995"/>
                <a:gridCol w="2503805"/>
                <a:gridCol w="2628900"/>
                <a:gridCol w="2628900"/>
              </a:tblGrid>
              <a:tr h="609600">
                <a:tc>
                  <a:txBody>
                    <a:bodyPr/>
                    <a:lstStyle/>
                    <a:p>
                      <a:pPr>
                        <a:buNone/>
                      </a:pPr>
                      <a:r>
                        <a:rPr lang="en-IN" sz="2400" b="1"/>
                        <a:t>Category</a:t>
                      </a:r>
                      <a:endParaRPr lang="en-IN" sz="2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b="1" dirty="0"/>
                        <a:t>Tools</a:t>
                      </a:r>
                      <a:endParaRPr lang="en-IN"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b="1"/>
                        <a:t>Category</a:t>
                      </a:r>
                      <a:endParaRPr lang="en-IN" sz="2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b="1"/>
                        <a:t>Tools</a:t>
                      </a:r>
                      <a:endParaRPr lang="en-IN" sz="2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09600">
                <a:tc>
                  <a:txBody>
                    <a:bodyPr/>
                    <a:lstStyle/>
                    <a:p>
                      <a:pPr>
                        <a:buNone/>
                      </a:pPr>
                      <a:r>
                        <a:rPr lang="en-IN" sz="2400" b="1"/>
                        <a:t>Programming</a:t>
                      </a:r>
                      <a:endParaRPr lang="en-IN" sz="2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dirty="0"/>
                        <a:t>Python</a:t>
                      </a:r>
                      <a:endParaRPr lang="en-IN"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b="1" dirty="0"/>
                        <a:t>Container Platform</a:t>
                      </a:r>
                      <a:endParaRPr lang="en-IN"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Docker</a:t>
                      </a:r>
                      <a:endParaRPr lang="en-IN" sz="2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779145">
                <a:tc>
                  <a:txBody>
                    <a:bodyPr/>
                    <a:p>
                      <a:pPr>
                        <a:buNone/>
                      </a:pPr>
                      <a:r>
                        <a:rPr lang="en-US" altLang="en-US" sz="2400" b="1"/>
                        <a:t>ModelOptimization</a:t>
                      </a:r>
                      <a:endParaRPr lang="en-US" altLang="en-US" sz="24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buNone/>
                      </a:pPr>
                      <a:r>
                        <a:rPr lang="en-US" altLang="en-US" sz="2400" dirty="0"/>
                        <a:t>Quantization, Pruning</a:t>
                      </a:r>
                      <a:endParaRPr lang="en-US"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buNone/>
                      </a:pPr>
                      <a:r>
                        <a:rPr lang="en-US" altLang="en-US" sz="2400" b="1" dirty="0"/>
                        <a:t>Target Platforms</a:t>
                      </a:r>
                      <a:endParaRPr lang="en-US" alt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buNone/>
                      </a:pPr>
                      <a:r>
                        <a:rPr lang="en-US" altLang="en-US" sz="2400"/>
                        <a:t>Windows, Linux</a:t>
                      </a:r>
                      <a:endParaRPr lang="en-US" altLang="en-US" sz="2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1066800">
                <a:tc>
                  <a:txBody>
                    <a:bodyPr/>
                    <a:lstStyle/>
                    <a:p>
                      <a:pPr>
                        <a:buNone/>
                      </a:pPr>
                      <a:r>
                        <a:rPr lang="en-IN" sz="2400" b="1" dirty="0"/>
                        <a:t>Deep Learning</a:t>
                      </a:r>
                      <a:endParaRPr lang="en-IN"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dirty="0" err="1"/>
                        <a:t>PyTorch</a:t>
                      </a:r>
                      <a:r>
                        <a:rPr lang="en-IN" sz="2400" dirty="0"/>
                        <a:t>, </a:t>
                      </a:r>
                      <a:r>
                        <a:rPr lang="en-IN" sz="2400" dirty="0" err="1"/>
                        <a:t>PyTorch</a:t>
                      </a:r>
                      <a:r>
                        <a:rPr lang="en-IN" sz="2400" dirty="0"/>
                        <a:t> Geometric</a:t>
                      </a:r>
                      <a:endParaRPr lang="en-IN"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ltLang="en-US" sz="2400" b="1"/>
                        <a:t>Deployment</a:t>
                      </a:r>
                      <a:endParaRPr lang="en-US" altLang="en-US" sz="24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ltLang="en-US" sz="2400" dirty="0"/>
                        <a:t>ONNX Runtime, TensorFlow Lite (TFLite)</a:t>
                      </a:r>
                      <a:endParaRPr lang="en-US"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1066800">
                <a:tc>
                  <a:txBody>
                    <a:bodyPr/>
                    <a:lstStyle/>
                    <a:p>
                      <a:pPr>
                        <a:buNone/>
                      </a:pPr>
                      <a:r>
                        <a:rPr lang="en-US" altLang="en-US" sz="2400" b="1"/>
                        <a:t>xplainable AI (XAI)</a:t>
                      </a:r>
                      <a:endParaRPr lang="en-US" altLang="en-US" sz="24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ltLang="en-US" sz="2400"/>
                        <a:t>SHAP, BertViz</a:t>
                      </a:r>
                      <a:endParaRPr lang="en-US" altLang="en-US" sz="2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ltLang="en-US" sz="2400" b="1"/>
                        <a:t>MLOps Platform</a:t>
                      </a:r>
                      <a:endParaRPr lang="en-US" altLang="en-US" sz="24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ltLang="en-US" sz="2400" dirty="0"/>
                        <a:t>MLflow, Optuna</a:t>
                      </a:r>
                      <a:endParaRPr lang="en-US" alt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4020" y="304800"/>
            <a:ext cx="7346950" cy="768985"/>
          </a:xfrm>
        </p:spPr>
        <p:txBody>
          <a:bodyPr>
            <a:normAutofit/>
          </a:bodyPr>
          <a:lstStyle/>
          <a:p>
            <a:r>
              <a:rPr lang="en-IN" sz="3200" b="1" dirty="0">
                <a:solidFill>
                  <a:srgbClr val="FF0000"/>
                </a:solidFill>
                <a:latin typeface="Times New Roman" panose="02020603050405020304" pitchFamily="18" charset="0"/>
                <a:cs typeface="Times New Roman" panose="02020603050405020304" pitchFamily="18" charset="0"/>
                <a:sym typeface="+mn-ea"/>
              </a:rPr>
              <a:t>Expected Results</a:t>
            </a:r>
            <a:r>
              <a:rPr lang="en-US" altLang="en-IN" sz="3200" b="1" dirty="0">
                <a:solidFill>
                  <a:srgbClr val="FF0000"/>
                </a:solidFill>
                <a:latin typeface="Times New Roman" panose="02020603050405020304" pitchFamily="18" charset="0"/>
                <a:cs typeface="Times New Roman" panose="02020603050405020304" pitchFamily="18" charset="0"/>
                <a:sym typeface="+mn-ea"/>
              </a:rPr>
              <a:t>:</a:t>
            </a:r>
            <a:endParaRPr lang="en-US" altLang="en-IN" sz="3200" b="1" i="1" dirty="0">
              <a:solidFill>
                <a:srgbClr val="FF0000"/>
              </a:solidFill>
              <a:latin typeface="Times New Roman" panose="02020603050405020304" pitchFamily="18" charset="0"/>
              <a:cs typeface="Times New Roman" panose="02020603050405020304" pitchFamily="18" charset="0"/>
              <a:sym typeface="+mn-ea"/>
            </a:endParaRPr>
          </a:p>
        </p:txBody>
      </p:sp>
      <p:sp>
        <p:nvSpPr>
          <p:cNvPr id="3" name="Content Placeholder 2"/>
          <p:cNvSpPr>
            <a:spLocks noGrp="1"/>
          </p:cNvSpPr>
          <p:nvPr>
            <p:ph idx="1"/>
          </p:nvPr>
        </p:nvSpPr>
        <p:spPr>
          <a:xfrm>
            <a:off x="414020" y="1323340"/>
            <a:ext cx="10939780" cy="4472940"/>
          </a:xfrm>
        </p:spPr>
        <p:txBody>
          <a:bodyPr>
            <a:noAutofit/>
          </a:bodyPr>
          <a:lstStyle/>
          <a:p>
            <a:pPr algn="just"/>
            <a:r>
              <a:rPr lang="en-US" altLang="en-US" sz="2400" dirty="0"/>
              <a:t>Accurate suicide risk prediction using fine-tuned BERT/MentalBERT models with high precision and recall.</a:t>
            </a:r>
            <a:endParaRPr lang="en-US" altLang="en-US" sz="2400" dirty="0"/>
          </a:p>
          <a:p>
            <a:pPr algn="just"/>
            <a:r>
              <a:rPr lang="en-US" altLang="en-US" sz="2400" dirty="0"/>
              <a:t>Clinically explainable predictions through SHAP and attention visualization, enabling healthcare professionals to understand model decisions.</a:t>
            </a:r>
            <a:endParaRPr lang="en-US" altLang="en-US" sz="2400" dirty="0"/>
          </a:p>
          <a:p>
            <a:pPr algn="just"/>
            <a:r>
              <a:rPr lang="en-US" altLang="en-US" sz="2400" dirty="0"/>
              <a:t>Identification of key linguistic and emotional patterns associated with suicidal ideation by reverse engineering the model.</a:t>
            </a:r>
            <a:endParaRPr lang="en-US" altLang="en-US" sz="2400" dirty="0"/>
          </a:p>
          <a:p>
            <a:pPr algn="just"/>
            <a:r>
              <a:rPr lang="en-US" altLang="en-US" sz="2400" dirty="0"/>
              <a:t>A complete MLOps pipeline for model training, versioning, monitoring, and reliable deployment.</a:t>
            </a:r>
            <a:endParaRPr lang="en-US" altLang="en-US" sz="2400" dirty="0"/>
          </a:p>
          <a:p>
            <a:pPr algn="just"/>
            <a:r>
              <a:rPr lang="en-US" altLang="en-US" sz="2400" dirty="0"/>
              <a:t>Optimized on-device inference using model compression techniques, ensuring faster predictions while preserving user privacy.</a:t>
            </a:r>
            <a:endParaRPr lang="en-US" altLang="en-US" sz="2400" dirty="0"/>
          </a:p>
          <a:p>
            <a:pPr algn="just"/>
            <a:r>
              <a:rPr lang="en-US" altLang="en-US" sz="2400" dirty="0"/>
              <a:t>Cross-platform deployment supporting  Windows, and Linux.</a:t>
            </a:r>
            <a:endParaRPr lang="en-US" alt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304800"/>
            <a:ext cx="7948930" cy="805815"/>
          </a:xfrm>
        </p:spPr>
        <p:txBody>
          <a:bodyPr/>
          <a:p>
            <a:r>
              <a:rPr lang="en-IN" sz="3200" b="1" dirty="0">
                <a:solidFill>
                  <a:srgbClr val="FF0000"/>
                </a:solidFill>
                <a:latin typeface="Times New Roman" panose="02020603050405020304" pitchFamily="18" charset="0"/>
                <a:cs typeface="Times New Roman" panose="02020603050405020304" pitchFamily="18" charset="0"/>
                <a:sym typeface="+mn-ea"/>
              </a:rPr>
              <a:t>Research Limitations</a:t>
            </a:r>
            <a:r>
              <a:rPr lang="en-US" altLang="en-IN" sz="3200" b="1" dirty="0">
                <a:solidFill>
                  <a:srgbClr val="FF0000"/>
                </a:solidFill>
                <a:latin typeface="Times New Roman" panose="02020603050405020304" pitchFamily="18" charset="0"/>
                <a:cs typeface="Times New Roman" panose="02020603050405020304" pitchFamily="18" charset="0"/>
                <a:sym typeface="+mn-ea"/>
              </a:rPr>
              <a:t>:</a:t>
            </a:r>
            <a:endParaRPr lang="en-US" altLang="en-IN" sz="3200" b="1" i="1" dirty="0">
              <a:solidFill>
                <a:srgbClr val="FF0000"/>
              </a:solidFill>
              <a:latin typeface="Times New Roman" panose="02020603050405020304" pitchFamily="18" charset="0"/>
              <a:cs typeface="Times New Roman" panose="02020603050405020304" pitchFamily="18" charset="0"/>
              <a:sym typeface="+mn-ea"/>
            </a:endParaRPr>
          </a:p>
        </p:txBody>
      </p:sp>
      <p:sp>
        <p:nvSpPr>
          <p:cNvPr id="3" name="Content Placeholder 2"/>
          <p:cNvSpPr>
            <a:spLocks noGrp="1"/>
          </p:cNvSpPr>
          <p:nvPr>
            <p:ph idx="1"/>
          </p:nvPr>
        </p:nvSpPr>
        <p:spPr>
          <a:xfrm>
            <a:off x="457200" y="1253490"/>
            <a:ext cx="10515600" cy="4351338"/>
          </a:xfrm>
        </p:spPr>
        <p:txBody>
          <a:bodyPr>
            <a:noAutofit/>
          </a:bodyPr>
          <a:p>
            <a:pPr algn="just"/>
            <a:r>
              <a:rPr lang="en-US" altLang="en-US" sz="2400" dirty="0"/>
              <a:t>Limited Dataset Diversity – Most publicly available datasets are collected from social media platforms (e.g., Reddit), which may not represent all demographic and clinical populations.</a:t>
            </a:r>
            <a:endParaRPr lang="en-US" altLang="en-US" sz="2400" dirty="0"/>
          </a:p>
          <a:p>
            <a:pPr algn="just"/>
            <a:r>
              <a:rPr lang="en-US" altLang="en-US" sz="2400" dirty="0"/>
              <a:t>Black-Box Nature of Deep Learning Models – Although explainability techniques are used, they may not fully capture the complete reasoning behind model predictions.</a:t>
            </a:r>
            <a:endParaRPr lang="en-US" altLang="en-US" sz="2400" dirty="0"/>
          </a:p>
          <a:p>
            <a:pPr algn="just"/>
            <a:r>
              <a:rPr lang="en-US" altLang="en-US" sz="2400" dirty="0"/>
              <a:t>Limited Clinical Validation – The system requires extensive evaluation and feedback from mental health professionals before real-world clinical adoption.</a:t>
            </a:r>
            <a:endParaRPr lang="en-US" altLang="en-US" sz="2400" dirty="0"/>
          </a:p>
          <a:p>
            <a:pPr algn="just"/>
            <a:r>
              <a:rPr lang="en-US" altLang="en-US" sz="2400" dirty="0"/>
              <a:t>Language Dependency – The current model is primarily trained on English text and may not generalize well to other languages without retraining.</a:t>
            </a:r>
            <a:endParaRPr lang="en-US" altLang="en-US" sz="2400" dirty="0"/>
          </a:p>
          <a:p>
            <a:pPr algn="just"/>
            <a:r>
              <a:rPr lang="en-US" altLang="en-US" sz="2400" dirty="0"/>
              <a:t>Risk of Prediction Errors – False positives and false negatives may occur, making the model unsuitable as the sole basis for clinical decision-making.</a:t>
            </a:r>
            <a:endParaRPr lang="en-US" altLang="en-US" sz="2400" dirty="0"/>
          </a:p>
        </p:txBody>
      </p:sp>
      <p:sp>
        <p:nvSpPr>
          <p:cNvPr id="4" name="Date Placeholder 3"/>
          <p:cNvSpPr>
            <a:spLocks noGrp="1"/>
          </p:cNvSpPr>
          <p:nvPr>
            <p:ph type="dt" sz="half" idx="10"/>
          </p:nvPr>
        </p:nvSpPr>
        <p:spPr/>
        <p:txBody>
          <a:bodyPr/>
          <a:p>
            <a:pPr>
              <a:defRPr/>
            </a:pPr>
            <a:endParaRPr lang="en-US"/>
          </a:p>
        </p:txBody>
      </p:sp>
      <p:sp>
        <p:nvSpPr>
          <p:cNvPr id="5" name="Text Box 4"/>
          <p:cNvSpPr txBox="1"/>
          <p:nvPr/>
        </p:nvSpPr>
        <p:spPr>
          <a:xfrm>
            <a:off x="5605145" y="702945"/>
            <a:ext cx="4064000" cy="368300"/>
          </a:xfrm>
          <a:prstGeom prst="rect">
            <a:avLst/>
          </a:prstGeom>
          <a:noFill/>
        </p:spPr>
        <p:txBody>
          <a:bodyPr wrap="square" rtlCol="0">
            <a:spAutoFit/>
          </a:bodyPr>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77240"/>
          </a:xfrm>
        </p:spPr>
        <p:txBody>
          <a:bodyPr/>
          <a:lstStyle/>
          <a:p>
            <a:r>
              <a:rPr lang="en-IN" sz="3200" b="1" dirty="0">
                <a:solidFill>
                  <a:srgbClr val="FF0000"/>
                </a:solidFill>
                <a:latin typeface="Times New Roman" panose="02020603050405020304" pitchFamily="18" charset="0"/>
                <a:cs typeface="Times New Roman" panose="02020603050405020304" pitchFamily="18" charset="0"/>
                <a:sym typeface="+mn-ea"/>
              </a:rPr>
              <a:t>Conclusion</a:t>
            </a:r>
            <a:r>
              <a:rPr lang="en-US" altLang="en-IN" sz="3200" b="1" dirty="0">
                <a:solidFill>
                  <a:srgbClr val="FF0000"/>
                </a:solidFill>
                <a:latin typeface="Times New Roman" panose="02020603050405020304" pitchFamily="18" charset="0"/>
                <a:cs typeface="Times New Roman" panose="02020603050405020304" pitchFamily="18" charset="0"/>
                <a:sym typeface="+mn-ea"/>
              </a:rPr>
              <a:t>:</a:t>
            </a:r>
            <a:endParaRPr lang="en-US" altLang="en-IN" sz="3200" b="1" i="1" dirty="0">
              <a:solidFill>
                <a:srgbClr val="FF0000"/>
              </a:solidFill>
              <a:latin typeface="Times New Roman" panose="02020603050405020304" pitchFamily="18" charset="0"/>
              <a:cs typeface="Times New Roman" panose="02020603050405020304" pitchFamily="18" charset="0"/>
              <a:sym typeface="+mn-ea"/>
            </a:endParaRPr>
          </a:p>
        </p:txBody>
      </p:sp>
      <p:sp>
        <p:nvSpPr>
          <p:cNvPr id="3" name="Content Placeholder 2"/>
          <p:cNvSpPr>
            <a:spLocks noGrp="1"/>
          </p:cNvSpPr>
          <p:nvPr>
            <p:ph idx="1"/>
          </p:nvPr>
        </p:nvSpPr>
        <p:spPr>
          <a:xfrm>
            <a:off x="838200" y="1214120"/>
            <a:ext cx="10515600" cy="4519930"/>
          </a:xfrm>
        </p:spPr>
        <p:txBody>
          <a:bodyPr>
            <a:normAutofit lnSpcReduction="10000"/>
          </a:bodyPr>
          <a:lstStyle/>
          <a:p>
            <a:pPr marL="0" indent="0" algn="just">
              <a:buNone/>
            </a:pPr>
            <a:r>
              <a:rPr lang="en-US" sz="2000" b="1" dirty="0">
                <a:latin typeface="Calibri" panose="020F0502020204030204"/>
              </a:rPr>
              <a:t> </a:t>
            </a:r>
            <a:r>
              <a:rPr lang="en-US" altLang="en-US" sz="2400" dirty="0">
                <a:latin typeface="Calibri" panose="020F0502020204030204"/>
              </a:rPr>
              <a:t>The proposed Suicide Risk Prediction Model with Clinical Explainability combines the power of transformer-based models such as BERT and MentalBERT with Explainable AI techniques to provide accurate, transparent, and clinically meaningful suicide risk assessment. By integrating SHAP, attention visualization, and reverse engineering.</a:t>
            </a:r>
            <a:endParaRPr lang="en-US" altLang="en-US" sz="2400" dirty="0">
              <a:latin typeface="Calibri" panose="020F0502020204030204"/>
            </a:endParaRPr>
          </a:p>
          <a:p>
            <a:pPr marL="0" indent="0" algn="just">
              <a:buNone/>
            </a:pPr>
            <a:endParaRPr lang="en-US" altLang="en-US" sz="2400" dirty="0">
              <a:latin typeface="Calibri" panose="020F0502020204030204"/>
            </a:endParaRPr>
          </a:p>
          <a:p>
            <a:pPr marL="0" indent="0" algn="just">
              <a:buNone/>
            </a:pPr>
            <a:r>
              <a:rPr lang="en-US" altLang="en-US" sz="2400" dirty="0">
                <a:latin typeface="Calibri" panose="020F0502020204030204"/>
              </a:rPr>
              <a:t>The system helps clinicians understand the factors influencing each prediction, thereby improving trust and supporting informed decision-making. The incorporation of an MLOps pipeline ensures efficient model development, deployment, monitoring, and scalability, while model optimization techniques enable privacy-preserving on-device inference across multiple platforms. Overall, this project contributes to the development of a reliable, explainable, and production-ready AI solution that supports early identification of suicide risk and promotes responsible use of artificial intelligence</a:t>
            </a:r>
            <a:endParaRPr lang="en-US" altLang="en-US" sz="2400" dirty="0">
              <a:latin typeface="Calibri" panose="020F050202020403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730250"/>
          </a:xfrm>
        </p:spPr>
        <p:txBody>
          <a:bodyPr/>
          <a:p>
            <a:r>
              <a:rPr lang="en-IN" sz="2800" b="1" dirty="0">
                <a:solidFill>
                  <a:srgbClr val="FF0000"/>
                </a:solidFill>
                <a:latin typeface="Times New Roman" panose="02020603050405020304" pitchFamily="18" charset="0"/>
                <a:cs typeface="Times New Roman" panose="02020603050405020304" pitchFamily="18" charset="0"/>
                <a:sym typeface="+mn-ea"/>
              </a:rPr>
              <a:t>References</a:t>
            </a:r>
            <a:r>
              <a:rPr lang="en-US" altLang="en-IN" sz="2800" b="1" dirty="0">
                <a:solidFill>
                  <a:srgbClr val="FF0000"/>
                </a:solidFill>
                <a:latin typeface="Times New Roman" panose="02020603050405020304" pitchFamily="18" charset="0"/>
                <a:cs typeface="Times New Roman" panose="02020603050405020304" pitchFamily="18" charset="0"/>
                <a:sym typeface="+mn-ea"/>
              </a:rPr>
              <a:t>:</a:t>
            </a:r>
            <a:endParaRPr lang="en-US" altLang="en-IN" sz="2800" b="1" dirty="0">
              <a:solidFill>
                <a:srgbClr val="FF0000"/>
              </a:solidFill>
              <a:latin typeface="Times New Roman" panose="02020603050405020304" pitchFamily="18" charset="0"/>
              <a:cs typeface="Times New Roman" panose="02020603050405020304" pitchFamily="18" charset="0"/>
              <a:sym typeface="+mn-ea"/>
            </a:endParaRPr>
          </a:p>
        </p:txBody>
      </p:sp>
      <p:sp>
        <p:nvSpPr>
          <p:cNvPr id="3" name="Content Placeholder 2"/>
          <p:cNvSpPr>
            <a:spLocks noGrp="1"/>
          </p:cNvSpPr>
          <p:nvPr>
            <p:ph idx="1"/>
          </p:nvPr>
        </p:nvSpPr>
        <p:spPr>
          <a:xfrm>
            <a:off x="838200" y="1002665"/>
            <a:ext cx="10515600" cy="2531110"/>
          </a:xfrm>
        </p:spPr>
        <p:txBody>
          <a:bodyPr>
            <a:noAutofit/>
          </a:bodyPr>
          <a:p>
            <a:pPr algn="just"/>
            <a:r>
              <a:rPr lang="en-US" altLang="en-US" sz="2400" b="1">
                <a:latin typeface="Calibri" panose="020F0502020204030204"/>
                <a:sym typeface="+mn-ea"/>
              </a:rPr>
              <a:t>[1]Pascal Penava et al</a:t>
            </a:r>
            <a:r>
              <a:rPr lang="en-US" altLang="en-US" sz="2400">
                <a:latin typeface="Calibri" panose="020F0502020204030204"/>
                <a:sym typeface="+mn-ea"/>
              </a:rPr>
              <a:t>.(2025)—</a:t>
            </a:r>
            <a:r>
              <a:rPr lang="en-US" altLang="en-US" sz="2400">
                <a:latin typeface="Calibri" panose="020F0502020204030204"/>
              </a:rPr>
              <a:t>Early-Stage Non-Severe Depression Detection Using a Novel CNN Approach on Resting-State EEG Data (2024) — IEEE.</a:t>
            </a:r>
            <a:endParaRPr lang="en-US" altLang="en-US" sz="2400"/>
          </a:p>
          <a:p>
            <a:pPr algn="just"/>
            <a:r>
              <a:rPr lang="en-US" altLang="en-US" sz="2400" b="1">
                <a:latin typeface="Calibri" panose="020F0502020204030204"/>
              </a:rPr>
              <a:t>[2]Ji et al</a:t>
            </a:r>
            <a:r>
              <a:rPr lang="en-US" altLang="en-US" sz="2400">
                <a:latin typeface="Calibri" panose="020F0502020204030204"/>
              </a:rPr>
              <a:t>. (2021) — Review of machine learning methods for suicidal ideation detection.</a:t>
            </a:r>
            <a:endParaRPr lang="en-US" altLang="en-US" sz="2400"/>
          </a:p>
          <a:p>
            <a:pPr algn="just"/>
            <a:r>
              <a:rPr lang="en-US" altLang="en-US" sz="2400" b="1">
                <a:latin typeface="Calibri" panose="020F0502020204030204"/>
              </a:rPr>
              <a:t>[3]Ophir et al</a:t>
            </a:r>
            <a:r>
              <a:rPr lang="en-US" altLang="en-US" sz="2400">
                <a:latin typeface="Calibri" panose="020F0502020204030204"/>
              </a:rPr>
              <a:t>. (2020) — Deep neural networks applied to Facebook posts for risk detection.</a:t>
            </a:r>
            <a:endParaRPr lang="en-US" altLang="en-US" sz="2400"/>
          </a:p>
          <a:p>
            <a:pPr algn="just"/>
            <a:r>
              <a:rPr lang="en-US" altLang="en-US" sz="2400" b="1">
                <a:latin typeface="Calibri" panose="020F0502020204030204"/>
              </a:rPr>
              <a:t>[4]Tadesse et al</a:t>
            </a:r>
            <a:r>
              <a:rPr lang="en-US" altLang="en-US" sz="2400">
                <a:latin typeface="Calibri" panose="020F0502020204030204"/>
              </a:rPr>
              <a:t>. (2020) — Deep learning approaches on social media forums.</a:t>
            </a:r>
            <a:endParaRPr lang="en-US" altLang="en-US" sz="2400"/>
          </a:p>
          <a:p>
            <a:pPr algn="just"/>
            <a:r>
              <a:rPr lang="en-US" altLang="en-US" sz="2400" b="1">
                <a:latin typeface="Calibri" panose="020F0502020204030204"/>
              </a:rPr>
              <a:t>[5]Gaur et al</a:t>
            </a:r>
            <a:r>
              <a:rPr lang="en-US" altLang="en-US" sz="2400">
                <a:latin typeface="Calibri" panose="020F0502020204030204"/>
              </a:rPr>
              <a:t>. (2019) — Knowledge-aware severity assessment of suicidal ideation.</a:t>
            </a:r>
            <a:endParaRPr lang="en-US" altLang="en-US" sz="2400"/>
          </a:p>
          <a:p>
            <a:pPr marL="0" indent="0" algn="just">
              <a:buNone/>
            </a:pPr>
            <a:endParaRPr lang="en-US" altLang="en-US" sz="2400"/>
          </a:p>
        </p:txBody>
      </p:sp>
      <p:sp>
        <p:nvSpPr>
          <p:cNvPr id="4" name="Date Placeholder 3"/>
          <p:cNvSpPr>
            <a:spLocks noGrp="1"/>
          </p:cNvSpPr>
          <p:nvPr>
            <p:ph type="dt" sz="half" idx="10"/>
          </p:nvPr>
        </p:nvSpPr>
        <p:spPr/>
        <p:txBody>
          <a:bodyPr/>
          <a:p>
            <a:pPr>
              <a:defRPr/>
            </a:pP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730250"/>
          </a:xfrm>
        </p:spPr>
        <p:txBody>
          <a:bodyPr/>
          <a:p>
            <a:r>
              <a:rPr lang="en-US" altLang="en-US" sz="2800" b="1">
                <a:latin typeface="Calibri" panose="020F0502020204030204"/>
              </a:rPr>
              <a:t>References</a:t>
            </a:r>
            <a:endParaRPr lang="en-US" altLang="en-US" sz="2800" b="1"/>
          </a:p>
        </p:txBody>
      </p:sp>
      <p:sp>
        <p:nvSpPr>
          <p:cNvPr id="3" name="Content Placeholder 2"/>
          <p:cNvSpPr>
            <a:spLocks noGrp="1"/>
          </p:cNvSpPr>
          <p:nvPr>
            <p:ph idx="1"/>
          </p:nvPr>
        </p:nvSpPr>
        <p:spPr>
          <a:xfrm>
            <a:off x="838200" y="1002665"/>
            <a:ext cx="10515600" cy="4697095"/>
          </a:xfrm>
        </p:spPr>
        <p:txBody>
          <a:bodyPr>
            <a:normAutofit/>
          </a:bodyPr>
          <a:p>
            <a:pPr algn="just"/>
            <a:r>
              <a:rPr lang="en-US" altLang="en-US" sz="2000" b="1">
                <a:latin typeface="Calibri" panose="020F0502020204030204"/>
              </a:rPr>
              <a:t>Book References:</a:t>
            </a:r>
            <a:endParaRPr lang="en-US" altLang="en-US" sz="2000" b="1">
              <a:latin typeface="Calibri" panose="020F0502020204030204"/>
            </a:endParaRPr>
          </a:p>
          <a:p>
            <a:pPr lvl="1" algn="just"/>
            <a:r>
              <a:rPr lang="en-US" altLang="en-US" sz="2000">
                <a:latin typeface="Calibri" panose="020F0502020204030204"/>
              </a:rPr>
              <a:t>Molnar, C. (2022). Interpretable Machine Learning: A Guide for Making Black Box Models Explainable (2nd ed.). independently published.</a:t>
            </a:r>
            <a:endParaRPr lang="en-US" altLang="en-US" sz="2000">
              <a:latin typeface="Calibri" panose="020F0502020204030204"/>
            </a:endParaRPr>
          </a:p>
          <a:p>
            <a:pPr algn="just"/>
            <a:r>
              <a:rPr lang="en-US" altLang="en-US" sz="2000" b="0">
                <a:latin typeface="Calibri" panose="020F0502020204030204"/>
              </a:rPr>
              <a:t> </a:t>
            </a:r>
            <a:r>
              <a:rPr lang="en-US" altLang="en-US" sz="2000" b="1">
                <a:latin typeface="Calibri" panose="020F0502020204030204"/>
              </a:rPr>
              <a:t>Web References:</a:t>
            </a:r>
            <a:endParaRPr lang="en-US" altLang="en-US" sz="2000"/>
          </a:p>
          <a:p>
            <a:pPr algn="just"/>
            <a:r>
              <a:rPr lang="en-US" altLang="en-US" sz="2000" b="0">
                <a:latin typeface="Calibri" panose="020F0502020204030204"/>
              </a:rPr>
              <a:t> Pascal Penava et al.(2025) </a:t>
            </a:r>
            <a:r>
              <a:rPr lang="en-US" altLang="en-US" sz="2000">
                <a:latin typeface="Calibri" panose="020F0502020204030204"/>
                <a:sym typeface="+mn-ea"/>
              </a:rPr>
              <a:t>— </a:t>
            </a:r>
            <a:r>
              <a:rPr lang="en-US" altLang="en-US" sz="2000" b="0">
                <a:latin typeface="Calibri" panose="020F0502020204030204"/>
              </a:rPr>
              <a:t>Early-Stage Non-Severe Depression Detection Using a Novel CNN Approach on Resting-State EEG Data — https://ieeexplore.ieee.org/document/10757418</a:t>
            </a:r>
            <a:endParaRPr lang="en-US" altLang="en-US" sz="2000"/>
          </a:p>
          <a:p>
            <a:pPr algn="just"/>
            <a:r>
              <a:rPr lang="en-US" altLang="en-US" sz="2000" b="0">
                <a:latin typeface="Calibri" panose="020F0502020204030204"/>
              </a:rPr>
              <a:t> Coppersmith et al. (2018) — https://journals.sagepub.com/doi/full/10.1177/1178222618792860</a:t>
            </a:r>
            <a:endParaRPr lang="en-US" altLang="en-US" sz="2000"/>
          </a:p>
          <a:p>
            <a:pPr algn="just"/>
            <a:r>
              <a:rPr lang="en-US" altLang="en-US" sz="2000" b="0">
                <a:latin typeface="Calibri" panose="020F0502020204030204"/>
              </a:rPr>
              <a:t> Ji et al. (2021) — https://ieeexplore.ieee.org/document/9199553</a:t>
            </a:r>
            <a:endParaRPr lang="en-US" altLang="en-US" sz="2000"/>
          </a:p>
        </p:txBody>
      </p:sp>
      <p:sp>
        <p:nvSpPr>
          <p:cNvPr id="4" name="Date Placeholder 3"/>
          <p:cNvSpPr>
            <a:spLocks noGrp="1"/>
          </p:cNvSpPr>
          <p:nvPr>
            <p:ph type="dt" sz="half" idx="10"/>
          </p:nvPr>
        </p:nvSpPr>
        <p:spPr/>
        <p:txBody>
          <a:bodyPr/>
          <a:p>
            <a:pPr>
              <a:defRPr/>
            </a:pP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flipH="1">
            <a:off x="7391400" y="7086600"/>
            <a:ext cx="7825740" cy="1325880"/>
          </a:xfrm>
        </p:spPr>
        <p:txBody>
          <a:bodyPr/>
          <a:p>
            <a:endParaRPr lang="en-US"/>
          </a:p>
        </p:txBody>
      </p:sp>
      <p:sp>
        <p:nvSpPr>
          <p:cNvPr id="3" name="Content Placeholder 2"/>
          <p:cNvSpPr>
            <a:spLocks noGrp="1"/>
          </p:cNvSpPr>
          <p:nvPr>
            <p:ph idx="1"/>
          </p:nvPr>
        </p:nvSpPr>
        <p:spPr>
          <a:xfrm>
            <a:off x="990600" y="2286000"/>
            <a:ext cx="10515600" cy="1818640"/>
          </a:xfrm>
        </p:spPr>
        <p:txBody>
          <a:bodyPr>
            <a:normAutofit fontScale="25000"/>
          </a:bodyPr>
          <a:p>
            <a:r>
              <a:rPr lang="en-US">
                <a:solidFill>
                  <a:schemeClr val="tx1"/>
                </a:solidFill>
                <a:effectLst>
                  <a:outerShdw blurRad="38100" dist="19050" dir="2700000" algn="tl" rotWithShape="0">
                    <a:schemeClr val="dk1">
                      <a:alpha val="40000"/>
                    </a:schemeClr>
                  </a:outerShdw>
                </a:effectLst>
                <a:latin typeface="Calibri" panose="020F0502020204030204"/>
              </a:rPr>
              <a:t>                                                              </a:t>
            </a:r>
            <a:r>
              <a:rPr lang="en-US" sz="38400">
                <a:solidFill>
                  <a:schemeClr val="tx1"/>
                </a:solidFill>
                <a:effectLst>
                  <a:outerShdw blurRad="38100" dist="19050" dir="2700000" algn="tl" rotWithShape="0">
                    <a:schemeClr val="dk1">
                      <a:alpha val="40000"/>
                    </a:schemeClr>
                  </a:outerShdw>
                </a:effectLst>
                <a:latin typeface="Calibri" panose="020F0502020204030204"/>
              </a:rPr>
              <a:t>    </a:t>
            </a:r>
            <a:r>
              <a:rPr lang="en-US" sz="28800" b="1" i="1">
                <a:latin typeface="Calibri" panose="020F0502020204030204"/>
              </a:rPr>
              <a:t>THANK YOU</a:t>
            </a:r>
            <a:r>
              <a:rPr lang="en-US" sz="38400" b="1" i="1">
                <a:latin typeface="Calibri" panose="020F0502020204030204"/>
              </a:rPr>
              <a:t> </a:t>
            </a:r>
            <a:endParaRPr lang="en-US" sz="38400" b="1" i="1"/>
          </a:p>
        </p:txBody>
      </p:sp>
      <p:sp>
        <p:nvSpPr>
          <p:cNvPr id="4" name="Date Placeholder 3"/>
          <p:cNvSpPr>
            <a:spLocks noGrp="1"/>
          </p:cNvSpPr>
          <p:nvPr>
            <p:ph type="dt" sz="half" idx="10"/>
          </p:nvPr>
        </p:nvSpPr>
        <p:spPr/>
        <p:txBody>
          <a:bodyPr/>
          <a:p>
            <a:pPr>
              <a:defRPr/>
            </a:pPr>
            <a:endParaRPr lang="en-US"/>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8F1BCB14E108D43AB233A31F986D556" ma:contentTypeVersion="15" ma:contentTypeDescription="Create a new document." ma:contentTypeScope="" ma:versionID="606eb99ade008cbd837459e6299ff69f">
  <xsd:schema xmlns:xsd="http://www.w3.org/2001/XMLSchema" xmlns:xs="http://www.w3.org/2001/XMLSchema" xmlns:p="http://schemas.microsoft.com/office/2006/metadata/properties" xmlns:ns2="9091ee48-ca27-4fcf-b5de-98ddf097c65b" xmlns:ns3="aa0e8f73-967c-4e13-b55c-6b4dcdfd4341" targetNamespace="http://schemas.microsoft.com/office/2006/metadata/properties" ma:root="true" ma:fieldsID="4f0695f8f66d9a55fcdb756ad6a4800d" ns2:_="" ns3:_="">
    <xsd:import namespace="9091ee48-ca27-4fcf-b5de-98ddf097c65b"/>
    <xsd:import namespace="aa0e8f73-967c-4e13-b55c-6b4dcdfd434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element ref="ns2:MediaServiceLocation"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091ee48-ca27-4fcf-b5de-98ddf097c65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8a8dc31b-8fe8-4e59-b85a-c7b64a9b44e1"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a0e8f73-967c-4e13-b55c-6b4dcdfd4341"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a7c6695d-8cf1-4d67-be06-2ceec35c97d8}" ma:internalName="TaxCatchAll" ma:showField="CatchAllData" ma:web="aa0e8f73-967c-4e13-b55c-6b4dcdfd4341">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aa0e8f73-967c-4e13-b55c-6b4dcdfd4341" xsi:nil="true"/>
    <lcf76f155ced4ddcb4097134ff3c332f xmlns="9091ee48-ca27-4fcf-b5de-98ddf097c65b">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A91E36E6-5217-4E12-971E-AF9D2089B059}">
  <ds:schemaRefs/>
</ds:datastoreItem>
</file>

<file path=customXml/itemProps2.xml><?xml version="1.0" encoding="utf-8"?>
<ds:datastoreItem xmlns:ds="http://schemas.openxmlformats.org/officeDocument/2006/customXml" ds:itemID="{FFB38897-1384-41D0-8D2B-BBB64548DD67}">
  <ds:schemaRefs/>
</ds:datastoreItem>
</file>

<file path=customXml/itemProps3.xml><?xml version="1.0" encoding="utf-8"?>
<ds:datastoreItem xmlns:ds="http://schemas.openxmlformats.org/officeDocument/2006/customXml" ds:itemID="{E4703F4C-A684-46B9-B306-BF2B5B491245}">
  <ds:schemaRefs/>
</ds:datastoreItem>
</file>

<file path=docProps/app.xml><?xml version="1.0" encoding="utf-8"?>
<Properties xmlns="http://schemas.openxmlformats.org/officeDocument/2006/extended-properties" xmlns:vt="http://schemas.openxmlformats.org/officeDocument/2006/docPropsVTypes">
  <Template>Office Theme 2013 - 2022</Template>
  <TotalTime>0</TotalTime>
  <Words>7837</Words>
  <Application>WPS Presentation</Application>
  <PresentationFormat>Widescreen</PresentationFormat>
  <Paragraphs>141</Paragraphs>
  <Slides>13</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13</vt:i4>
      </vt:variant>
    </vt:vector>
  </HeadingPairs>
  <TitlesOfParts>
    <vt:vector size="27" baseType="lpstr">
      <vt:lpstr>Arial</vt:lpstr>
      <vt:lpstr>SimSun</vt:lpstr>
      <vt:lpstr>Wingdings</vt:lpstr>
      <vt:lpstr>Times New Roman</vt:lpstr>
      <vt:lpstr>Calibri</vt:lpstr>
      <vt:lpstr>Helvetica</vt:lpstr>
      <vt:lpstr>Calibri</vt:lpstr>
      <vt:lpstr>Times New Roman</vt:lpstr>
      <vt:lpstr>Microsoft YaHei</vt:lpstr>
      <vt:lpstr>Arial Unicode MS</vt:lpstr>
      <vt:lpstr>Calibri Light</vt:lpstr>
      <vt:lpstr>Canva Sans Bold</vt:lpstr>
      <vt:lpstr>Yu Gothic UI Semibold</vt:lpstr>
      <vt:lpstr>Office Theme</vt:lpstr>
      <vt:lpstr>   </vt:lpstr>
      <vt:lpstr>Reverse Engineering Suicide Prediction Models</vt:lpstr>
      <vt:lpstr>Project Improvements &amp; Key Innovations</vt:lpstr>
      <vt:lpstr>Technical Stack &amp; Algorithms</vt:lpstr>
      <vt:lpstr>Dataset Details</vt:lpstr>
      <vt:lpstr>Construction Flow</vt:lpstr>
      <vt:lpstr>Project State – Before vs. Current</vt:lpstr>
      <vt:lpstr>Loopholes/Gaps – Before vs. Current</vt:lpstr>
      <vt:lpstr>    Challenges, Lessons &amp; Roadmap Ahead</vt:lpstr>
      <vt:lpstr>Challenges, Lessons &amp; Roadmap Ahead</vt:lpstr>
      <vt:lpstr>Literature Survey</vt:lpstr>
      <vt:lpstr>References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Welcome</dc:creator>
  <cp:lastModifiedBy>Sridhar.M</cp:lastModifiedBy>
  <cp:revision>176</cp:revision>
  <dcterms:created xsi:type="dcterms:W3CDTF">2006-08-16T00:00:00Z</dcterms:created>
  <dcterms:modified xsi:type="dcterms:W3CDTF">2026-07-15T07:53:32Z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1033-12.1.0.26886</vt:lpwstr>
  </property>
  <property fmtid="{D5CDD505-2E9C-101B-9397-08002B2CF9AE}" pid="3" name="ICV">
    <vt:lpwstr>1A66123E0237485487C7061E0A82B33A_13</vt:lpwstr>
  </property>
  <property fmtid="{D5CDD505-2E9C-101B-9397-08002B2CF9AE}" pid="4" name="ContentTypeId">
    <vt:lpwstr>0x01010098F1BCB14E108D43AB233A31F986D556</vt:lpwstr>
  </property>
</Properties>
</file>