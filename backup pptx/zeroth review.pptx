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7" r:id="rId3"/>
    <p:sldId id="258" r:id="rId4"/>
    <p:sldId id="260" r:id="rId5"/>
    <p:sldId id="270" r:id="rId6"/>
    <p:sldId id="261" r:id="rId7"/>
    <p:sldId id="262" r:id="rId8"/>
    <p:sldId id="272" r:id="rId9"/>
    <p:sldId id="263" r:id="rId10"/>
    <p:sldId id="279" r:id="rId11"/>
    <p:sldId id="27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4660"/>
  </p:normalViewPr>
  <p:slideViewPr>
    <p:cSldViewPr showGuides="1">
      <p:cViewPr varScale="1">
        <p:scale>
          <a:sx n="78" d="100"/>
          <a:sy n="78" d="100"/>
        </p:scale>
        <p:origin x="230" y="62"/>
      </p:cViewPr>
      <p:guideLst>
        <p:guide orient="horz" pos="2152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ustomXml" Target="../customXml/item3.xml"/><Relationship Id="rId18" Type="http://schemas.openxmlformats.org/officeDocument/2006/relationships/customXml" Target="../customXml/item2.xml"/><Relationship Id="rId17" Type="http://schemas.openxmlformats.org/officeDocument/2006/relationships/customXml" Target="../customXml/item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BBAC0CA-2AD6-4EE7-937D-509BD6249079}" type="datetimeFigureOut">
              <a:rPr lang="en-US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D2A3619-0F3E-409F-8BBC-62CAA7C845C7}" type="slidenum">
              <a:rPr lang="en-IN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DD89DD-81C4-4E6B-AFEA-7492BED30D4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4E1BA5-2B3A-4BA0-82C4-250B1E03B99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ED520F-C50B-47BE-919C-C536996A22A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776205-8481-4410-854E-4E65F0EAD3D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484B84-5CB0-42B5-A7C1-8F6F1B611DD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403558-3183-467E-979E-874438A3662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72ECD8-2D72-4EB1-90BF-B7129A01E2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02FCE7-E60B-4AB4-93A7-EA35125EBB7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E6F8F-77F3-49D3-92DB-54C5A5D7EE3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BED7A0-3F6B-46DF-823D-1CE0DBD630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76FB47-3F90-442C-8F17-A1D13EE1959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Cancer Prediction Web application 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EAC9AEA-22CE-4FC0-819B-58CD2AEA48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57200"/>
            <a:ext cx="8458200" cy="6096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9800" y="40640"/>
            <a:ext cx="8763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Dr.Mahalingam</a:t>
            </a: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College of Engineering &amp; Technology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Department of Artificial Intelligence &amp; Data Science 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8" name="Picture 7" descr="C:\Users\STAFFS\Desktop\MCET LOGO NEW_1 (1).jp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240" y="58568"/>
            <a:ext cx="158496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52;p13"/>
          <p:cNvSpPr txBox="1"/>
          <p:nvPr/>
        </p:nvSpPr>
        <p:spPr>
          <a:xfrm>
            <a:off x="1532313" y="1534999"/>
            <a:ext cx="8907087" cy="46636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 algn="just">
              <a:lnSpc>
                <a:spcPct val="150000"/>
              </a:lnSpc>
              <a:spcBef>
                <a:spcPts val="0"/>
              </a:spcBef>
              <a:buSzPts val="2044"/>
              <a:buFont typeface="Arial" panose="020B0604020202020204" pitchFamily="34" charset="0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Number         : </a:t>
            </a: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A17</a:t>
            </a:r>
            <a:endParaRPr lang="en-IN" sz="2400" b="1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Domain                   :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Machine Learning (MLOps)</a:t>
            </a:r>
            <a:endParaRPr lang="en-IN" sz="2400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74320" indent="-27432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4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1800" b="1" dirty="0">
                <a:solidFill>
                  <a:srgbClr val="0C0C0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Suicide Risk Prediction Models with Clinical Explainability</a:t>
            </a:r>
            <a:endParaRPr lang="en-US" altLang="en-US" sz="1400" b="1" dirty="0">
              <a:solidFill>
                <a:srgbClr val="0C0C0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Faculty Supervisor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:</a:t>
            </a:r>
            <a:r>
              <a:rPr lang="en-IN" sz="20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Ms.M. RAJALAKSHMI</a:t>
            </a:r>
            <a:endParaRPr lang="en-US" altLang="en-US" sz="2400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Team Members</a:t>
            </a:r>
            <a:r>
              <a:rPr lang="en-US" alt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:</a:t>
            </a:r>
            <a:r>
              <a:rPr lang="en-US" altLang="en-IN" sz="24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Maha mathesh raja B (727624BAD031)</a:t>
            </a:r>
            <a:endParaRPr lang="en-US" altLang="en-IN" sz="20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irfan basha R (727624BAD009)</a:t>
            </a:r>
            <a:endParaRPr lang="en-US" altLang="en-IN" sz="20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indent="0" algn="just">
              <a:lnSpc>
                <a:spcPct val="150000"/>
              </a:lnSpc>
              <a:spcBef>
                <a:spcPts val="580"/>
              </a:spcBef>
              <a:buSzPts val="2044"/>
              <a:buNone/>
            </a:pPr>
            <a:r>
              <a:rPr lang="en-US" altLang="en-IN" sz="20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                                 Sridhar M (727624BAD091)</a:t>
            </a:r>
            <a:endParaRPr lang="en-IN" sz="24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r>
              <a:rPr lang="en-IN" sz="1665" dirty="0">
                <a:solidFill>
                  <a:srgbClr val="0C0C0C"/>
                </a:solidFill>
              </a:rPr>
              <a:t>		</a:t>
            </a:r>
            <a:endParaRPr lang="en-IN" dirty="0"/>
          </a:p>
          <a:p>
            <a:pPr marL="2468880" lvl="8">
              <a:lnSpc>
                <a:spcPct val="80000"/>
              </a:lnSpc>
              <a:buSzPts val="1665"/>
              <a:buFont typeface="Arial" panose="020B0604020202020204" pitchFamily="34" charset="0"/>
              <a:buNone/>
            </a:pPr>
            <a:endParaRPr lang="en-IN" sz="1665" dirty="0">
              <a:solidFill>
                <a:srgbClr val="0C0C0C"/>
              </a:solidFill>
            </a:endParaRPr>
          </a:p>
          <a:p>
            <a:pPr marL="274320" indent="-144780">
              <a:lnSpc>
                <a:spcPct val="80000"/>
              </a:lnSpc>
              <a:spcBef>
                <a:spcPts val="580"/>
              </a:spcBef>
              <a:buSzPts val="2044"/>
              <a:buFont typeface="Arial" panose="020B0604020202020204" pitchFamily="34" charset="0"/>
              <a:buNone/>
            </a:pPr>
            <a:endParaRPr lang="en-IN" sz="2405" dirty="0">
              <a:solidFill>
                <a:srgbClr val="0C0C0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/>
              <a:t>Reverse Engineering Suicide Prediction Models</a:t>
            </a:r>
            <a:endParaRPr 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3530"/>
            <a:ext cx="10515600" cy="4603750"/>
          </a:xfrm>
        </p:spPr>
        <p:txBody>
          <a:bodyPr>
            <a:normAutofit fontScale="80000"/>
          </a:bodyPr>
          <a:lstStyle/>
          <a:p>
            <a:pPr marL="0" indent="0">
              <a:buNone/>
            </a:pPr>
            <a:r>
              <a:rPr lang="en-US" sz="2400" b="1" dirty="0"/>
              <a:t>Abstract</a:t>
            </a:r>
            <a:endParaRPr lang="en-US" sz="2400" b="1" dirty="0"/>
          </a:p>
          <a:p>
            <a:pPr marL="0" indent="0" algn="just">
              <a:buNone/>
            </a:pPr>
            <a:r>
              <a:rPr lang="en-US" sz="2400" dirty="0"/>
              <a:t>Over 700,000 people die by suicide worldwide every year. This paper reverse-engineers what BERT-based suicide risk classifiers actually learn — identifying linguistic patterns, emotional signals, and phrasing structures — and builds a complete MLOps pipeline for cross-platform deployment (Android, iOS, Windows, macOS, Linux) with clinician-facing explainability.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Research Objectives</a:t>
            </a:r>
            <a:endParaRPr lang="en-US" sz="2400" b="1" dirty="0"/>
          </a:p>
          <a:p>
            <a:pPr marL="0" indent="0" algn="just">
              <a:buNone/>
            </a:pPr>
            <a:r>
              <a:rPr lang="en-US" sz="2400" dirty="0"/>
              <a:t>1.  Understand what a trained suicide prediction model has actually learned — features, patterns, and clinical alignment.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2.  Design and implement an MLOps pipeline from research notebook to production system with versioning, testing, and monitoring.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3.  Deploy across mobile (Android, iOS) and desktop (Windows, macOS, Linux) without sacrificing meaningful accuracy.</a:t>
            </a:r>
            <a:endParaRPr lang="en-US" sz="2400" dirty="0"/>
          </a:p>
          <a:p>
            <a:pPr marL="0" indent="0" algn="just">
              <a:buNone/>
            </a:pPr>
            <a:r>
              <a:rPr lang="en-US" sz="2400" dirty="0"/>
              <a:t>4.  Make predictions explainable in terms clinicians — not just data scientists — can act on.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1305"/>
          </a:xfrm>
        </p:spPr>
        <p:txBody>
          <a:bodyPr>
            <a:normAutofit fontScale="90000"/>
          </a:bodyPr>
          <a:lstStyle/>
          <a:p>
            <a:r>
              <a:rPr lang="en-US" altLang="en-US" sz="3200" b="1" i="1" dirty="0"/>
              <a:t>Project Improvements &amp; Key Innovations</a:t>
            </a:r>
            <a:endParaRPr lang="en-US" alt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98830"/>
            <a:ext cx="10515600" cy="5498465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/>
              <a:t> </a:t>
            </a:r>
            <a:r>
              <a:rPr lang="en-US" altLang="en-US" sz="2000" b="1" dirty="0"/>
              <a:t>Before (Baseline): </a:t>
            </a:r>
            <a:endParaRPr lang="en-US" altLang="en-US" sz="20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1600" dirty="0"/>
              <a:t>Black-box BERT models with high accuracy but no transparency, minimal deployment readiness, and limited clinical trust.</a:t>
            </a:r>
            <a:endParaRPr lang="en-US" altLang="en-US" sz="1600" dirty="0"/>
          </a:p>
          <a:p>
            <a:pPr marL="0" indent="0">
              <a:buNone/>
            </a:pPr>
            <a:r>
              <a:rPr lang="en-US" altLang="en-US" sz="2000" b="1" dirty="0"/>
              <a:t>Current Improvements:</a:t>
            </a:r>
            <a:endParaRPr lang="en-US" altLang="en-US" sz="2000" b="1" dirty="0"/>
          </a:p>
          <a:p>
            <a:r>
              <a:rPr lang="en-US" altLang="en-US" sz="1600" dirty="0"/>
              <a:t>Systematic reverse engineering of fine-tuned BERT/MentalBERT models to uncover learned linguistic/emotional patterns (hopelessness, urgency, isolation).</a:t>
            </a:r>
            <a:endParaRPr lang="en-US" altLang="en-US" sz="1600" dirty="0"/>
          </a:p>
          <a:p>
            <a:r>
              <a:rPr lang="en-US" altLang="en-US" sz="1600" dirty="0"/>
              <a:t>Implementing SHAP attributions, attention visualization, and probing to understand model internals.</a:t>
            </a:r>
            <a:endParaRPr lang="en-US" altLang="en-US" sz="1600" dirty="0"/>
          </a:p>
          <a:p>
            <a:r>
              <a:rPr lang="en-US" altLang="en-US" sz="1600" dirty="0"/>
              <a:t>Laying foundations for MLOps (tracking, basic versioning).</a:t>
            </a:r>
            <a:endParaRPr lang="en-US" altLang="en-US" sz="1600" dirty="0"/>
          </a:p>
          <a:p>
            <a:r>
              <a:rPr lang="en-US" altLang="en-US" sz="1600" dirty="0"/>
              <a:t>Starting model compression for on-device inference.</a:t>
            </a:r>
            <a:endParaRPr lang="en-US" altLang="en-US" sz="1600" dirty="0"/>
          </a:p>
          <a:p>
            <a:r>
              <a:rPr lang="en-US" altLang="en-US" sz="1600" dirty="0"/>
              <a:t>Early bias audits and ethical/privacy reviews.</a:t>
            </a:r>
            <a:endParaRPr lang="en-US" altLang="en-US" sz="1600" dirty="0"/>
          </a:p>
          <a:p>
            <a:r>
              <a:rPr lang="en-US" altLang="en-US" sz="1600" dirty="0"/>
              <a:t>Progress toward cross-platform deployment.</a:t>
            </a:r>
            <a:endParaRPr lang="en-US" altLang="en-US" sz="2000" b="1" dirty="0"/>
          </a:p>
          <a:p>
            <a:pPr marL="0" indent="0">
              <a:buNone/>
            </a:pPr>
            <a:r>
              <a:rPr lang="en-US" altLang="en-US" sz="2000" b="1" dirty="0"/>
              <a:t>Impact So Far: </a:t>
            </a:r>
            <a:endParaRPr lang="en-US" altLang="en-US" sz="2000" b="1" dirty="0"/>
          </a:p>
          <a:p>
            <a:r>
              <a:rPr lang="en-US" altLang="en-US" sz="1600" dirty="0"/>
              <a:t>Better model understanding, initial explainability, and a clearer path to responsible deployment.</a:t>
            </a:r>
            <a:endParaRPr lang="en-US" altLang="en-US" sz="1600" dirty="0"/>
          </a:p>
          <a:p>
            <a:r>
              <a:rPr lang="en-US" altLang="en-US" sz="1600" dirty="0"/>
              <a:t>Interpreting complex attention patterns in transformer layers</a:t>
            </a:r>
            <a:endParaRPr lang="en-US" altLang="en-US" sz="1600" dirty="0"/>
          </a:p>
          <a:p>
            <a:pPr marL="0" indent="0">
              <a:buNone/>
            </a:pPr>
            <a:r>
              <a:rPr lang="en-US" altLang="en-US" sz="2000" b="1" dirty="0"/>
              <a:t>Deployment Direction: </a:t>
            </a:r>
            <a:endParaRPr lang="en-US" altLang="en-US" sz="2000" b="1" dirty="0"/>
          </a:p>
          <a:p>
            <a:r>
              <a:rPr lang="en-US" altLang="en-US" sz="1600" dirty="0"/>
              <a:t>TensorFlow Lite, ONNX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189085" cy="132715"/>
          </a:xfrm>
        </p:spPr>
        <p:txBody>
          <a:bodyPr>
            <a:noAutofit/>
          </a:bodyPr>
          <a:p>
            <a:r>
              <a:rPr lang="en-US" altLang="en-US" sz="3200" b="1" i="1" dirty="0">
                <a:sym typeface="+mn-ea"/>
              </a:rPr>
              <a:t>Technical Stack &amp; Algorithms</a:t>
            </a:r>
            <a:endParaRPr lang="en-US" alt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7700"/>
            <a:ext cx="10983595" cy="5226685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2000" b="1" dirty="0"/>
              <a:t>Core Models:</a:t>
            </a:r>
            <a:endParaRPr lang="en-US" altLang="en-US" sz="2000" b="1" dirty="0"/>
          </a:p>
          <a:p>
            <a:r>
              <a:rPr lang="en-US" altLang="en-US" sz="1800" dirty="0"/>
              <a:t> BERT-base-uncased, MentalBERT (fine-tuned on UMD/CLPsych datasets)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2000" b="1" dirty="0"/>
              <a:t>Reverse Engineering Techniques:</a:t>
            </a:r>
            <a:endParaRPr lang="en-US" altLang="en-US" sz="2000" b="1" dirty="0"/>
          </a:p>
          <a:p>
            <a:r>
              <a:rPr lang="en-US" altLang="en-US" sz="1800" dirty="0"/>
              <a:t>SHAP (KernelSHAP for token importance).</a:t>
            </a:r>
            <a:endParaRPr lang="en-US" altLang="en-US" sz="1800" dirty="0"/>
          </a:p>
          <a:p>
            <a:r>
              <a:rPr lang="en-US" altLang="en-US" sz="1800" dirty="0"/>
              <a:t>Attention visualization (BertViz).</a:t>
            </a:r>
            <a:endParaRPr lang="en-US" altLang="en-US" sz="1800" dirty="0"/>
          </a:p>
          <a:p>
            <a:r>
              <a:rPr lang="en-US" altLang="en-US" sz="1800" dirty="0"/>
              <a:t>Probing experiments on hidden layers.</a:t>
            </a:r>
            <a:endParaRPr lang="en-US" altLang="en-US" sz="2000" b="1" dirty="0"/>
          </a:p>
          <a:p>
            <a:pPr marL="0" indent="0">
              <a:buNone/>
            </a:pPr>
            <a:r>
              <a:rPr lang="en-US" altLang="en-US" sz="2000" b="1" dirty="0"/>
              <a:t>Current Tools:</a:t>
            </a:r>
            <a:endParaRPr lang="en-US" altLang="en-US" sz="2000" b="1" dirty="0"/>
          </a:p>
          <a:p>
            <a:r>
              <a:rPr lang="en-US" altLang="en-US" sz="1800" dirty="0"/>
              <a:t>Python + Hugging Face Transformers.</a:t>
            </a:r>
            <a:endParaRPr lang="en-US" altLang="en-US" sz="1800" dirty="0"/>
          </a:p>
          <a:p>
            <a:r>
              <a:rPr lang="en-US" altLang="en-US" sz="1800" dirty="0"/>
              <a:t>Basic scripts (main.py, model.py, pipeline.py).</a:t>
            </a:r>
            <a:endParaRPr lang="en-US" altLang="en-US" sz="1800" dirty="0"/>
          </a:p>
          <a:p>
            <a:r>
              <a:rPr lang="en-US" altLang="en-US" sz="1800" dirty="0"/>
              <a:t>Early MLOps: MLflow/Optuna explorations.</a:t>
            </a:r>
            <a:endParaRPr lang="en-US" altLang="en-US" sz="2000" b="1" dirty="0"/>
          </a:p>
          <a:p>
            <a:pPr marL="0" indent="0">
              <a:buNone/>
            </a:pPr>
            <a:r>
              <a:rPr lang="en-US" altLang="en-US" sz="2000" b="1" dirty="0"/>
              <a:t>Algorithms in Focus:</a:t>
            </a:r>
            <a:endParaRPr lang="en-US" altLang="en-US" sz="2000" b="1" dirty="0"/>
          </a:p>
          <a:p>
            <a:r>
              <a:rPr lang="en-US" altLang="en-US" sz="1800" dirty="0"/>
              <a:t> Token attribution, attention analysis, quantization/pruning.</a:t>
            </a:r>
            <a:endParaRPr lang="en-US" altLang="en-US" sz="1800" dirty="0"/>
          </a:p>
          <a:p>
            <a:r>
              <a:rPr lang="en-US" altLang="en-US" sz="1800" dirty="0"/>
              <a:t>Concept Activation Vectors (TCAV), Early experiments to measure alignment between model activations and clinical concepts</a:t>
            </a:r>
            <a:endParaRPr lang="en-US" alt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5135"/>
          </a:xfrm>
        </p:spPr>
        <p:txBody>
          <a:bodyPr>
            <a:normAutofit fontScale="90000"/>
          </a:bodyPr>
          <a:lstStyle/>
          <a:p>
            <a:r>
              <a:rPr lang="en-US" altLang="en-US" sz="3200" b="1" i="1" dirty="0"/>
              <a:t>Project State – Before vs. Current</a:t>
            </a:r>
            <a:endParaRPr lang="en-US" alt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6315"/>
            <a:ext cx="10515600" cy="518096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r>
              <a:rPr lang="en-US" altLang="en-US" sz="2000" b="1" dirty="0"/>
              <a:t>Before state of the project:</a:t>
            </a:r>
            <a:endParaRPr lang="en-US" altLang="en-US" sz="2000" b="1" dirty="0"/>
          </a:p>
          <a:p>
            <a:r>
              <a:rPr lang="en-US" altLang="en-US" sz="1800" dirty="0"/>
              <a:t>Basic prediction scripts.</a:t>
            </a:r>
            <a:endParaRPr lang="en-US" altLang="en-US" sz="1800" dirty="0"/>
          </a:p>
          <a:p>
            <a:r>
              <a:rPr lang="en-US" altLang="en-US" sz="1800" dirty="0"/>
              <a:t>Raw risk scores with no explanations.</a:t>
            </a:r>
            <a:endParaRPr lang="en-US" altLang="en-US" sz="1800" dirty="0"/>
          </a:p>
          <a:p>
            <a:r>
              <a:rPr lang="en-US" altLang="en-US" sz="1800" dirty="0"/>
              <a:t>No auditing or compression.</a:t>
            </a:r>
            <a:endParaRPr lang="en-US" altLang="en-US" sz="1800" dirty="0"/>
          </a:p>
          <a:p>
            <a:r>
              <a:rPr lang="en-US" altLang="en-US" sz="1800" dirty="0"/>
              <a:t>Desktop-only, privacy risks.</a:t>
            </a:r>
            <a:endParaRPr lang="en-US" altLang="en-US" sz="1800" dirty="0"/>
          </a:p>
          <a:p>
            <a:endParaRPr lang="en-US" altLang="en-US" sz="1800" dirty="0"/>
          </a:p>
          <a:p>
            <a:pPr marL="0" indent="0">
              <a:buNone/>
            </a:pPr>
            <a:r>
              <a:rPr lang="en-US" altLang="en-US" sz="2000" b="1" dirty="0"/>
              <a:t>Current state of the project(version 0):</a:t>
            </a:r>
            <a:endParaRPr lang="en-US" altLang="en-US" sz="2000" b="1" dirty="0"/>
          </a:p>
          <a:p>
            <a:r>
              <a:rPr lang="en-US" altLang="en-US" sz="1800" dirty="0"/>
              <a:t>Reverse-engineered insights into model behavior.</a:t>
            </a:r>
            <a:endParaRPr lang="en-US" altLang="en-US" sz="1800" dirty="0"/>
          </a:p>
          <a:p>
            <a:r>
              <a:rPr lang="en-US" altLang="en-US" sz="1800" dirty="0"/>
              <a:t>Initial SHAP-highlighted explanations.</a:t>
            </a:r>
            <a:endParaRPr lang="en-US" altLang="en-US" sz="1800" dirty="0"/>
          </a:p>
          <a:p>
            <a:r>
              <a:rPr lang="en-US" altLang="en-US" sz="1800" dirty="0"/>
              <a:t>Versioned pipeline improvements .</a:t>
            </a:r>
            <a:endParaRPr lang="en-US" altLang="en-US" sz="1800" dirty="0"/>
          </a:p>
          <a:p>
            <a:r>
              <a:rPr lang="en-US" altLang="en-US" sz="1800" dirty="0"/>
              <a:t>Early on-device readiness and XAI integration.</a:t>
            </a:r>
            <a:endParaRPr lang="en-US" altLang="en-US" sz="1800" dirty="0"/>
          </a:p>
          <a:p>
            <a:r>
              <a:rPr lang="en-US" altLang="en-US" sz="1800" dirty="0"/>
              <a:t>Better understanding and auditability</a:t>
            </a:r>
            <a:r>
              <a:rPr lang="en-US" altLang="en-US" sz="1600" b="1" dirty="0"/>
              <a:t>.</a:t>
            </a:r>
            <a:endParaRPr lang="en-US" altLang="en-US" sz="1600" b="1" dirty="0"/>
          </a:p>
          <a:p>
            <a:pPr marL="0" indent="0">
              <a:buNone/>
            </a:pPr>
            <a:endParaRPr lang="en-US" altLang="en-US" sz="16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020" y="304800"/>
            <a:ext cx="7346950" cy="768985"/>
          </a:xfrm>
        </p:spPr>
        <p:txBody>
          <a:bodyPr>
            <a:normAutofit/>
          </a:bodyPr>
          <a:lstStyle/>
          <a:p>
            <a:r>
              <a:rPr lang="en-US" altLang="en-US" sz="3200" b="1" i="1" dirty="0"/>
              <a:t>Loopholes/Gaps – Before vs. Current</a:t>
            </a:r>
            <a:endParaRPr lang="en-US" alt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4020" y="1323340"/>
            <a:ext cx="10939780" cy="44729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en-US" sz="2000" b="1" dirty="0"/>
              <a:t>Before:</a:t>
            </a:r>
            <a:endParaRPr lang="en-US" altLang="en-US" sz="2000" b="1" dirty="0"/>
          </a:p>
          <a:p>
            <a:pPr algn="just"/>
            <a:r>
              <a:rPr lang="en-US" altLang="en-US" sz="1800" dirty="0"/>
              <a:t>Opaque black-box decisions (low trust).</a:t>
            </a:r>
            <a:endParaRPr lang="en-US" altLang="en-US" sz="1800" dirty="0"/>
          </a:p>
          <a:p>
            <a:pPr algn="just"/>
            <a:r>
              <a:rPr lang="en-US" altLang="en-US" sz="1800" dirty="0"/>
              <a:t>No explainability or clinical alignment.</a:t>
            </a:r>
            <a:endParaRPr lang="en-US" altLang="en-US" sz="1800" dirty="0"/>
          </a:p>
          <a:p>
            <a:pPr algn="just"/>
            <a:r>
              <a:rPr lang="en-US" altLang="en-US" sz="1800" dirty="0"/>
              <a:t>Deployment and privacy issues.</a:t>
            </a:r>
            <a:endParaRPr lang="en-US" altLang="en-US" sz="1800" dirty="0"/>
          </a:p>
          <a:p>
            <a:pPr algn="just"/>
            <a:r>
              <a:rPr lang="en-US" altLang="en-US" sz="1800" dirty="0"/>
              <a:t>Unaddressed biases and robustness gaps.</a:t>
            </a:r>
            <a:endParaRPr lang="en-US" altLang="en-US" sz="1800" dirty="0"/>
          </a:p>
          <a:p>
            <a:pPr algn="just"/>
            <a:endParaRPr lang="en-US" altLang="en-US" sz="1800" dirty="0"/>
          </a:p>
          <a:p>
            <a:pPr marL="0" indent="0" algn="just">
              <a:buNone/>
            </a:pPr>
            <a:r>
              <a:rPr lang="en-US" altLang="en-US" sz="2000" b="1" dirty="0"/>
              <a:t>Current:</a:t>
            </a:r>
            <a:endParaRPr lang="en-US" altLang="en-US" sz="2000" b="1" dirty="0"/>
          </a:p>
          <a:p>
            <a:pPr algn="just"/>
            <a:r>
              <a:rPr lang="en-US" altLang="en-US" sz="1800" dirty="0"/>
              <a:t>Addressed: Initial transparency via SHAP/attention; better pattern understanding; privacy foundations.</a:t>
            </a:r>
            <a:endParaRPr lang="en-US" altLang="en-US" sz="1800" dirty="0"/>
          </a:p>
          <a:p>
            <a:pPr algn="just"/>
            <a:r>
              <a:rPr lang="en-US" altLang="en-US" sz="1800" dirty="0"/>
              <a:t>Remaining Loopholes: Full MLOps not complete, comprehensive clinical validation pending, multimodal expansion needed, full cross-platform testing ongoing.</a:t>
            </a:r>
            <a:endParaRPr lang="en-US" altLang="en-US" sz="1800" dirty="0"/>
          </a:p>
          <a:p>
            <a:pPr algn="just"/>
            <a:r>
              <a:rPr lang="en-US" altLang="en-US" sz="1800" dirty="0"/>
              <a:t>Overall: Significant reduction in opacity; stronger foundation for responsible AI.</a:t>
            </a:r>
            <a:endParaRPr lang="en-US" altLang="en-US" sz="1800" dirty="0"/>
          </a:p>
          <a:p>
            <a:pPr algn="just"/>
            <a:endParaRPr lang="en-US" alt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04800"/>
            <a:ext cx="7948930" cy="805815"/>
          </a:xfrm>
        </p:spPr>
        <p:txBody>
          <a:bodyPr/>
          <a:p>
            <a:r>
              <a:rPr lang="en-US" b="1" dirty="0">
                <a:sym typeface="+mn-ea"/>
              </a:rPr>
              <a:t>   </a:t>
            </a:r>
            <a:r>
              <a:rPr lang="en-US" sz="3200" b="1" i="1" dirty="0">
                <a:sym typeface="+mn-ea"/>
              </a:rPr>
              <a:t> </a:t>
            </a:r>
            <a:r>
              <a:rPr lang="en-US" altLang="en-US" sz="3200" b="1" i="1" dirty="0">
                <a:sym typeface="+mn-ea"/>
              </a:rPr>
              <a:t>Challenges, Lessons &amp; Roadmap Ahead</a:t>
            </a:r>
            <a:endParaRPr lang="en-US" altLang="en-US" sz="3200" b="1" i="1" dirty="0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3490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en-US" sz="2000" b="1" dirty="0"/>
              <a:t>Challenges in Reverse Engineering So Far:</a:t>
            </a:r>
            <a:endParaRPr lang="en-US" altLang="en-US" sz="2000" b="1" dirty="0"/>
          </a:p>
          <a:p>
            <a:r>
              <a:rPr lang="en-US" altLang="en-US" sz="1800" dirty="0"/>
              <a:t>Interpreting complex attention patterns in transformer layers.</a:t>
            </a:r>
            <a:endParaRPr lang="en-US" altLang="en-US" sz="1800" dirty="0"/>
          </a:p>
          <a:p>
            <a:r>
              <a:rPr lang="en-US" altLang="en-US" sz="1800" dirty="0"/>
              <a:t>Balancing model compression with accuracy retention.</a:t>
            </a:r>
            <a:endParaRPr lang="en-US" altLang="en-US" sz="1800" dirty="0"/>
          </a:p>
          <a:p>
            <a:r>
              <a:rPr lang="en-US" altLang="en-US" sz="1800" dirty="0"/>
              <a:t>Handling dataset biases (Reddit-heavy data vs. clinical diversity).</a:t>
            </a:r>
            <a:endParaRPr lang="en-US" altLang="en-US" sz="1800" dirty="0"/>
          </a:p>
          <a:p>
            <a:r>
              <a:rPr lang="en-US" altLang="en-US" sz="1800" dirty="0"/>
              <a:t>Computational constraints during probing/SHAP on large models.</a:t>
            </a:r>
            <a:endParaRPr lang="en-US" altLang="en-US" sz="1800" dirty="0"/>
          </a:p>
          <a:p>
            <a:r>
              <a:rPr lang="en-US" altLang="en-US" sz="1800" dirty="0"/>
              <a:t>Ethical navigation (sensitive mental health domain).</a:t>
            </a:r>
            <a:endParaRPr lang="en-US" altLang="en-US" sz="1800" dirty="0"/>
          </a:p>
          <a:p>
            <a:pPr marL="0" indent="0">
              <a:buNone/>
            </a:pPr>
            <a:r>
              <a:rPr lang="en-US" altLang="en-US" sz="2000" b="1" dirty="0"/>
              <a:t>Key Lessons Learned:</a:t>
            </a:r>
            <a:endParaRPr lang="en-US" altLang="en-US" sz="2000" b="1" dirty="0"/>
          </a:p>
          <a:p>
            <a:r>
              <a:rPr lang="en-US" altLang="en-US" sz="1800" dirty="0"/>
              <a:t>Reverse engineering reveals clinically meaningful signals even without explicit training.</a:t>
            </a:r>
            <a:endParaRPr lang="en-US" altLang="en-US" sz="1800" dirty="0"/>
          </a:p>
          <a:p>
            <a:r>
              <a:rPr lang="en-US" altLang="en-US" sz="1800" dirty="0"/>
              <a:t>Early XAI integration saves time in later validation.</a:t>
            </a:r>
            <a:endParaRPr lang="en-US" altLang="en-US" sz="1800" dirty="0"/>
          </a:p>
          <a:p>
            <a:r>
              <a:rPr lang="en-US" altLang="en-US" sz="1800" dirty="0"/>
              <a:t>Version control and modular code  are essential.</a:t>
            </a:r>
            <a:endParaRPr lang="en-US" altLang="en-US" sz="1800" dirty="0"/>
          </a:p>
          <a:p>
            <a:r>
              <a:rPr lang="en-US" altLang="en-US" sz="1800" dirty="0"/>
              <a:t>On-device focus forces efficient, privacy-first design from the start.</a:t>
            </a:r>
            <a:endParaRPr lang="en-US" altLang="en-US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5605145" y="7029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240"/>
          </a:xfrm>
        </p:spPr>
        <p:txBody>
          <a:bodyPr/>
          <a:lstStyle/>
          <a:p>
            <a:r>
              <a:rPr lang="en-US" altLang="en-US" sz="3200" b="1" i="1" dirty="0"/>
              <a:t>Challenges, Lessons &amp; Roadmap Ahead</a:t>
            </a:r>
            <a:endParaRPr lang="en-US" altLang="en-US" sz="3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4120"/>
            <a:ext cx="10515600" cy="45199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 </a:t>
            </a:r>
            <a:r>
              <a:rPr lang="en-US" altLang="en-US" sz="2000" b="1" dirty="0"/>
              <a:t>Next Steps for improving:</a:t>
            </a:r>
            <a:endParaRPr lang="en-US" altLang="en-US" sz="2000" b="1" dirty="0"/>
          </a:p>
          <a:p>
            <a:r>
              <a:rPr lang="en-US" altLang="en-US" sz="1800" dirty="0"/>
              <a:t>Complete full MLOps pipeline and CI/CD.</a:t>
            </a:r>
            <a:endParaRPr lang="en-US" altLang="en-US" sz="1800" dirty="0"/>
          </a:p>
          <a:p>
            <a:r>
              <a:rPr lang="en-US" altLang="en-US" sz="1800" dirty="0"/>
              <a:t>Expand to multimodal (text + EEG if available).</a:t>
            </a:r>
            <a:endParaRPr lang="en-US" altLang="en-US" sz="1800" dirty="0"/>
          </a:p>
          <a:p>
            <a:r>
              <a:rPr lang="en-US" altLang="en-US" sz="1800" dirty="0"/>
              <a:t>Larger clinician feedback loop for explanations.</a:t>
            </a:r>
            <a:endParaRPr lang="en-US" altLang="en-US" sz="1800" dirty="0"/>
          </a:p>
          <a:p>
            <a:r>
              <a:rPr lang="en-US" altLang="en-US" sz="1800" dirty="0"/>
              <a:t>Full cross-platform testing and adversarial robustness hardening.</a:t>
            </a:r>
            <a:endParaRPr lang="en-US" altLang="en-US" sz="1800" dirty="0"/>
          </a:p>
          <a:p>
            <a:r>
              <a:rPr lang="en-US" altLang="en-US" sz="1800" dirty="0"/>
              <a:t>Prepare for conference submission with quantitative benchmarks.</a:t>
            </a:r>
            <a:endParaRPr lang="en-US" altLang="en-US" sz="1800" dirty="0"/>
          </a:p>
          <a:p>
            <a:endParaRPr lang="en-US" altLang="en-US" sz="1800" dirty="0"/>
          </a:p>
          <a:p>
            <a:pPr marL="0" indent="0">
              <a:buNone/>
            </a:pPr>
            <a:r>
              <a:rPr lang="en-US" altLang="en-US" sz="2000" b="1" dirty="0"/>
              <a:t>Plan of Implementation in the Operating System:</a:t>
            </a:r>
            <a:endParaRPr lang="en-US" altLang="en-US" sz="2000" b="1" dirty="0"/>
          </a:p>
          <a:p>
            <a:r>
              <a:rPr lang="en-US" altLang="en-US" sz="1800" dirty="0"/>
              <a:t>Use eBPF + kprobes as the Core Engine (Safe, powerful, and production-grade)</a:t>
            </a:r>
            <a:endParaRPr lang="en-US" altLang="en-US" sz="1800" dirty="0"/>
          </a:p>
          <a:p>
            <a:r>
              <a:rPr lang="en-US" altLang="en-US" sz="1800" dirty="0"/>
              <a:t>Use inotify or D-Bus to watch specific allowed directories/files (with permission)</a:t>
            </a:r>
            <a:endParaRPr lang="en-US" altLang="en-US" sz="1800" dirty="0"/>
          </a:p>
          <a:p>
            <a:r>
              <a:rPr lang="en-US" altLang="en-US" sz="1800" dirty="0"/>
              <a:t>Rate limiting on monitoring.</a:t>
            </a:r>
            <a:endParaRPr lang="en-US" altLang="en-US" sz="1800" dirty="0"/>
          </a:p>
          <a:p>
            <a:r>
              <a:rPr lang="en-US" altLang="en-US" sz="1800" dirty="0"/>
              <a:t>Kill switch and audit logs for the user.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0250"/>
          </a:xfrm>
        </p:spPr>
        <p:txBody>
          <a:bodyPr/>
          <a:p>
            <a:r>
              <a:rPr lang="en-US" altLang="en-US" sz="2800" b="1"/>
              <a:t>Key References</a:t>
            </a:r>
            <a:endParaRPr lang="en-US" altLang="en-US" sz="28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02665"/>
            <a:ext cx="10515600" cy="4697095"/>
          </a:xfrm>
        </p:spPr>
        <p:txBody>
          <a:bodyPr>
            <a:normAutofit lnSpcReduction="10000"/>
          </a:bodyPr>
          <a:p>
            <a:r>
              <a:rPr lang="en-US" altLang="en-US" sz="2000"/>
              <a:t>Early-Stage Non-Severe Depression Detection Using a Novel Convolutional Neural Network Approach Based on Resting-State EEG Data.(https://ieeexplore.ieee.org/document/10757418)</a:t>
            </a:r>
            <a:endParaRPr lang="en-US" altLang="en-US" sz="2000"/>
          </a:p>
          <a:p>
            <a:r>
              <a:rPr lang="en-US" altLang="en-US" sz="2000"/>
              <a:t>Coppersmith et al. (2018) — NLP of social media for suicide risk screening.(https://journals.sagepub.com/doi/full/10.1177/1178222618792860)</a:t>
            </a:r>
            <a:endParaRPr lang="en-US" altLang="en-US" sz="2000"/>
          </a:p>
          <a:p>
            <a:r>
              <a:rPr lang="en-US" altLang="en-US" sz="2000"/>
              <a:t>Ji et al. (2021) — Review of ML methods for suicidal ideation detection.(https://ieeexplore.ieee.org/document/9199553)</a:t>
            </a:r>
            <a:endParaRPr lang="en-US" altLang="en-US" sz="2000"/>
          </a:p>
          <a:p>
            <a:r>
              <a:rPr lang="en-US" altLang="en-US" sz="2000"/>
              <a:t>Tadesse et al. (2020) — Deep learning on social media forums.</a:t>
            </a:r>
            <a:endParaRPr lang="en-US" altLang="en-US" sz="2000"/>
          </a:p>
          <a:p>
            <a:r>
              <a:rPr lang="en-US" altLang="en-US" sz="2000"/>
              <a:t>Gaur et al. (2019) — Knowledge-aware severity assessment.</a:t>
            </a:r>
            <a:endParaRPr lang="en-US" altLang="en-US" sz="2000"/>
          </a:p>
          <a:p>
            <a:r>
              <a:rPr lang="en-US" altLang="en-US" sz="2000"/>
              <a:t>Ophir et al. (2020) — DNNs on Facebook posts.</a:t>
            </a:r>
            <a:endParaRPr lang="en-US" altLang="en-US" sz="2000"/>
          </a:p>
          <a:p>
            <a:r>
              <a:rPr lang="en-US" altLang="en-US" sz="2000"/>
              <a:t>Lundberg &amp; Lee (2017) — SHAP for model interpretation.</a:t>
            </a:r>
            <a:endParaRPr lang="en-US" altLang="en-US" sz="2000"/>
          </a:p>
          <a:p>
            <a:r>
              <a:rPr lang="en-US" altLang="en-US" sz="2000"/>
              <a:t>Ribeiro et al. (2016) — LIME.</a:t>
            </a:r>
            <a:endParaRPr lang="en-US" altLang="en-US" sz="20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7391400" y="7086600"/>
            <a:ext cx="7825740" cy="1325880"/>
          </a:xfrm>
        </p:spPr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2286000"/>
            <a:ext cx="10515600" cy="1818640"/>
          </a:xfrm>
        </p:spPr>
        <p:txBody>
          <a:bodyPr>
            <a:normAutofit fontScale="25000"/>
          </a:bodyPr>
          <a:p>
            <a:r>
              <a:rPr 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                          </a:t>
            </a:r>
            <a:r>
              <a:rPr lang="en-US" sz="38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</a:t>
            </a:r>
            <a:r>
              <a:rPr lang="en-US" sz="28800" b="1" i="1"/>
              <a:t>THANK YOU</a:t>
            </a:r>
            <a:r>
              <a:rPr lang="en-US" sz="38400" b="1" i="1"/>
              <a:t> </a:t>
            </a:r>
            <a:endParaRPr lang="en-US" sz="38400" b="1" i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F1BCB14E108D43AB233A31F986D556" ma:contentTypeVersion="15" ma:contentTypeDescription="Create a new document." ma:contentTypeScope="" ma:versionID="606eb99ade008cbd837459e6299ff69f">
  <xsd:schema xmlns:xsd="http://www.w3.org/2001/XMLSchema" xmlns:xs="http://www.w3.org/2001/XMLSchema" xmlns:p="http://schemas.microsoft.com/office/2006/metadata/properties" xmlns:ns2="9091ee48-ca27-4fcf-b5de-98ddf097c65b" xmlns:ns3="aa0e8f73-967c-4e13-b55c-6b4dcdfd4341" targetNamespace="http://schemas.microsoft.com/office/2006/metadata/properties" ma:root="true" ma:fieldsID="4f0695f8f66d9a55fcdb756ad6a4800d" ns2:_="" ns3:_="">
    <xsd:import namespace="9091ee48-ca27-4fcf-b5de-98ddf097c65b"/>
    <xsd:import namespace="aa0e8f73-967c-4e13-b55c-6b4dcdfd4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1ee48-ca27-4fcf-b5de-98ddf097c6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8dc31b-8fe8-4e59-b85a-c7b64a9b44e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0e8f73-967c-4e13-b55c-6b4dcdfd434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7c6695d-8cf1-4d67-be06-2ceec35c97d8}" ma:internalName="TaxCatchAll" ma:showField="CatchAllData" ma:web="aa0e8f73-967c-4e13-b55c-6b4dcdfd4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a0e8f73-967c-4e13-b55c-6b4dcdfd4341" xsi:nil="true"/>
    <lcf76f155ced4ddcb4097134ff3c332f xmlns="9091ee48-ca27-4fcf-b5de-98ddf097c65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91E36E6-5217-4E12-971E-AF9D2089B059}">
  <ds:schemaRefs/>
</ds:datastoreItem>
</file>

<file path=customXml/itemProps2.xml><?xml version="1.0" encoding="utf-8"?>
<ds:datastoreItem xmlns:ds="http://schemas.openxmlformats.org/officeDocument/2006/customXml" ds:itemID="{FFB38897-1384-41D0-8D2B-BBB64548DD67}">
  <ds:schemaRefs/>
</ds:datastoreItem>
</file>

<file path=customXml/itemProps3.xml><?xml version="1.0" encoding="utf-8"?>
<ds:datastoreItem xmlns:ds="http://schemas.openxmlformats.org/officeDocument/2006/customXml" ds:itemID="{E4703F4C-A684-46B9-B306-BF2B5B49124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5817</Words>
  <Application>WPS Presentation</Application>
  <PresentationFormat>Widescreen</PresentationFormat>
  <Paragraphs>134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SimSun</vt:lpstr>
      <vt:lpstr>Wingdings</vt:lpstr>
      <vt:lpstr>Times New Roman</vt:lpstr>
      <vt:lpstr>Helvetica</vt:lpstr>
      <vt:lpstr>Times New Roman</vt:lpstr>
      <vt:lpstr>Calibri</vt:lpstr>
      <vt:lpstr>Microsoft YaHei</vt:lpstr>
      <vt:lpstr>Arial Unicode MS</vt:lpstr>
      <vt:lpstr>Calibri Light</vt:lpstr>
      <vt:lpstr>Office Theme</vt:lpstr>
      <vt:lpstr>   </vt:lpstr>
      <vt:lpstr>Reverse Engineering Suicide Prediction Models</vt:lpstr>
      <vt:lpstr>Project Improvements &amp; Key Innovations</vt:lpstr>
      <vt:lpstr>Technical Stack &amp; Algorithms</vt:lpstr>
      <vt:lpstr>Project State – Before vs. Current</vt:lpstr>
      <vt:lpstr>Loopholes/Gaps – Before vs. Current</vt:lpstr>
      <vt:lpstr>    Challenges, Lessons &amp; Roadmap Ahead</vt:lpstr>
      <vt:lpstr>Challenges, Lessons &amp; Roadmap Ahead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Welcome</dc:creator>
  <cp:lastModifiedBy>Sridhar.M</cp:lastModifiedBy>
  <cp:revision>160</cp:revision>
  <dcterms:created xsi:type="dcterms:W3CDTF">2006-08-16T00:00:00Z</dcterms:created>
  <dcterms:modified xsi:type="dcterms:W3CDTF">2026-07-14T13:44:05Z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1033-12.1.0.26886</vt:lpwstr>
  </property>
  <property fmtid="{D5CDD505-2E9C-101B-9397-08002B2CF9AE}" pid="3" name="ICV">
    <vt:lpwstr>90D5525622F449CD954D57DC3F1C6D1E_13</vt:lpwstr>
  </property>
  <property fmtid="{D5CDD505-2E9C-101B-9397-08002B2CF9AE}" pid="4" name="ContentTypeId">
    <vt:lpwstr>0x01010098F1BCB14E108D43AB233A31F986D556</vt:lpwstr>
  </property>
</Properties>
</file>