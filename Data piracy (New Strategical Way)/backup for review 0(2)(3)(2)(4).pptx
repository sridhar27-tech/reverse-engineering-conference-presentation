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262" r:id="rId8"/>
    <p:sldId id="267" r:id="rId9"/>
    <p:sldId id="264" r:id="rId10"/>
    <p:sldId id="265" r:id="rId11"/>
    <p:sldId id="266" r:id="rId12"/>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lang="en-US" sz="2400" b="0" u="none" strike="noStrike">
                <a:solidFill>
                  <a:schemeClr val="dk1"/>
                </a:solidFill>
                <a:effectLst/>
                <a:uFillTx/>
                <a:latin typeface="Calibri" panose="020F0502020204030204"/>
              </a:rPr>
              <a:t>Over 300 million people worldwide are affected by depression, with symptoms that have a major impact on patients and, in the worst cases, can lead to suicide. As the severity of the disease increases over time, early detection can save a patient’s life. The disease is diagnosed by professionals using questionnaires that might be influenced by biases, and of which the accuracy and reliability are not guaranteed. 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 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 hit.</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SOLUTION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pic>
        <p:nvPicPr>
          <p:cNvPr id="75" name="Construction Flow Diagram"/>
          <p:cNvPicPr/>
          <p:nvPr/>
        </p:nvPicPr>
        <p:blipFill>
          <a:blip r:embed="rId1"/>
          <a:stretch>
            <a:fillRect/>
          </a:stretch>
        </p:blipFill>
        <p:spPr>
          <a:xfrm>
            <a:off x="1015365" y="836295"/>
            <a:ext cx="9373235" cy="595376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Container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Docker</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ModelOptimization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Target Platforms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Windows, Linux</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PyTorch, PyTorch Geometric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TensorFlow Lite (TFLite)</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Explainable AI (XAI)</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SHAP, BertViz</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78790" y="332740"/>
            <a:ext cx="10514965" cy="192405"/>
          </a:xfrm>
        </p:spPr>
        <p:txBody>
          <a:bodyPr/>
          <a:p>
            <a:r>
              <a:rPr lang="en-US">
                <a:solidFill>
                  <a:srgbClr val="FF0000"/>
                </a:solidFill>
              </a:rPr>
              <a:t>LITERATURE ANALYSIS:</a:t>
            </a:r>
            <a:endParaRPr lang="en-US">
              <a:solidFill>
                <a:srgbClr val="FF0000"/>
              </a:solidFill>
            </a:endParaRPr>
          </a:p>
        </p:txBody>
      </p:sp>
      <p:graphicFrame>
        <p:nvGraphicFramePr>
          <p:cNvPr id="7" name="Table 6"/>
          <p:cNvGraphicFramePr/>
          <p:nvPr>
            <p:custDataLst>
              <p:tags r:id="rId1"/>
            </p:custDataLst>
          </p:nvPr>
        </p:nvGraphicFramePr>
        <p:xfrm>
          <a:off x="332105" y="671195"/>
          <a:ext cx="10859135" cy="5649595"/>
        </p:xfrm>
        <a:graphic>
          <a:graphicData uri="http://schemas.openxmlformats.org/drawingml/2006/table">
            <a:tbl>
              <a:tblPr firstRow="1" bandRow="1">
                <a:tableStyleId>{5C22544A-7EE6-4342-B048-85BDC9FD1C3A}</a:tableStyleId>
              </a:tblPr>
              <a:tblGrid>
                <a:gridCol w="2714625"/>
                <a:gridCol w="2604135"/>
                <a:gridCol w="2834640"/>
                <a:gridCol w="2705735"/>
              </a:tblGrid>
              <a:tr h="365760">
                <a:tc>
                  <a:txBody>
                    <a:bodyPr/>
                    <a:p>
                      <a:pPr>
                        <a:buNone/>
                      </a:pPr>
                      <a:r>
                        <a:rPr lang="en-US"/>
                        <a:t>AUTHOR</a:t>
                      </a:r>
                      <a:endParaRPr lang="en-US"/>
                    </a:p>
                  </a:txBody>
                  <a:tcPr/>
                </a:tc>
                <a:tc>
                  <a:txBody>
                    <a:bodyPr/>
                    <a:p>
                      <a:pPr>
                        <a:buNone/>
                      </a:pPr>
                      <a:r>
                        <a:rPr lang="en-US"/>
                        <a:t>YEAR</a:t>
                      </a:r>
                      <a:endParaRPr lang="en-US"/>
                    </a:p>
                  </a:txBody>
                  <a:tcPr/>
                </a:tc>
                <a:tc>
                  <a:txBody>
                    <a:bodyPr/>
                    <a:p>
                      <a:pPr>
                        <a:buNone/>
                      </a:pPr>
                      <a:r>
                        <a:rPr lang="en-US"/>
                        <a:t>MEATHOD</a:t>
                      </a:r>
                      <a:endParaRPr lang="en-US"/>
                    </a:p>
                  </a:txBody>
                  <a:tcPr/>
                </a:tc>
                <a:tc>
                  <a:txBody>
                    <a:bodyPr/>
                    <a:p>
                      <a:pPr>
                        <a:buNone/>
                      </a:pPr>
                      <a:r>
                        <a:rPr lang="en-US"/>
                        <a:t>LIMITATION</a:t>
                      </a:r>
                      <a:endParaRPr lang="en-US"/>
                    </a:p>
                  </a:txBody>
                  <a:tcPr/>
                </a:tc>
              </a:tr>
              <a:tr h="2011680">
                <a:tc>
                  <a:txBody>
                    <a:bodyPr/>
                    <a:p>
                      <a:pPr>
                        <a:buNone/>
                      </a:pPr>
                      <a:r>
                        <a:rPr lang="en-US" altLang="en-US"/>
                        <a:t>Pascal Penava et al.</a:t>
                      </a:r>
                      <a:endParaRPr lang="en-US" altLang="en-US"/>
                    </a:p>
                    <a:p>
                      <a:pPr>
                        <a:buNone/>
                      </a:pPr>
                      <a:r>
                        <a:rPr altLang="en-US">
                          <a:sym typeface="+mn-ea"/>
                        </a:rPr>
                        <a:t>(https://ieeexplore.ieee.org/document/10757418). </a:t>
                      </a:r>
                      <a:r>
                        <a:rPr lang="en-US" altLang="en-US">
                          <a:sym typeface="+mn-ea"/>
                        </a:rPr>
                        <a:t>Journals &amp; Magazines, IEEE Access, Volume: 12, 2024</a:t>
                      </a:r>
                      <a:endParaRPr lang="en-US" altLang="en-US">
                        <a:sym typeface="+mn-ea"/>
                      </a:endParaRPr>
                    </a:p>
                    <a:p>
                      <a:pPr>
                        <a:buNone/>
                      </a:pPr>
                      <a:endParaRPr lang="en-US" altLang="en-US"/>
                    </a:p>
                  </a:txBody>
                  <a:tcPr/>
                </a:tc>
                <a:tc>
                  <a:txBody>
                    <a:bodyPr/>
                    <a:p>
                      <a:pPr>
                        <a:buNone/>
                      </a:pPr>
                      <a:r>
                        <a:rPr lang="en-US" altLang="en-US"/>
                        <a:t>2024</a:t>
                      </a:r>
                      <a:endParaRPr lang="en-US" altLang="en-US"/>
                    </a:p>
                  </a:txBody>
                  <a:tcPr/>
                </a:tc>
                <a:tc>
                  <a:txBody>
                    <a:bodyPr/>
                    <a:p>
                      <a:pPr>
                        <a:buNone/>
                      </a:pPr>
                      <a:r>
                        <a:rPr lang="en-US" altLang="en-US" sz="1200"/>
                        <a:t>Collected a large corpus of mental health–related text from online forums and social media, pretrained a BERT model using Masked Language Modeling (MLM), and fine-tuned it on multiple mental health classification tasks to detect depression, anxiety, stress, and suicidal ideation.</a:t>
                      </a:r>
                      <a:endParaRPr lang="en-US" altLang="en-US" sz="1200"/>
                    </a:p>
                  </a:txBody>
                  <a:tcPr/>
                </a:tc>
                <a:tc>
                  <a:txBody>
                    <a:bodyPr/>
                    <a:p>
                      <a:pPr>
                        <a:buNone/>
                      </a:pPr>
                      <a:r>
                        <a:rPr lang="en-US" altLang="en-US" sz="1200"/>
                        <a:t>Does not provide explainability and focuses only on EEG data</a:t>
                      </a:r>
                      <a:endParaRPr lang="en-US" altLang="en-US" sz="1200"/>
                    </a:p>
                  </a:txBody>
                  <a:tcPr/>
                </a:tc>
              </a:tr>
              <a:tr h="1077595">
                <a:tc>
                  <a:txBody>
                    <a:bodyPr/>
                    <a:p>
                      <a:pPr>
                        <a:buNone/>
                      </a:pPr>
                      <a:r>
                        <a:rPr lang="en-US" altLang="en-US"/>
                        <a:t>Shaoxiong Ji et al.</a:t>
                      </a:r>
                      <a:endParaRPr lang="en-US" altLang="en-US"/>
                    </a:p>
                    <a:p>
                      <a:pPr>
                        <a:buNone/>
                      </a:pPr>
                      <a:r>
                        <a:rPr lang="en-US" altLang="en-US">
                          <a:effectLst/>
                          <a:uFillTx/>
                          <a:latin typeface="Calibri" panose="020F0502020204030204"/>
                          <a:sym typeface="+mn-ea"/>
                        </a:rPr>
                        <a:t>IEEE Access, vol. 10, pp. 16756-16781, 2022</a:t>
                      </a:r>
                      <a:endParaRPr lang="en-US" altLang="en-US"/>
                    </a:p>
                  </a:txBody>
                  <a:tcPr/>
                </a:tc>
                <a:tc>
                  <a:txBody>
                    <a:bodyPr/>
                    <a:p>
                      <a:pPr>
                        <a:buNone/>
                      </a:pPr>
                      <a:r>
                        <a:rPr lang="en-US" altLang="en-US"/>
                        <a:t>2022</a:t>
                      </a:r>
                      <a:endParaRPr lang="en-US" altLang="en-US"/>
                    </a:p>
                  </a:txBody>
                  <a:tcPr/>
                </a:tc>
                <a:tc>
                  <a:txBody>
                    <a:bodyPr/>
                    <a:p>
                      <a:pPr>
                        <a:buNone/>
                      </a:pPr>
                      <a:r>
                        <a:rPr lang="en-US" altLang="en-US" sz="1000"/>
                        <a:t>Collected large-scale mental health text from online communities and pretrained a domain-specific BERT model using Masked Language Modeling (MLM). The model was then fine-tuned on multiple mental health classification tasks to improve prediction performance.</a:t>
                      </a:r>
                      <a:endParaRPr lang="en-US" altLang="en-US" sz="1000"/>
                    </a:p>
                  </a:txBody>
                  <a:tcPr/>
                </a:tc>
                <a:tc>
                  <a:txBody>
                    <a:bodyPr/>
                    <a:p>
                      <a:pPr>
                        <a:buNone/>
                      </a:pPr>
                      <a:r>
                        <a:rPr lang="en-US" altLang="en-US" sz="1200"/>
                        <a:t>Does not provide prediction explanations for clinicians and requires further validation using diverse clinical datasets.</a:t>
                      </a:r>
                      <a:endParaRPr lang="en-US" altLang="en-US" sz="1200"/>
                    </a:p>
                  </a:txBody>
                  <a:tcPr/>
                </a:tc>
              </a:tr>
              <a:tr h="1188720">
                <a:tc>
                  <a:txBody>
                    <a:bodyPr/>
                    <a:p>
                      <a:pPr>
                        <a:buNone/>
                      </a:pPr>
                      <a:r>
                        <a:rPr lang="en-US" altLang="en-US"/>
                        <a:t>Matthew Matero et al</a:t>
                      </a:r>
                      <a:endParaRPr lang="en-US" altLang="en-US"/>
                    </a:p>
                    <a:p>
                      <a:pPr>
                        <a:buNone/>
                      </a:pPr>
                      <a:r>
                        <a:rPr lang="en-IN" i="1" dirty="0" err="1">
                          <a:sym typeface="+mn-ea"/>
                        </a:rPr>
                        <a:t>arXiv</a:t>
                      </a:r>
                      <a:r>
                        <a:rPr lang="en-IN" i="1" dirty="0">
                          <a:sym typeface="+mn-ea"/>
                        </a:rPr>
                        <a:t> preprint arXiv:1611.09940</a:t>
                      </a:r>
                      <a:r>
                        <a:rPr lang="en-IN" dirty="0">
                          <a:sym typeface="+mn-ea"/>
                        </a:rPr>
                        <a:t>, </a:t>
                      </a:r>
                      <a:r>
                        <a:rPr lang="en-IN" b="1" dirty="0">
                          <a:sym typeface="+mn-ea"/>
                        </a:rPr>
                        <a:t>20</a:t>
                      </a:r>
                      <a:r>
                        <a:rPr lang="en-US" altLang="en-IN" b="1" dirty="0">
                          <a:sym typeface="+mn-ea"/>
                        </a:rPr>
                        <a:t>19</a:t>
                      </a:r>
                      <a:r>
                        <a:rPr lang="en-IN" dirty="0">
                          <a:sym typeface="+mn-ea"/>
                        </a:rPr>
                        <a:t>.</a:t>
                      </a:r>
                      <a:r>
                        <a:rPr altLang="en-US">
                          <a:sym typeface="+mn-ea"/>
                        </a:rPr>
                        <a:t> </a:t>
                      </a:r>
                      <a:endParaRPr lang="en-US" altLang="en-US"/>
                    </a:p>
                  </a:txBody>
                  <a:tcPr/>
                </a:tc>
                <a:tc>
                  <a:txBody>
                    <a:bodyPr/>
                    <a:p>
                      <a:pPr>
                        <a:buNone/>
                      </a:pPr>
                      <a:r>
                        <a:rPr lang="en-US" altLang="en-US"/>
                        <a:t>2019</a:t>
                      </a:r>
                      <a:endParaRPr lang="en-US" altLang="en-US"/>
                    </a:p>
                  </a:txBody>
                  <a:tcPr/>
                </a:tc>
                <a:tc>
                  <a:txBody>
                    <a:bodyPr/>
                    <a:p>
                      <a:pPr>
                        <a:buNone/>
                      </a:pPr>
                      <a:r>
                        <a:rPr lang="en-US" altLang="en-US" sz="1200"/>
                        <a:t>Developed a dual-context framework using BERT embeddings to analyze both individual posts and users' historical posting behavior. The model was trained on the CLPsych 2019 dataset for suicide risk classification</a:t>
                      </a:r>
                      <a:endParaRPr lang="en-US" altLang="en-US" sz="1200"/>
                    </a:p>
                  </a:txBody>
                  <a:tcPr/>
                </a:tc>
                <a:tc>
                  <a:txBody>
                    <a:bodyPr/>
                    <a:p>
                      <a:pPr>
                        <a:buNone/>
                      </a:pPr>
                      <a:r>
                        <a:rPr lang="en-US" altLang="en-US" sz="1200"/>
                        <a:t>Operates as a black-box model with limited interpretability and requires explainable AI techniques for clinical adoption.</a:t>
                      </a:r>
                      <a:endParaRPr lang="en-US" altLang="en-US" sz="1200"/>
                    </a:p>
                  </a:txBody>
                  <a:tcPr/>
                </a:tc>
              </a:tr>
              <a:tr h="1005840">
                <a:tc>
                  <a:txBody>
                    <a:bodyPr/>
                    <a:p>
                      <a:pPr>
                        <a:buNone/>
                      </a:pPr>
                      <a:r>
                        <a:rPr lang="en-US" altLang="en-US"/>
                        <a:t>Hao Tang et al</a:t>
                      </a:r>
                      <a:endParaRPr lang="en-US" altLang="en-US"/>
                    </a:p>
                    <a:p>
                      <a:pPr>
                        <a:buNone/>
                      </a:pPr>
                      <a:r>
                        <a:rPr lang="en-IN" i="1" dirty="0" err="1">
                          <a:sym typeface="+mn-ea"/>
                        </a:rPr>
                        <a:t>arXiv</a:t>
                      </a:r>
                      <a:r>
                        <a:rPr lang="en-IN" i="1" dirty="0">
                          <a:sym typeface="+mn-ea"/>
                        </a:rPr>
                        <a:t> preprint arXiv:2508.1</a:t>
                      </a:r>
                      <a:r>
                        <a:rPr altLang="en-IN" i="1" dirty="0">
                          <a:sym typeface="+mn-ea"/>
                        </a:rPr>
                        <a:t>12</a:t>
                      </a:r>
                      <a:r>
                        <a:rPr lang="en-IN" i="1" dirty="0">
                          <a:sym typeface="+mn-ea"/>
                        </a:rPr>
                        <a:t>65</a:t>
                      </a:r>
                      <a:r>
                        <a:rPr lang="en-IN" dirty="0">
                          <a:sym typeface="+mn-ea"/>
                        </a:rPr>
                        <a:t>, </a:t>
                      </a:r>
                      <a:r>
                        <a:rPr lang="en-IN" b="1" dirty="0">
                          <a:sym typeface="+mn-ea"/>
                        </a:rPr>
                        <a:t>202</a:t>
                      </a:r>
                      <a:r>
                        <a:rPr lang="en-US" altLang="en-IN" b="1" dirty="0">
                          <a:sym typeface="+mn-ea"/>
                        </a:rPr>
                        <a:t>3.</a:t>
                      </a:r>
                      <a:endParaRPr lang="en-US" altLang="en-IN" b="1" dirty="0">
                        <a:sym typeface="+mn-ea"/>
                      </a:endParaRPr>
                    </a:p>
                  </a:txBody>
                  <a:tcPr/>
                </a:tc>
                <a:tc>
                  <a:txBody>
                    <a:bodyPr/>
                    <a:p>
                      <a:pPr>
                        <a:buNone/>
                      </a:pPr>
                      <a:r>
                        <a:rPr lang="en-US" altLang="en-US"/>
                        <a:t>2023</a:t>
                      </a:r>
                      <a:endParaRPr lang="en-US" altLang="en-US"/>
                    </a:p>
                  </a:txBody>
                  <a:tcPr/>
                </a:tc>
                <a:tc>
                  <a:txBody>
                    <a:bodyPr/>
                    <a:p>
                      <a:pPr>
                        <a:buNone/>
                      </a:pPr>
                      <a:r>
                        <a:rPr lang="en-US" altLang="en-US" sz="1000"/>
                        <a:t>Applied machine learning algorithms such as Decision Tree, Random Forest, and XGBoost together with SHAP explainability to identify the most influential features contributing to suicide risk prediction and provide interpretable results for clinicians.</a:t>
                      </a:r>
                      <a:endParaRPr lang="en-US" altLang="en-US" sz="1000"/>
                    </a:p>
                  </a:txBody>
                  <a:tcPr/>
                </a:tc>
                <a:tc>
                  <a:txBody>
                    <a:bodyPr/>
                    <a:p>
                      <a:pPr>
                        <a:buNone/>
                      </a:pPr>
                      <a:r>
                        <a:rPr lang="en-US" altLang="en-US" sz="1000"/>
                        <a:t>Requires validation on larger and more diverse patient populations and integration with deep learning models for real-world deployment.</a:t>
                      </a:r>
                      <a:endParaRPr lang="en-US" altLang="en-US" sz="1000"/>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080" y="1002600"/>
            <a:ext cx="10515240" cy="4696560"/>
          </a:xfrm>
          <a:prstGeom prst="rect">
            <a:avLst/>
          </a:prstGeom>
          <a:noFill/>
          <a:ln w="0">
            <a:noFill/>
          </a:ln>
        </p:spPr>
        <p:txBody>
          <a:bodyPr lIns="91440" tIns="45720" rIns="91440" bIns="45720" anchor="t">
            <a:normAutofit fontScale="80000"/>
          </a:bodyPr>
          <a:p>
            <a:pPr marL="228600" indent="-228600" algn="just" defTabSz="914400">
              <a:lnSpc>
                <a:spcPct val="90000"/>
              </a:lnSpc>
              <a:spcBef>
                <a:spcPts val="1000"/>
              </a:spcBef>
              <a:buClr>
                <a:srgbClr val="000000"/>
              </a:buClr>
              <a:buFont typeface="Arial" panose="020B0604020202020204"/>
              <a:buChar char="•"/>
            </a:pPr>
            <a:r>
              <a:rPr lang="en-US" sz="2400" b="1" u="none" strike="noStrike">
                <a:solidFill>
                  <a:schemeClr val="dk1"/>
                </a:solidFill>
                <a:effectLst/>
                <a:uFillTx/>
                <a:latin typeface="Calibri" panose="020F0502020204030204"/>
              </a:rPr>
              <a:t>[1]Pascal Penava et al</a:t>
            </a:r>
            <a:r>
              <a:rPr lang="en-US" sz="2400" b="0" u="none" strike="noStrike">
                <a:solidFill>
                  <a:schemeClr val="dk1"/>
                </a:solidFill>
                <a:effectLst/>
                <a:uFillTx/>
                <a:latin typeface="Calibri" panose="020F0502020204030204"/>
              </a:rPr>
              <a:t>.(2025)—Early-Stage Non-Severe Depression Detection Using a Novel CNNApproach on Resting-State EEG Data(2024)— IEEE.</a:t>
            </a:r>
            <a:r>
              <a:rPr altLang="en-US" sz="2400">
                <a:sym typeface="+mn-ea"/>
              </a:rPr>
              <a:t> (https://ieeexplore.ieee.org/document/10757418). </a:t>
            </a:r>
            <a:r>
              <a:rPr lang="en-US" altLang="en-US" sz="2400">
                <a:sym typeface="+mn-ea"/>
              </a:rPr>
              <a:t>Journals &amp; Magazines, IEEE Access, Volume: 12</a:t>
            </a:r>
            <a:endParaRPr lang="en-US" altLang="en-US" sz="240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2</a:t>
            </a:r>
            <a:r>
              <a:rPr lang="en-IN" sz="2400" b="1" dirty="0">
                <a:sym typeface="+mn-ea"/>
              </a:rPr>
              <a:t>]</a:t>
            </a:r>
            <a:r>
              <a:rPr lang="en-IN" sz="2400" dirty="0">
                <a:sym typeface="+mn-ea"/>
              </a:rPr>
              <a:t> </a:t>
            </a:r>
            <a:r>
              <a:rPr lang="en-IN" sz="2400" b="1" dirty="0">
                <a:sym typeface="+mn-ea"/>
              </a:rPr>
              <a:t>A. Vázquez-Rodríguez</a:t>
            </a:r>
            <a:r>
              <a:rPr lang="en-IN" sz="2400" dirty="0">
                <a:sym typeface="+mn-ea"/>
              </a:rPr>
              <a:t>, J. L. Hernández-Ramos, A. J. Jara, and A. F. </a:t>
            </a:r>
            <a:r>
              <a:rPr lang="en-IN" sz="2400" dirty="0" err="1">
                <a:sym typeface="+mn-ea"/>
              </a:rPr>
              <a:t>Skarmeta</a:t>
            </a:r>
            <a:r>
              <a:rPr lang="en-IN" sz="2400" dirty="0">
                <a:sym typeface="+mn-ea"/>
              </a:rPr>
              <a:t>, </a:t>
            </a:r>
            <a:r>
              <a:rPr lang="en-IN" sz="2400" b="1" dirty="0">
                <a:sym typeface="+mn-ea"/>
              </a:rPr>
              <a:t>"CNFP: Optimizing </a:t>
            </a:r>
            <a:r>
              <a:rPr altLang="en-IN" sz="2400" b="1" dirty="0">
                <a:sym typeface="+mn-ea"/>
              </a:rPr>
              <a:t>backend</a:t>
            </a:r>
            <a:r>
              <a:rPr lang="en-IN" sz="2400" b="1" dirty="0">
                <a:sym typeface="+mn-ea"/>
              </a:rPr>
              <a:t>-Native </a:t>
            </a:r>
            <a:r>
              <a:rPr altLang="en-IN" sz="2400" b="1" dirty="0">
                <a:sym typeface="+mn-ea"/>
              </a:rPr>
              <a:t>quantisation </a:t>
            </a:r>
            <a:r>
              <a:rPr lang="en-IN" sz="2400" b="1" dirty="0">
                <a:sym typeface="+mn-ea"/>
              </a:rPr>
              <a:t> Function Placement with Diffusion Models </a:t>
            </a:r>
            <a:r>
              <a:rPr altLang="en-IN" sz="2400" b="1" dirty="0">
                <a:sym typeface="+mn-ea"/>
              </a:rPr>
              <a:t>with proper optimisation</a:t>
            </a:r>
            <a:r>
              <a:rPr lang="en-IN" sz="2400" b="1" dirty="0">
                <a:sym typeface="+mn-ea"/>
              </a:rPr>
              <a:t>,"</a:t>
            </a:r>
            <a:r>
              <a:rPr lang="en-IN" sz="2400" dirty="0">
                <a:sym typeface="+mn-ea"/>
              </a:rPr>
              <a:t> </a:t>
            </a:r>
            <a:r>
              <a:rPr lang="en-IN" sz="2400" i="1" dirty="0" err="1">
                <a:sym typeface="+mn-ea"/>
              </a:rPr>
              <a:t>arXiv</a:t>
            </a:r>
            <a:r>
              <a:rPr lang="en-IN" sz="2400" i="1" dirty="0">
                <a:sym typeface="+mn-ea"/>
              </a:rPr>
              <a:t> preprint arXiv:2508.1</a:t>
            </a:r>
            <a:r>
              <a:rPr altLang="en-IN" sz="2400" i="1" dirty="0">
                <a:sym typeface="+mn-ea"/>
              </a:rPr>
              <a:t>12</a:t>
            </a:r>
            <a:r>
              <a:rPr lang="en-IN" sz="2400" i="1" dirty="0">
                <a:sym typeface="+mn-ea"/>
              </a:rPr>
              <a:t>65</a:t>
            </a:r>
            <a:r>
              <a:rPr lang="en-IN" sz="2400" dirty="0">
                <a:sym typeface="+mn-ea"/>
              </a:rPr>
              <a:t>, </a:t>
            </a:r>
            <a:r>
              <a:rPr lang="en-IN" sz="2400" b="1" dirty="0">
                <a:sym typeface="+mn-ea"/>
              </a:rPr>
              <a:t>202</a:t>
            </a:r>
            <a:r>
              <a:rPr altLang="en-IN" sz="2400" b="1" dirty="0">
                <a:sym typeface="+mn-ea"/>
              </a:rPr>
              <a:t>4</a:t>
            </a:r>
            <a:r>
              <a:rPr lang="en-IN" sz="2400" dirty="0">
                <a:sym typeface="+mn-ea"/>
              </a:rPr>
              <a:t>.</a:t>
            </a:r>
            <a:endParaRPr lang="en-IN" sz="2400" dirty="0"/>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3</a:t>
            </a:r>
            <a:r>
              <a:rPr lang="en-IN" sz="2400" b="1" dirty="0">
                <a:sym typeface="+mn-ea"/>
              </a:rPr>
              <a:t>]</a:t>
            </a:r>
            <a:r>
              <a:rPr lang="en-IN" sz="2400" dirty="0">
                <a:sym typeface="+mn-ea"/>
              </a:rPr>
              <a:t> </a:t>
            </a:r>
            <a:r>
              <a:rPr lang="en-IN" sz="2400" b="1" dirty="0">
                <a:sym typeface="+mn-ea"/>
              </a:rPr>
              <a:t>W. L. Hamilton</a:t>
            </a:r>
            <a:r>
              <a:rPr lang="en-IN" sz="2400" dirty="0">
                <a:sym typeface="+mn-ea"/>
              </a:rPr>
              <a:t>, R. Ying, and J. Leskovec, </a:t>
            </a:r>
            <a:r>
              <a:rPr lang="en-IN" sz="2400" b="1" dirty="0">
                <a:sym typeface="+mn-ea"/>
              </a:rPr>
              <a:t>"Inductive Re</a:t>
            </a:r>
            <a:r>
              <a:rPr altLang="en-IN" sz="2400" b="1" dirty="0">
                <a:sym typeface="+mn-ea"/>
              </a:rPr>
              <a:t>currence </a:t>
            </a:r>
            <a:r>
              <a:rPr lang="en-IN" sz="2400" b="1" dirty="0">
                <a:sym typeface="+mn-ea"/>
              </a:rPr>
              <a:t>Learning on </a:t>
            </a:r>
            <a:r>
              <a:rPr altLang="en-IN" sz="2400" b="1" dirty="0">
                <a:sym typeface="+mn-ea"/>
              </a:rPr>
              <a:t>Mental Health</a:t>
            </a:r>
            <a:r>
              <a:rPr lang="en-IN" sz="2400" b="1" dirty="0">
                <a:sym typeface="+mn-ea"/>
              </a:rPr>
              <a:t>,"</a:t>
            </a:r>
            <a:r>
              <a:rPr lang="en-IN" sz="2400" dirty="0">
                <a:sym typeface="+mn-ea"/>
              </a:rPr>
              <a:t> </a:t>
            </a:r>
            <a:r>
              <a:rPr lang="en-IN" sz="2400" i="1" dirty="0">
                <a:sym typeface="+mn-ea"/>
              </a:rPr>
              <a:t>Advances in </a:t>
            </a:r>
            <a:r>
              <a:rPr altLang="en-IN" sz="2400" i="1" dirty="0">
                <a:sym typeface="+mn-ea"/>
              </a:rPr>
              <a:t>MLOps </a:t>
            </a:r>
            <a:r>
              <a:rPr lang="en-IN" sz="2400" i="1" dirty="0">
                <a:sym typeface="+mn-ea"/>
              </a:rPr>
              <a:t> (</a:t>
            </a:r>
            <a:r>
              <a:rPr altLang="en-IN" sz="2400" i="1" dirty="0">
                <a:sym typeface="+mn-ea"/>
              </a:rPr>
              <a:t>Algorithms</a:t>
            </a:r>
            <a:r>
              <a:rPr lang="en-IN" sz="2400" i="1" dirty="0">
                <a:sym typeface="+mn-ea"/>
              </a:rPr>
              <a:t>)</a:t>
            </a:r>
            <a:r>
              <a:rPr lang="en-IN" sz="2400" dirty="0">
                <a:sym typeface="+mn-ea"/>
              </a:rPr>
              <a:t>, </a:t>
            </a:r>
            <a:r>
              <a:rPr lang="en-IN" sz="2400" b="1" dirty="0">
                <a:sym typeface="+mn-ea"/>
              </a:rPr>
              <a:t>Vol. 30</a:t>
            </a:r>
            <a:r>
              <a:rPr lang="en-IN" sz="2400" dirty="0">
                <a:sym typeface="+mn-ea"/>
              </a:rPr>
              <a:t>, </a:t>
            </a:r>
            <a:r>
              <a:rPr lang="en-IN" sz="2400" b="1" dirty="0">
                <a:sym typeface="+mn-ea"/>
              </a:rPr>
              <a:t>20</a:t>
            </a:r>
            <a:r>
              <a:rPr altLang="en-IN" sz="2400" b="1" dirty="0">
                <a:sym typeface="+mn-ea"/>
              </a:rPr>
              <a:t>23</a:t>
            </a:r>
            <a:r>
              <a:rPr lang="en-IN" sz="2400" dirty="0">
                <a:sym typeface="+mn-ea"/>
              </a:rPr>
              <a:t>.</a:t>
            </a:r>
            <a:endParaRPr lang="en-IN" sz="2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[4]</a:t>
            </a:r>
            <a:r>
              <a:rPr lang="en-IN" sz="2400" dirty="0">
                <a:sym typeface="+mn-ea"/>
              </a:rPr>
              <a:t> </a:t>
            </a:r>
            <a:r>
              <a:rPr lang="en-IN" sz="2400" b="1" dirty="0">
                <a:sym typeface="+mn-ea"/>
              </a:rPr>
              <a:t>I. Bello</a:t>
            </a:r>
            <a:r>
              <a:rPr lang="en-IN" sz="2400" dirty="0">
                <a:sym typeface="+mn-ea"/>
              </a:rPr>
              <a:t>, H. Pham, Q. V. Le, M. Norouzi, and S. Bengio, </a:t>
            </a:r>
            <a:r>
              <a:rPr lang="en-IN" sz="2400" b="1" dirty="0">
                <a:sym typeface="+mn-ea"/>
              </a:rPr>
              <a:t>"Neural Combinatorial Optimization with Reinforcement Learning,"</a:t>
            </a:r>
            <a:r>
              <a:rPr lang="en-IN" sz="2400" dirty="0">
                <a:sym typeface="+mn-ea"/>
              </a:rPr>
              <a:t> </a:t>
            </a:r>
            <a:r>
              <a:rPr lang="en-IN" sz="2400" i="1" dirty="0" err="1">
                <a:sym typeface="+mn-ea"/>
              </a:rPr>
              <a:t>arXiv</a:t>
            </a:r>
            <a:r>
              <a:rPr lang="en-IN" sz="2400" i="1" dirty="0">
                <a:sym typeface="+mn-ea"/>
              </a:rPr>
              <a:t> preprint arXiv:1611.09940</a:t>
            </a:r>
            <a:r>
              <a:rPr lang="en-IN" sz="2400" dirty="0">
                <a:sym typeface="+mn-ea"/>
              </a:rPr>
              <a:t>, </a:t>
            </a:r>
            <a:r>
              <a:rPr lang="en-IN" sz="2400" b="1" dirty="0">
                <a:sym typeface="+mn-ea"/>
              </a:rPr>
              <a:t>20</a:t>
            </a:r>
            <a:r>
              <a:rPr altLang="en-IN" sz="2400" b="1" dirty="0">
                <a:sym typeface="+mn-ea"/>
              </a:rPr>
              <a:t>21</a:t>
            </a:r>
            <a:r>
              <a:rPr lang="en-IN" sz="2400" dirty="0">
                <a:sym typeface="+mn-ea"/>
              </a:rPr>
              <a:t>.</a:t>
            </a:r>
            <a:r>
              <a:rPr altLang="en-US" sz="2400">
                <a:sym typeface="+mn-ea"/>
              </a:rPr>
              <a:t> </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sym typeface="+mn-ea"/>
              </a:rPr>
              <a:t> [5]P. Penava and R. Buettne</a:t>
            </a:r>
            <a:r>
              <a:rPr lang="en-US" altLang="en-US" sz="2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rPr>
              <a:t>[6] A. Dev et al</a:t>
            </a:r>
            <a:r>
              <a:rPr lang="en-US" altLang="en-US" sz="2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2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research demonstrates that artificial intelligence can play a significant role in the early identification of suicide risk by analyzing behavioral and textual patterns. The proposed machine learning-based approach provides accurate and reliable predictions, enabling earlier detection of individuals who may require immediate psychological support. While the system is not intended to replace mental health professionals, it serves as an effective decision-support tool that can assist in timely intervention and improve the overall efficiency of mental healthcare. With further validation on larger and more diverse datasets, along with improvements in interpretability, fairness, and privacy, the proposed system has the potential to become a valuable component of future mental health assessment and suicide prevention strategies.</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855*425"/>
  <p:tag name="TABLE_ENDDRAG_RECT" val="26*52*855*425"/>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8221</Words>
  <Application>WPS Presentation</Application>
  <PresentationFormat/>
  <Paragraphs>154</Paragraphs>
  <Slides>10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vt:i4>
      </vt:variant>
    </vt:vector>
  </HeadingPairs>
  <TitlesOfParts>
    <vt:vector size="23"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Calibri</vt:lpstr>
      <vt:lpstr>Office Theme</vt:lpstr>
      <vt:lpstr>   </vt:lpstr>
      <vt:lpstr>.</vt:lpstr>
      <vt:lpstr>EXISTING SOLUTION :</vt:lpstr>
      <vt:lpstr>PROPOSED SOLUTION : </vt:lpstr>
      <vt:lpstr>Block Diagram:</vt:lpstr>
      <vt:lpstr>Tools Used:</vt:lpstr>
      <vt:lpstr>PowerPoint 演示文稿</vt:lpstr>
      <vt:lpstr>Research Limitations:</vt:lpstr>
      <vt:lpstr>References: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185</cp:revision>
  <dcterms:created xsi:type="dcterms:W3CDTF">2006-08-16T00:00:00Z</dcterms:created>
  <dcterms:modified xsi:type="dcterms:W3CDTF">2026-07-15T11:32:38Z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88FD1795FCC34B1695C4B3EAB20F4981_13</vt:lpwstr>
  </property>
  <property fmtid="{D5CDD505-2E9C-101B-9397-08002B2CF9AE}" pid="4" name="KSOProductBuildVer">
    <vt:lpwstr>1033-12.1.0.26886</vt:lpwstr>
  </property>
  <property fmtid="{D5CDD505-2E9C-101B-9397-08002B2CF9AE}" pid="5" name="PresentationFormat">
    <vt:lpwstr>Widescreen</vt:lpwstr>
  </property>
  <property fmtid="{D5CDD505-2E9C-101B-9397-08002B2CF9AE}" pid="6" name="Slides">
    <vt:i4>13</vt:i4>
  </property>
</Properties>
</file>