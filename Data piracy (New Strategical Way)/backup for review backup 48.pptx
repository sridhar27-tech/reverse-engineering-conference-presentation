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0" r:id="rId6"/>
    <p:sldId id="261" r:id="rId7"/>
    <p:sldId id="262" r:id="rId8"/>
    <p:sldId id="267" r:id="rId9"/>
    <p:sldId id="264" r:id="rId11"/>
    <p:sldId id="265" r:id="rId12"/>
    <p:sldId id="269" r:id="rId13"/>
    <p:sldId id="270" r:id="rId14"/>
    <p:sldId id="271" r:id="rId15"/>
    <p:sldId id="266" r:id="rId16"/>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Container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Docker</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ModelOptimization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Target Platforms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Windows, Linux</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PyTorch, PyTorch Geometric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TensorFlow Lite (TFLite)</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Explainable AI (XAI)</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SHAP, BertViz</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790" y="138430"/>
            <a:ext cx="10514965" cy="38671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080" y="1002600"/>
            <a:ext cx="10515240" cy="4696560"/>
          </a:xfrm>
          <a:prstGeom prst="rect">
            <a:avLst/>
          </a:prstGeom>
          <a:noFill/>
          <a:ln w="0">
            <a:noFill/>
          </a:ln>
        </p:spPr>
        <p:txBody>
          <a:bodyPr lIns="91440" tIns="45720" rIns="91440" bIns="45720" anchor="t">
            <a:normAutofit fontScale="80000"/>
          </a:bodyPr>
          <a:p>
            <a:pPr marL="228600" indent="-228600" algn="just" defTabSz="914400">
              <a:lnSpc>
                <a:spcPct val="90000"/>
              </a:lnSpc>
              <a:spcBef>
                <a:spcPts val="1000"/>
              </a:spcBef>
              <a:buClr>
                <a:srgbClr val="000000"/>
              </a:buClr>
              <a:buFont typeface="Arial" panose="020B0604020202020204"/>
              <a:buChar char="•"/>
            </a:pPr>
            <a:r>
              <a:rPr lang="en-US" sz="2400" b="1" u="none" strike="noStrike">
                <a:solidFill>
                  <a:schemeClr val="dk1"/>
                </a:solidFill>
                <a:effectLst/>
                <a:uFillTx/>
                <a:latin typeface="Calibri" panose="020F0502020204030204"/>
              </a:rPr>
              <a:t>[1]Pascal Penava et al</a:t>
            </a:r>
            <a:r>
              <a:rPr lang="en-US" sz="2400" b="0" u="none" strike="noStrike">
                <a:solidFill>
                  <a:schemeClr val="dk1"/>
                </a:solidFill>
                <a:effectLst/>
                <a:uFillTx/>
                <a:latin typeface="Calibri" panose="020F0502020204030204"/>
              </a:rPr>
              <a:t>.(2025)—Early-Stage Non-Severe Depression Detection Using a Novel CNNApproach on Resting-State EEG Data(2024)— IEEE.</a:t>
            </a:r>
            <a:r>
              <a:rPr altLang="en-US" sz="2400">
                <a:sym typeface="+mn-ea"/>
              </a:rPr>
              <a:t> (https://ieeexplore.ieee.org/document/10757418). </a:t>
            </a:r>
            <a:r>
              <a:rPr lang="en-US" altLang="en-US" sz="2400">
                <a:sym typeface="+mn-ea"/>
              </a:rPr>
              <a:t>Journals &amp; Magazines, IEEE Access, Volume: 12</a:t>
            </a:r>
            <a:endParaRPr lang="en-US" altLang="en-US" sz="240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2</a:t>
            </a:r>
            <a:r>
              <a:rPr lang="en-IN" sz="2400" b="1" dirty="0">
                <a:sym typeface="+mn-ea"/>
              </a:rPr>
              <a:t>]</a:t>
            </a:r>
            <a:r>
              <a:rPr lang="en-IN" sz="2400" dirty="0">
                <a:sym typeface="+mn-ea"/>
              </a:rPr>
              <a:t> </a:t>
            </a:r>
            <a:r>
              <a:rPr lang="en-IN" sz="2400" b="1" dirty="0">
                <a:sym typeface="+mn-ea"/>
              </a:rPr>
              <a:t>A. Vázquez-Rodríguez</a:t>
            </a:r>
            <a:r>
              <a:rPr lang="en-IN" sz="2400" dirty="0">
                <a:sym typeface="+mn-ea"/>
              </a:rPr>
              <a:t>, J. L. Hernández-Ramos, A. J. Jara, and A. F. </a:t>
            </a:r>
            <a:r>
              <a:rPr lang="en-IN" sz="2400" dirty="0" err="1">
                <a:sym typeface="+mn-ea"/>
              </a:rPr>
              <a:t>Skarmeta</a:t>
            </a:r>
            <a:r>
              <a:rPr lang="en-IN" sz="2400" dirty="0">
                <a:sym typeface="+mn-ea"/>
              </a:rPr>
              <a:t>, </a:t>
            </a:r>
            <a:r>
              <a:rPr lang="en-IN" sz="2400" b="1" dirty="0">
                <a:sym typeface="+mn-ea"/>
              </a:rPr>
              <a:t>"CNFP: Optimizing </a:t>
            </a:r>
            <a:r>
              <a:rPr altLang="en-IN" sz="2400" b="1" dirty="0">
                <a:sym typeface="+mn-ea"/>
              </a:rPr>
              <a:t>backend</a:t>
            </a:r>
            <a:r>
              <a:rPr lang="en-IN" sz="2400" b="1" dirty="0">
                <a:sym typeface="+mn-ea"/>
              </a:rPr>
              <a:t>-Native </a:t>
            </a:r>
            <a:r>
              <a:rPr altLang="en-IN" sz="2400" b="1" dirty="0">
                <a:sym typeface="+mn-ea"/>
              </a:rPr>
              <a:t>quantisation </a:t>
            </a:r>
            <a:r>
              <a:rPr lang="en-IN" sz="2400" b="1" dirty="0">
                <a:sym typeface="+mn-ea"/>
              </a:rPr>
              <a:t> Function Placement with Diffusion Models </a:t>
            </a:r>
            <a:r>
              <a:rPr altLang="en-IN" sz="2400" b="1" dirty="0">
                <a:sym typeface="+mn-ea"/>
              </a:rPr>
              <a:t>with proper optimisation</a:t>
            </a:r>
            <a:r>
              <a:rPr lang="en-IN" sz="2400" b="1" dirty="0">
                <a:sym typeface="+mn-ea"/>
              </a:rPr>
              <a:t>,"</a:t>
            </a:r>
            <a:r>
              <a:rPr lang="en-IN" sz="2400" dirty="0">
                <a:sym typeface="+mn-ea"/>
              </a:rPr>
              <a:t> </a:t>
            </a:r>
            <a:r>
              <a:rPr lang="en-IN" sz="2400" i="1" dirty="0" err="1">
                <a:sym typeface="+mn-ea"/>
              </a:rPr>
              <a:t>arXiv</a:t>
            </a:r>
            <a:r>
              <a:rPr lang="en-IN" sz="2400" i="1" dirty="0">
                <a:sym typeface="+mn-ea"/>
              </a:rPr>
              <a:t> preprint arXiv:2508.1</a:t>
            </a:r>
            <a:r>
              <a:rPr altLang="en-IN" sz="2400" i="1" dirty="0">
                <a:sym typeface="+mn-ea"/>
              </a:rPr>
              <a:t>12</a:t>
            </a:r>
            <a:r>
              <a:rPr lang="en-IN" sz="2400" i="1" dirty="0">
                <a:sym typeface="+mn-ea"/>
              </a:rPr>
              <a:t>65</a:t>
            </a:r>
            <a:r>
              <a:rPr lang="en-IN" sz="2400" dirty="0">
                <a:sym typeface="+mn-ea"/>
              </a:rPr>
              <a:t>, </a:t>
            </a:r>
            <a:r>
              <a:rPr lang="en-IN" sz="2400" b="1" dirty="0">
                <a:sym typeface="+mn-ea"/>
              </a:rPr>
              <a:t>202</a:t>
            </a:r>
            <a:r>
              <a:rPr altLang="en-IN" sz="2400" b="1" dirty="0">
                <a:sym typeface="+mn-ea"/>
              </a:rPr>
              <a:t>4</a:t>
            </a:r>
            <a:r>
              <a:rPr lang="en-IN" sz="2400" dirty="0">
                <a:sym typeface="+mn-ea"/>
              </a:rPr>
              <a:t>.</a:t>
            </a:r>
            <a:endParaRPr lang="en-IN" sz="2400" dirty="0"/>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3</a:t>
            </a:r>
            <a:r>
              <a:rPr lang="en-IN" sz="2400" b="1" dirty="0">
                <a:sym typeface="+mn-ea"/>
              </a:rPr>
              <a:t>]</a:t>
            </a:r>
            <a:r>
              <a:rPr lang="en-IN" sz="2400" dirty="0">
                <a:sym typeface="+mn-ea"/>
              </a:rPr>
              <a:t> </a:t>
            </a:r>
            <a:r>
              <a:rPr lang="en-IN" sz="2400" b="1" dirty="0">
                <a:sym typeface="+mn-ea"/>
              </a:rPr>
              <a:t>W. L. Hamilton</a:t>
            </a:r>
            <a:r>
              <a:rPr lang="en-IN" sz="2400" dirty="0">
                <a:sym typeface="+mn-ea"/>
              </a:rPr>
              <a:t>, R. Ying, and J. Leskovec, </a:t>
            </a:r>
            <a:r>
              <a:rPr lang="en-IN" sz="2400" b="1" dirty="0">
                <a:sym typeface="+mn-ea"/>
              </a:rPr>
              <a:t>"Inductive Re</a:t>
            </a:r>
            <a:r>
              <a:rPr altLang="en-IN" sz="2400" b="1" dirty="0">
                <a:sym typeface="+mn-ea"/>
              </a:rPr>
              <a:t>currence </a:t>
            </a:r>
            <a:r>
              <a:rPr lang="en-IN" sz="2400" b="1" dirty="0">
                <a:sym typeface="+mn-ea"/>
              </a:rPr>
              <a:t>Learning on </a:t>
            </a:r>
            <a:r>
              <a:rPr altLang="en-IN" sz="2400" b="1" dirty="0">
                <a:sym typeface="+mn-ea"/>
              </a:rPr>
              <a:t>Mental Health</a:t>
            </a:r>
            <a:r>
              <a:rPr lang="en-IN" sz="2400" b="1" dirty="0">
                <a:sym typeface="+mn-ea"/>
              </a:rPr>
              <a:t>,"</a:t>
            </a:r>
            <a:r>
              <a:rPr lang="en-IN" sz="2400" dirty="0">
                <a:sym typeface="+mn-ea"/>
              </a:rPr>
              <a:t> </a:t>
            </a:r>
            <a:r>
              <a:rPr lang="en-IN" sz="2400" i="1" dirty="0">
                <a:sym typeface="+mn-ea"/>
              </a:rPr>
              <a:t>Advances in </a:t>
            </a:r>
            <a:r>
              <a:rPr altLang="en-IN" sz="2400" i="1" dirty="0">
                <a:sym typeface="+mn-ea"/>
              </a:rPr>
              <a:t>MLOps </a:t>
            </a:r>
            <a:r>
              <a:rPr lang="en-IN" sz="2400" i="1" dirty="0">
                <a:sym typeface="+mn-ea"/>
              </a:rPr>
              <a:t> (</a:t>
            </a:r>
            <a:r>
              <a:rPr altLang="en-IN" sz="2400" i="1" dirty="0">
                <a:sym typeface="+mn-ea"/>
              </a:rPr>
              <a:t>Algorithms</a:t>
            </a:r>
            <a:r>
              <a:rPr lang="en-IN" sz="2400" i="1" dirty="0">
                <a:sym typeface="+mn-ea"/>
              </a:rPr>
              <a:t>)</a:t>
            </a:r>
            <a:r>
              <a:rPr lang="en-IN" sz="2400" dirty="0">
                <a:sym typeface="+mn-ea"/>
              </a:rPr>
              <a:t>, </a:t>
            </a:r>
            <a:r>
              <a:rPr lang="en-IN" sz="2400" b="1" dirty="0">
                <a:sym typeface="+mn-ea"/>
              </a:rPr>
              <a:t>Vol. 30</a:t>
            </a:r>
            <a:r>
              <a:rPr lang="en-IN" sz="2400" dirty="0">
                <a:sym typeface="+mn-ea"/>
              </a:rPr>
              <a:t>, </a:t>
            </a:r>
            <a:r>
              <a:rPr lang="en-IN" sz="2400" b="1" dirty="0">
                <a:sym typeface="+mn-ea"/>
              </a:rPr>
              <a:t>20</a:t>
            </a:r>
            <a:r>
              <a:rPr altLang="en-IN" sz="2400" b="1" dirty="0">
                <a:sym typeface="+mn-ea"/>
              </a:rPr>
              <a:t>23</a:t>
            </a:r>
            <a:r>
              <a:rPr lang="en-IN" sz="2400" dirty="0">
                <a:sym typeface="+mn-ea"/>
              </a:rPr>
              <a:t>.</a:t>
            </a:r>
            <a:endParaRPr lang="en-IN" sz="2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[4]</a:t>
            </a:r>
            <a:r>
              <a:rPr lang="en-IN" sz="2400" dirty="0">
                <a:sym typeface="+mn-ea"/>
              </a:rPr>
              <a:t> </a:t>
            </a:r>
            <a:r>
              <a:rPr lang="en-IN" sz="2400" b="1" dirty="0">
                <a:sym typeface="+mn-ea"/>
              </a:rPr>
              <a:t>I. Bello</a:t>
            </a:r>
            <a:r>
              <a:rPr lang="en-IN" sz="2400" dirty="0">
                <a:sym typeface="+mn-ea"/>
              </a:rPr>
              <a:t>, H. Pham, Q. V. Le, M. Norouzi, and S. Bengio, </a:t>
            </a:r>
            <a:r>
              <a:rPr lang="en-IN" sz="2400" b="1" dirty="0">
                <a:sym typeface="+mn-ea"/>
              </a:rPr>
              <a:t>"Neural Combinatorial Optimization with Reinforcement Learning,"</a:t>
            </a:r>
            <a:r>
              <a:rPr lang="en-IN" sz="2400" dirty="0">
                <a:sym typeface="+mn-ea"/>
              </a:rPr>
              <a:t> </a:t>
            </a:r>
            <a:r>
              <a:rPr lang="en-IN" sz="2400" i="1" dirty="0" err="1">
                <a:sym typeface="+mn-ea"/>
              </a:rPr>
              <a:t>arXiv</a:t>
            </a:r>
            <a:r>
              <a:rPr lang="en-IN" sz="2400" i="1" dirty="0">
                <a:sym typeface="+mn-ea"/>
              </a:rPr>
              <a:t> preprint arXiv:1611.09940</a:t>
            </a:r>
            <a:r>
              <a:rPr lang="en-IN" sz="2400" dirty="0">
                <a:sym typeface="+mn-ea"/>
              </a:rPr>
              <a:t>, </a:t>
            </a:r>
            <a:r>
              <a:rPr lang="en-IN" sz="2400" b="1" dirty="0">
                <a:sym typeface="+mn-ea"/>
              </a:rPr>
              <a:t>20</a:t>
            </a:r>
            <a:r>
              <a:rPr altLang="en-IN" sz="2400" b="1" dirty="0">
                <a:sym typeface="+mn-ea"/>
              </a:rPr>
              <a:t>21</a:t>
            </a:r>
            <a:r>
              <a:rPr lang="en-IN" sz="2400" dirty="0">
                <a:sym typeface="+mn-ea"/>
              </a:rPr>
              <a:t>.</a:t>
            </a:r>
            <a:r>
              <a:rPr altLang="en-US" sz="2400">
                <a:sym typeface="+mn-ea"/>
              </a:rPr>
              <a:t> </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sym typeface="+mn-ea"/>
              </a:rPr>
              <a:t> [5]P. Penava and R. Buettne</a:t>
            </a:r>
            <a:r>
              <a:rPr lang="en-US" altLang="en-US" sz="2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rPr>
              <a:t>[6] A. Dev et al</a:t>
            </a:r>
            <a:r>
              <a:rPr lang="en-US" altLang="en-US" sz="2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2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8445" y="45085"/>
            <a:ext cx="6595745" cy="633095"/>
          </a:xfrm>
          <a:prstGeom prst="rect">
            <a:avLst/>
          </a:prstGeom>
          <a:noFill/>
        </p:spPr>
        <p:txBody>
          <a:bodyPr wrap="square" rtlCol="0">
            <a:noAutofit/>
          </a:bodyPr>
          <a:p>
            <a:r>
              <a:rPr lang="en-US" altLang="en-US" sz="3200" b="1">
                <a:solidFill>
                  <a:srgbClr val="FF0000"/>
                </a:solidFill>
              </a:rPr>
              <a:t>Data Privacy &amp; Anti-Piracy Measures</a:t>
            </a:r>
            <a:endParaRPr lang="en-US" altLang="en-US" sz="3200" b="1">
              <a:solidFill>
                <a:srgbClr val="FF0000"/>
              </a:solidFill>
            </a:endParaRPr>
          </a:p>
        </p:txBody>
      </p:sp>
      <p:sp>
        <p:nvSpPr>
          <p:cNvPr id="3" name="Text Box 2"/>
          <p:cNvSpPr txBox="1"/>
          <p:nvPr/>
        </p:nvSpPr>
        <p:spPr>
          <a:xfrm>
            <a:off x="259080" y="678180"/>
            <a:ext cx="11725910" cy="5587365"/>
          </a:xfrm>
          <a:prstGeom prst="rect">
            <a:avLst/>
          </a:prstGeom>
          <a:noFill/>
        </p:spPr>
        <p:txBody>
          <a:bodyPr wrap="square" rtlCol="0">
            <a:noAutofit/>
          </a:bodyPr>
          <a:p>
            <a:r>
              <a:rPr lang="en-US" altLang="en-US" sz="2400"/>
              <a:t>Data Privacy Measures:</a:t>
            </a:r>
            <a:endParaRPr lang="en-US" altLang="en-US" sz="2400"/>
          </a:p>
          <a:p>
            <a:pPr marL="342900" indent="-342900">
              <a:buFont typeface="Arial" panose="020B0604020202020204" pitchFamily="34" charset="0"/>
              <a:buChar char="•"/>
            </a:pPr>
            <a:r>
              <a:rPr lang="en-US" altLang="en-US" sz="2400"/>
              <a:t>Differential Privacy during model training</a:t>
            </a:r>
            <a:endParaRPr lang="en-US" altLang="en-US" sz="2400"/>
          </a:p>
          <a:p>
            <a:pPr marL="342900" indent="-342900">
              <a:buFont typeface="Arial" panose="020B0604020202020204" pitchFamily="34" charset="0"/>
              <a:buChar char="•"/>
            </a:pPr>
            <a:r>
              <a:rPr lang="en-US" altLang="en-US" sz="2400"/>
              <a:t>On-device Inference – Raw patient data never leaves the device</a:t>
            </a:r>
            <a:endParaRPr lang="en-US" altLang="en-US" sz="2400"/>
          </a:p>
          <a:p>
            <a:pPr marL="342900" indent="-342900">
              <a:buFont typeface="Arial" panose="020B0604020202020204" pitchFamily="34" charset="0"/>
              <a:buChar char="•"/>
            </a:pPr>
            <a:r>
              <a:rPr lang="en-US" altLang="en-US" sz="2400"/>
              <a:t>Encryption at rest and in transit</a:t>
            </a:r>
            <a:endParaRPr lang="en-US" altLang="en-US" sz="2400"/>
          </a:p>
          <a:p>
            <a:pPr marL="342900" indent="-342900">
              <a:buFont typeface="Arial" panose="020B0604020202020204" pitchFamily="34" charset="0"/>
              <a:buChar char="•"/>
            </a:pPr>
            <a:r>
              <a:rPr lang="en-US" altLang="en-US" sz="2400"/>
              <a:t>Anonymization + Pseudonymization of training data</a:t>
            </a:r>
            <a:endParaRPr lang="en-US" altLang="en-US" sz="2400"/>
          </a:p>
          <a:p>
            <a:pPr marL="342900" indent="-342900">
              <a:buFont typeface="Arial" panose="020B0604020202020204" pitchFamily="34" charset="0"/>
              <a:buChar char="•"/>
            </a:pPr>
            <a:r>
              <a:rPr lang="en-US" altLang="en-US" sz="2400"/>
              <a:t>Secure MLOps with role-based access controls and audit logs</a:t>
            </a:r>
            <a:endParaRPr lang="en-US" altLang="en-US" sz="2400"/>
          </a:p>
          <a:p>
            <a:pPr marL="342900" indent="-342900">
              <a:buFont typeface="Arial" panose="020B0604020202020204" pitchFamily="34" charset="0"/>
              <a:buChar char="•"/>
            </a:pPr>
            <a:r>
              <a:rPr lang="en-US" altLang="en-US" sz="2400"/>
              <a:t>Full support for Data Principal Rights</a:t>
            </a:r>
            <a:endParaRPr lang="en-US" altLang="en-US" sz="2400"/>
          </a:p>
          <a:p>
            <a:pPr marL="342900" indent="-342900">
              <a:buFont typeface="Arial" panose="020B0604020202020204" pitchFamily="34" charset="0"/>
              <a:buChar char="•"/>
            </a:pPr>
            <a:endParaRPr lang="en-US" altLang="en-US" sz="2400"/>
          </a:p>
          <a:p>
            <a:pPr indent="0">
              <a:buFont typeface="Arial" panose="020B0604020202020204" pitchFamily="34" charset="0"/>
              <a:buNone/>
            </a:pPr>
            <a:r>
              <a:rPr lang="en-US" altLang="en-US" sz="2400"/>
              <a:t>Anti-Piracy &amp; Model Protection:</a:t>
            </a:r>
            <a:endParaRPr lang="en-US" altLang="en-US" sz="2400"/>
          </a:p>
          <a:p>
            <a:pPr marL="342900" indent="-342900">
              <a:buFont typeface="Arial" panose="020B0604020202020204" pitchFamily="34" charset="0"/>
              <a:buChar char="•"/>
            </a:pPr>
            <a:r>
              <a:rPr lang="en-US" altLang="en-US" sz="2400"/>
              <a:t>Model watermarking for ownership proof</a:t>
            </a:r>
            <a:endParaRPr lang="en-US" altLang="en-US" sz="2400"/>
          </a:p>
          <a:p>
            <a:pPr marL="342900" indent="-342900">
              <a:buFont typeface="Arial" panose="020B0604020202020204" pitchFamily="34" charset="0"/>
              <a:buChar char="•"/>
            </a:pPr>
            <a:r>
              <a:rPr lang="en-US" altLang="en-US" sz="2400"/>
              <a:t>Secure Docker containerization</a:t>
            </a:r>
            <a:endParaRPr lang="en-US" altLang="en-US" sz="2400"/>
          </a:p>
          <a:p>
            <a:pPr marL="342900" indent="-342900">
              <a:buFont typeface="Arial" panose="020B0604020202020204" pitchFamily="34" charset="0"/>
              <a:buChar char="•"/>
            </a:pPr>
            <a:r>
              <a:rPr lang="en-US" altLang="en-US" sz="2400"/>
              <a:t>Federated Learning readiness for future enhancements</a:t>
            </a: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1600" y="38735"/>
            <a:ext cx="7485380" cy="643255"/>
          </a:xfrm>
          <a:prstGeom prst="rect">
            <a:avLst/>
          </a:prstGeom>
          <a:noFill/>
        </p:spPr>
        <p:txBody>
          <a:bodyPr wrap="square" rtlCol="0">
            <a:noAutofit/>
          </a:bodyPr>
          <a:p>
            <a:r>
              <a:rPr lang="en-US" altLang="en-US" sz="2800" b="1">
                <a:solidFill>
                  <a:srgbClr val="FF0000"/>
                </a:solidFill>
              </a:rPr>
              <a:t>Digital Personal Data Protection (DPDP) Act, 2023</a:t>
            </a:r>
            <a:endParaRPr lang="en-US" altLang="en-US" sz="2800" b="1">
              <a:solidFill>
                <a:srgbClr val="FF0000"/>
              </a:solidFill>
            </a:endParaRPr>
          </a:p>
        </p:txBody>
      </p:sp>
      <p:sp>
        <p:nvSpPr>
          <p:cNvPr id="4" name="Text Box 3"/>
          <p:cNvSpPr txBox="1"/>
          <p:nvPr/>
        </p:nvSpPr>
        <p:spPr>
          <a:xfrm>
            <a:off x="144145" y="720725"/>
            <a:ext cx="12033250" cy="5626735"/>
          </a:xfrm>
          <a:prstGeom prst="rect">
            <a:avLst/>
          </a:prstGeom>
          <a:noFill/>
        </p:spPr>
        <p:txBody>
          <a:bodyPr wrap="square" rtlCol="0">
            <a:noAutofit/>
          </a:bodyPr>
          <a:p>
            <a:r>
              <a:rPr lang="en-US" altLang="en-US" sz="2400"/>
              <a:t>Key Provisions under DPDP Act 2023</a:t>
            </a:r>
            <a:r>
              <a:rPr lang="en-US" altLang="en-US"/>
              <a:t>:</a:t>
            </a:r>
            <a:endParaRPr lang="en-US" altLang="en-US"/>
          </a:p>
          <a:p>
            <a:pPr marL="285750" indent="-285750">
              <a:buFont typeface="Arial" panose="020B0604020202020204" pitchFamily="34" charset="0"/>
              <a:buChar char="•"/>
            </a:pPr>
            <a:r>
              <a:rPr lang="en-US" altLang="en-US" sz="2000"/>
              <a:t>Section 4 &amp; 5: Consent-based lawful processing with clear notice</a:t>
            </a:r>
            <a:endParaRPr lang="en-US" altLang="en-US" sz="2000"/>
          </a:p>
          <a:p>
            <a:pPr marL="285750" indent="-285750">
              <a:buFont typeface="Arial" panose="020B0604020202020204" pitchFamily="34" charset="0"/>
              <a:buChar char="•"/>
            </a:pPr>
            <a:r>
              <a:rPr lang="en-US" altLang="en-US" sz="2000"/>
              <a:t>Section 6: Purpose limitation &amp; Data Minimization</a:t>
            </a:r>
            <a:endParaRPr lang="en-US" altLang="en-US" sz="2000"/>
          </a:p>
          <a:p>
            <a:pPr marL="285750" indent="-285750">
              <a:buFont typeface="Arial" panose="020B0604020202020204" pitchFamily="34" charset="0"/>
              <a:buChar char="•"/>
            </a:pPr>
            <a:r>
              <a:rPr lang="en-US" altLang="en-US" sz="2000"/>
              <a:t>Section 8: Data accuracy, storage limitation &amp; retention</a:t>
            </a:r>
            <a:endParaRPr lang="en-US" altLang="en-US" sz="2000"/>
          </a:p>
          <a:p>
            <a:pPr marL="285750" indent="-285750">
              <a:buFont typeface="Arial" panose="020B0604020202020204" pitchFamily="34" charset="0"/>
              <a:buChar char="•"/>
            </a:pPr>
            <a:r>
              <a:rPr lang="en-US" altLang="en-US" sz="2000"/>
              <a:t>Section 9: Reasonable security safeguards &amp; breach notification</a:t>
            </a:r>
            <a:endParaRPr lang="en-US" altLang="en-US" sz="2000"/>
          </a:p>
          <a:p>
            <a:pPr marL="285750" indent="-285750">
              <a:buFont typeface="Arial" panose="020B0604020202020204" pitchFamily="34" charset="0"/>
              <a:buChar char="•"/>
            </a:pPr>
            <a:r>
              <a:rPr lang="en-US" altLang="en-US" sz="2000"/>
              <a:t>Section 11: Rights of Data Principals (access, correction, erasure, nomination, grievance redressal)</a:t>
            </a:r>
            <a:endParaRPr lang="en-US" altLang="en-US" sz="2000"/>
          </a:p>
          <a:p>
            <a:pPr marL="285750" indent="-285750">
              <a:buFont typeface="Arial" panose="020B0604020202020204" pitchFamily="34" charset="0"/>
              <a:buChar char="•"/>
            </a:pPr>
            <a:r>
              <a:rPr lang="en-US" altLang="en-US" sz="2000"/>
              <a:t>Section 17: Significant Data Fiduciary obligations (DPIA, DPO, audits)</a:t>
            </a:r>
            <a:endParaRPr lang="en-US" altLang="en-US" sz="2000"/>
          </a:p>
          <a:p>
            <a:pPr marL="285750" indent="-285750">
              <a:buFont typeface="Arial" panose="020B0604020202020204" pitchFamily="34" charset="0"/>
              <a:buChar char="•"/>
            </a:pPr>
            <a:endParaRPr lang="en-US" altLang="en-US" sz="2000"/>
          </a:p>
          <a:p>
            <a:pPr indent="0">
              <a:buFont typeface="Arial" panose="020B0604020202020204" pitchFamily="34" charset="0"/>
              <a:buNone/>
            </a:pPr>
            <a:r>
              <a:rPr lang="en-US" altLang="en-US" sz="2400"/>
              <a:t>Supporting / Related Acts:</a:t>
            </a:r>
            <a:endParaRPr lang="en-US" altLang="en-US" sz="2400"/>
          </a:p>
          <a:p>
            <a:pPr marL="342900" indent="-342900">
              <a:buFont typeface="Arial" panose="020B0604020202020204" pitchFamily="34" charset="0"/>
              <a:buChar char="•"/>
            </a:pPr>
            <a:r>
              <a:rPr lang="en-US" altLang="en-US" sz="2000"/>
              <a:t>Mental Healthcare Act, 2017 – Confidentiality of mental health records</a:t>
            </a:r>
            <a:endParaRPr lang="en-US" altLang="en-US" sz="2000"/>
          </a:p>
          <a:p>
            <a:pPr marL="342900" indent="-342900">
              <a:buFont typeface="Arial" panose="020B0604020202020204" pitchFamily="34" charset="0"/>
              <a:buChar char="•"/>
            </a:pPr>
            <a:r>
              <a:rPr lang="en-US" altLang="en-US" sz="2000"/>
              <a:t>Information Technology Act, 2000 (Section 43A &amp; IT Rules 2011) – Reasonable security practices for sensitive data</a:t>
            </a:r>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research demonstrates that artificial intelligence can play a significant role in the early identification of suicide risk by analyzing behavioral and textual patterns. The proposed machine learning-based approach provides accurate and reliable predictions, enabling earlier detection of individuals who may require immediate psychological support. While the system is not intended to replace mental health professionals, it serves as an effective decision-support tool that can assist in timely intervention and improve the overall efficiency of mental healthcare. With further validation on larger and more diverse datasets, along with improvements in interpretability, fairness, and privacy, the proposed system has the potential to become a valuable component of future mental health assessment and suicide prevention strategies.</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10353</Words>
  <Application>WPS Presentation</Application>
  <PresentationFormat/>
  <Paragraphs>243</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Calibri</vt:lpstr>
      <vt:lpstr>Office Theme</vt:lpstr>
      <vt:lpstr>   </vt:lpstr>
      <vt:lpstr>.</vt:lpstr>
      <vt:lpstr>EXISTING SOLUTION :</vt:lpstr>
      <vt:lpstr>PROPOSED SOLUTION : </vt:lpstr>
      <vt:lpstr>Block Diagram:</vt:lpstr>
      <vt:lpstr>Tools Used:</vt:lpstr>
      <vt:lpstr>LITERATURE ANALYSIS:</vt:lpstr>
      <vt:lpstr>Research Limitations:</vt:lpstr>
      <vt:lpstr>References:</vt:lpstr>
      <vt:lpstr>PowerPoint 演示文稿</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190</cp:revision>
  <dcterms:created xsi:type="dcterms:W3CDTF">2006-08-16T00:00:00Z</dcterms:created>
  <dcterms:modified xsi:type="dcterms:W3CDTF">2026-07-24T16:16:31Z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23FAD9374C634622B45A5590E15A8F1D_13</vt:lpwstr>
  </property>
  <property fmtid="{D5CDD505-2E9C-101B-9397-08002B2CF9AE}" pid="4" name="KSOProductBuildVer">
    <vt:lpwstr>1033-12.1.0.27458</vt:lpwstr>
  </property>
  <property fmtid="{D5CDD505-2E9C-101B-9397-08002B2CF9AE}" pid="5" name="PresentationFormat">
    <vt:lpwstr>Widescreen</vt:lpwstr>
  </property>
  <property fmtid="{D5CDD505-2E9C-101B-9397-08002B2CF9AE}" pid="6" name="Slides">
    <vt:i4>13</vt:i4>
  </property>
</Properties>
</file>