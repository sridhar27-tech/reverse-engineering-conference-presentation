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60" r:id="rId6"/>
    <p:sldId id="261" r:id="rId7"/>
    <p:sldId id="262" r:id="rId8"/>
    <p:sldId id="270" r:id="rId18"/>
    <p:sldId id="267" r:id="rId9"/>
    <p:sldId id="264" r:id="rId11"/>
    <p:sldId id="265" r:id="rId12"/>
    <p:sldId id="269" r:id="rId13"/>
    <p:sldId id="266" r:id="rId14"/>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 Id="rId1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A1A1A"/>
                </a:solidFill>
              </a:rPr>
              <a:t>Target Accuracy — Roadmap Goals (Not Yet Measured)</a:t>
            </a:r>
          </a:p>
        </c:rich>
      </c:tx>
      <c:layout/>
      <c:overlay val="0"/>
    </c:title>
    <c:autoTitleDeleted val="0"/>
    <c:plotArea>
      <c:barChart>
        <c:barDir val="col"/>
        <c:grouping val="clustered"/>
        <c:ser>
          <c:idx val="0"/>
          <c:order val="0"/>
          <c:tx>
            <c:strRef>
              <c:f>Sheet1!$B$1</c:f>
              <c:strCache>
                <c:ptCount val="1"/>
                <c:pt idx="0">
                  <c:v>Target Accuracy %</c:v>
                </c:pt>
              </c:strCache>
            </c:strRef>
          </c:tx>
          <c:spPr>
            <a:solidFill>
              <a:srgbClr val="2F3C7E"/>
            </a:solidFill>
          </c:spPr>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numFmt formatCode="0&quot;%&quot;" sourceLinked="0"/>
          <c:txPr>
            <a:bodyPr/>
            <a:lstStyle/>
            <a:p>
              <a:pPr>
                <a:defRPr sz="1600" b="1">
                  <a:solidFill>
                    <a:srgbClr val="FFFFFF"/>
                  </a:solidFill>
                </a:defRPr>
              </a:pPr>
            </a:p>
          </c:txPr>
          <c:dLblPos val="in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B0B0B0"/>
            </a:solidFill>
          </a:ln>
        </c:spPr>
        <c:txPr>
          <a:bodyPr/>
          <a:lstStyle/>
          <a:p>
            <a:pPr>
              <a:defRPr sz="1200">
                <a:solidFill>
                  <a:srgbClr val="1A1A1A"/>
                </a:solidFill>
              </a:defRPr>
            </a:pPr>
          </a:p>
        </c:txPr>
        <c:crossAx val="-2113994440"/>
        <c:crosses val="autoZero"/>
        <c:auto val="1"/>
        <c:lblAlgn val="ctr"/>
        <c:lblOffset val="100"/>
        <c:noMultiLvlLbl val="0"/>
      </c:catAx>
      <c:valAx>
        <c:axId val="-2113994440"/>
        <c:scaling>
          <c:max val="100.0"/>
          <c:min val="0.0"/>
        </c:scaling>
        <c:delete val="0"/>
        <c:axPos val="l"/>
        <c:majorGridlines>
          <c:spPr>
            <a:ln>
              <a:solidFill>
                <a:srgbClr val="E0E0E0"/>
              </a:solidFill>
            </a:ln>
          </c:spPr>
        </c:majorGridlines>
        <c:majorTickMark val="out"/>
        <c:minorTickMark val="none"/>
        <c:tickLblPos val="nextTo"/>
        <c:txPr>
          <a:bodyPr/>
          <a:lstStyle/>
          <a:p>
            <a:pPr>
              <a:defRPr sz="1100">
                <a:solidFill>
                  <a:srgbClr val="6E6E6E"/>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SOLUTION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95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Container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Docker</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ModelOptimization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Target Platforms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Windows, Linux</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PyTorch, PyTorch Geometric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TensorFlow Lite (TFLite)</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Explainable AI (XAI)</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SHAP, BertViz</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r>
              <a:rPr sz="3200" b="1">
                <a:solidFill>
                  <a:srgbClr val="FF0000"/>
                </a:solidFill>
                <a:latin typeface="Calibri"/>
              </a:rPr>
              <a:t>PROTOTYPE STATUS &amp; ACCURACY ROADMAP:</a:t>
            </a:r>
          </a:p>
        </p:txBody>
      </p:sp>
      <p:sp>
        <p:nvSpPr>
          <p:cNvPr id="3" name="TextBox 2"/>
          <p:cNvSpPr txBox="1"/>
          <p:nvPr/>
        </p:nvSpPr>
        <p:spPr>
          <a:xfrm>
            <a:off x="457200" y="777240"/>
            <a:ext cx="11247120" cy="457200"/>
          </a:xfrm>
          <a:prstGeom prst="rect">
            <a:avLst/>
          </a:prstGeom>
          <a:noFill/>
        </p:spPr>
        <p:txBody>
          <a:bodyPr wrap="square">
            <a:spAutoFit/>
          </a:bodyPr>
          <a:lstStyle/>
          <a:p>
            <a:r>
              <a:rPr sz="1500" i="1">
                <a:solidFill>
                  <a:srgbClr val="6E6E6E"/>
                </a:solidFill>
                <a:latin typeface="Calibri"/>
              </a:rPr>
              <a:t>Current build: architecture complete, classifier head untrained — no measured accuracy yet. Chart below shows project targets, not results.</a:t>
            </a:r>
          </a:p>
        </p:txBody>
      </p:sp>
      <p:sp>
        <p:nvSpPr>
          <p:cNvPr id="4" name="TextBox 3"/>
          <p:cNvSpPr txBox="1"/>
          <p:nvPr/>
        </p:nvSpPr>
        <p:spPr>
          <a:xfrm>
            <a:off x="457200" y="1417320"/>
            <a:ext cx="5120640" cy="4937760"/>
          </a:xfrm>
          <a:prstGeom prst="rect">
            <a:avLst/>
          </a:prstGeom>
          <a:noFill/>
        </p:spPr>
        <p:txBody>
          <a:bodyPr wrap="square">
            <a:spAutoFit/>
          </a:bodyPr>
          <a:lstStyle/>
          <a:p>
            <a:r>
              <a:rPr sz="2000" b="1">
                <a:solidFill>
                  <a:srgbClr val="2F3C7E"/>
                </a:solidFill>
                <a:latin typeface="Calibri"/>
              </a:rPr>
              <a:t>Component Status</a:t>
            </a:r>
          </a:p>
          <a:p>
            <a:pPr>
              <a:spcBef>
                <a:spcPts val="800"/>
              </a:spcBef>
            </a:pPr>
            <a:r>
              <a:rPr sz="1500" b="1">
                <a:solidFill>
                  <a:srgbClr val="2E7D32"/>
                </a:solidFill>
                <a:latin typeface="Calibri"/>
              </a:rPr>
              <a:t>✓  Project structure &amp; config</a:t>
            </a:r>
          </a:p>
          <a:p>
            <a:pPr>
              <a:spcBef>
                <a:spcPts val="800"/>
              </a:spcBef>
            </a:pPr>
            <a:r>
              <a:rPr sz="1500" b="1">
                <a:solidFill>
                  <a:srgbClr val="2E7D32"/>
                </a:solidFill>
                <a:latin typeface="Calibri"/>
              </a:rPr>
              <a:t>✓  BERT backbone + classifier head</a:t>
            </a:r>
          </a:p>
          <a:p>
            <a:pPr>
              <a:spcBef>
                <a:spcPts val="800"/>
              </a:spcBef>
            </a:pPr>
            <a:r>
              <a:rPr sz="1500" b="1">
                <a:solidFill>
                  <a:srgbClr val="2E7D32"/>
                </a:solidFill>
                <a:latin typeface="Calibri"/>
              </a:rPr>
              <a:t>✓  Inference pipeline &amp; CLI</a:t>
            </a:r>
          </a:p>
          <a:p>
            <a:pPr>
              <a:spcBef>
                <a:spcPts val="800"/>
              </a:spcBef>
            </a:pPr>
            <a:r>
              <a:rPr sz="1500" b="1">
                <a:solidFill>
                  <a:srgbClr val="2E7D32"/>
                </a:solidFill>
                <a:latin typeface="Calibri"/>
              </a:rPr>
              <a:t>✓  Attention-based explainability (basic)</a:t>
            </a:r>
          </a:p>
          <a:p>
            <a:pPr>
              <a:spcBef>
                <a:spcPts val="800"/>
              </a:spcBef>
            </a:pPr>
            <a:r>
              <a:rPr sz="1500" b="0">
                <a:solidFill>
                  <a:srgbClr val="B00000"/>
                </a:solidFill>
                <a:latin typeface="Calibri"/>
              </a:rPr>
              <a:t>✗  Fine-tuning on labeled risk data</a:t>
            </a:r>
          </a:p>
          <a:p>
            <a:pPr>
              <a:spcBef>
                <a:spcPts val="800"/>
              </a:spcBef>
            </a:pPr>
            <a:r>
              <a:rPr sz="1500" b="0">
                <a:solidFill>
                  <a:srgbClr val="B00000"/>
                </a:solidFill>
                <a:latin typeface="Calibri"/>
              </a:rPr>
              <a:t>✗  SHAP / TCAV / probing</a:t>
            </a:r>
          </a:p>
          <a:p>
            <a:pPr>
              <a:spcBef>
                <a:spcPts val="800"/>
              </a:spcBef>
            </a:pPr>
            <a:r>
              <a:rPr sz="1500" b="0">
                <a:solidFill>
                  <a:srgbClr val="B00000"/>
                </a:solidFill>
                <a:latin typeface="Calibri"/>
              </a:rPr>
              <a:t>✗  Model compression (ONNX / TFLite)</a:t>
            </a:r>
          </a:p>
          <a:p>
            <a:pPr>
              <a:spcBef>
                <a:spcPts val="800"/>
              </a:spcBef>
            </a:pPr>
            <a:r>
              <a:rPr sz="1500" b="0">
                <a:solidFill>
                  <a:srgbClr val="B00000"/>
                </a:solidFill>
                <a:latin typeface="Calibri"/>
              </a:rPr>
              <a:t>✗  Clinical validation</a:t>
            </a: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a:rPr>
              <a:t>~35%</a:t>
            </a:r>
          </a:p>
          <a:p>
            <a:r>
              <a:rPr sz="1300">
                <a:solidFill>
                  <a:srgbClr val="6E6E6E"/>
                </a:solidFill>
                <a:latin typeface="Calibri"/>
              </a:rPr>
              <a:t>overall prototype completion (per README)</a:t>
            </a:r>
          </a:p>
        </p:txBody>
      </p:sp>
      <p:graphicFrame>
        <p:nvGraphicFramePr>
          <p:cNvPr id="6" name="Chart 5"/>
          <p:cNvGraphicFramePr>
            <a:graphicFrameLocks noGrp="1"/>
          </p:cNvGraphicFramePr>
          <p:nvPr/>
        </p:nvGraphicFramePr>
        <p:xfrm>
          <a:off x="5852160" y="1417320"/>
          <a:ext cx="5852160" cy="4206240"/>
        </p:xfrm>
        <a:graphic>
          <a:graphicData uri="http://schemas.openxmlformats.org/drawingml/2006/chart">
            <c:chart xmlns:c="http://schemas.openxmlformats.org/drawingml/2006/chart" r:id="rId2"/>
          </a:graphicData>
        </a:graphic>
      </p:graphicFrame>
      <p:sp>
        <p:nvSpPr>
          <p:cNvPr id="7" name="TextBox 6"/>
          <p:cNvSpPr txBox="1"/>
          <p:nvPr/>
        </p:nvSpPr>
        <p:spPr>
          <a:xfrm>
            <a:off x="5852160" y="5669280"/>
            <a:ext cx="5852160" cy="822960"/>
          </a:xfrm>
          <a:prstGeom prst="rect">
            <a:avLst/>
          </a:prstGeom>
          <a:noFill/>
        </p:spPr>
        <p:txBody>
          <a:bodyPr wrap="square">
            <a:spAutoFit/>
          </a:bodyPr>
          <a:lstStyle/>
          <a:p>
            <a:r>
              <a:rPr sz="1100" i="1">
                <a:solidFill>
                  <a:srgbClr val="6E6E6E"/>
                </a:solidFill>
                <a:latin typeface="Calibri"/>
              </a:rPr>
              <a:t>*Targets are project goals only. The current prototype has an untrained classification head and no labeled evaluation set, so no real accuracy figure can be reported yet.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8790" y="138430"/>
            <a:ext cx="10514965" cy="38671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080" y="1002600"/>
            <a:ext cx="10515240" cy="4696560"/>
          </a:xfrm>
          <a:prstGeom prst="rect">
            <a:avLst/>
          </a:prstGeom>
          <a:noFill/>
          <a:ln w="0">
            <a:noFill/>
          </a:ln>
        </p:spPr>
        <p:txBody>
          <a:bodyPr lIns="91440" tIns="45720" rIns="91440" bIns="45720" anchor="t">
            <a:normAutofit fontScale="80000"/>
          </a:bodyPr>
          <a:p>
            <a:pPr marL="228600" indent="-228600" algn="just" defTabSz="914400">
              <a:lnSpc>
                <a:spcPct val="90000"/>
              </a:lnSpc>
              <a:spcBef>
                <a:spcPts val="1000"/>
              </a:spcBef>
              <a:buClr>
                <a:srgbClr val="000000"/>
              </a:buClr>
              <a:buFont typeface="Arial" panose="020B0604020202020204"/>
              <a:buChar char="•"/>
            </a:pPr>
            <a:r>
              <a:rPr lang="en-US" sz="2400" b="1" u="none" strike="noStrike">
                <a:solidFill>
                  <a:schemeClr val="dk1"/>
                </a:solidFill>
                <a:effectLst/>
                <a:uFillTx/>
                <a:latin typeface="Calibri" panose="020F0502020204030204"/>
              </a:rPr>
              <a:t>[1]Pascal Penava et al</a:t>
            </a:r>
            <a:r>
              <a:rPr lang="en-US" sz="2400" b="0" u="none" strike="noStrike">
                <a:solidFill>
                  <a:schemeClr val="dk1"/>
                </a:solidFill>
                <a:effectLst/>
                <a:uFillTx/>
                <a:latin typeface="Calibri" panose="020F0502020204030204"/>
              </a:rPr>
              <a:t>.(2025)—Early-Stage Non-Severe Depression Detection Using a Novel CNNApproach on Resting-State EEG Data(2024)— IEEE.</a:t>
            </a:r>
            <a:r>
              <a:rPr altLang="en-US" sz="2400">
                <a:sym typeface="+mn-ea"/>
              </a:rPr>
              <a:t> (https://ieeexplore.ieee.org/document/10757418). </a:t>
            </a:r>
            <a:r>
              <a:rPr lang="en-US" altLang="en-US" sz="2400">
                <a:sym typeface="+mn-ea"/>
              </a:rPr>
              <a:t>Journals &amp; Magazines, IEEE Access, Volume: 12</a:t>
            </a:r>
            <a:endParaRPr lang="en-US" altLang="en-US" sz="240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2</a:t>
            </a:r>
            <a:r>
              <a:rPr lang="en-IN" sz="2400" b="1" dirty="0">
                <a:sym typeface="+mn-ea"/>
              </a:rPr>
              <a:t>]</a:t>
            </a:r>
            <a:r>
              <a:rPr lang="en-IN" sz="2400" dirty="0">
                <a:sym typeface="+mn-ea"/>
              </a:rPr>
              <a:t> </a:t>
            </a:r>
            <a:r>
              <a:rPr lang="en-IN" sz="2400" b="1" dirty="0">
                <a:sym typeface="+mn-ea"/>
              </a:rPr>
              <a:t>A. Vázquez-Rodríguez</a:t>
            </a:r>
            <a:r>
              <a:rPr lang="en-IN" sz="2400" dirty="0">
                <a:sym typeface="+mn-ea"/>
              </a:rPr>
              <a:t>, J. L. Hernández-Ramos, A. J. Jara, and A. F. </a:t>
            </a:r>
            <a:r>
              <a:rPr lang="en-IN" sz="2400" dirty="0" err="1">
                <a:sym typeface="+mn-ea"/>
              </a:rPr>
              <a:t>Skarmeta</a:t>
            </a:r>
            <a:r>
              <a:rPr lang="en-IN" sz="2400" dirty="0">
                <a:sym typeface="+mn-ea"/>
              </a:rPr>
              <a:t>, </a:t>
            </a:r>
            <a:r>
              <a:rPr lang="en-IN" sz="2400" b="1" dirty="0">
                <a:sym typeface="+mn-ea"/>
              </a:rPr>
              <a:t>"CNFP: Optimizing </a:t>
            </a:r>
            <a:r>
              <a:rPr altLang="en-IN" sz="2400" b="1" dirty="0">
                <a:sym typeface="+mn-ea"/>
              </a:rPr>
              <a:t>backend</a:t>
            </a:r>
            <a:r>
              <a:rPr lang="en-IN" sz="2400" b="1" dirty="0">
                <a:sym typeface="+mn-ea"/>
              </a:rPr>
              <a:t>-Native </a:t>
            </a:r>
            <a:r>
              <a:rPr altLang="en-IN" sz="2400" b="1" dirty="0">
                <a:sym typeface="+mn-ea"/>
              </a:rPr>
              <a:t>quantisation </a:t>
            </a:r>
            <a:r>
              <a:rPr lang="en-IN" sz="2400" b="1" dirty="0">
                <a:sym typeface="+mn-ea"/>
              </a:rPr>
              <a:t> Function Placement with Diffusion Models </a:t>
            </a:r>
            <a:r>
              <a:rPr altLang="en-IN" sz="2400" b="1" dirty="0">
                <a:sym typeface="+mn-ea"/>
              </a:rPr>
              <a:t>with proper optimisation</a:t>
            </a:r>
            <a:r>
              <a:rPr lang="en-IN" sz="2400" b="1" dirty="0">
                <a:sym typeface="+mn-ea"/>
              </a:rPr>
              <a:t>,"</a:t>
            </a:r>
            <a:r>
              <a:rPr lang="en-IN" sz="2400" dirty="0">
                <a:sym typeface="+mn-ea"/>
              </a:rPr>
              <a:t> </a:t>
            </a:r>
            <a:r>
              <a:rPr lang="en-IN" sz="2400" i="1" dirty="0" err="1">
                <a:sym typeface="+mn-ea"/>
              </a:rPr>
              <a:t>arXiv</a:t>
            </a:r>
            <a:r>
              <a:rPr lang="en-IN" sz="2400" i="1" dirty="0">
                <a:sym typeface="+mn-ea"/>
              </a:rPr>
              <a:t> preprint arXiv:2508.1</a:t>
            </a:r>
            <a:r>
              <a:rPr altLang="en-IN" sz="2400" i="1" dirty="0">
                <a:sym typeface="+mn-ea"/>
              </a:rPr>
              <a:t>12</a:t>
            </a:r>
            <a:r>
              <a:rPr lang="en-IN" sz="2400" i="1" dirty="0">
                <a:sym typeface="+mn-ea"/>
              </a:rPr>
              <a:t>65</a:t>
            </a:r>
            <a:r>
              <a:rPr lang="en-IN" sz="2400" dirty="0">
                <a:sym typeface="+mn-ea"/>
              </a:rPr>
              <a:t>, </a:t>
            </a:r>
            <a:r>
              <a:rPr lang="en-IN" sz="2400" b="1" dirty="0">
                <a:sym typeface="+mn-ea"/>
              </a:rPr>
              <a:t>202</a:t>
            </a:r>
            <a:r>
              <a:rPr altLang="en-IN" sz="2400" b="1" dirty="0">
                <a:sym typeface="+mn-ea"/>
              </a:rPr>
              <a:t>4</a:t>
            </a:r>
            <a:r>
              <a:rPr lang="en-IN" sz="2400" dirty="0">
                <a:sym typeface="+mn-ea"/>
              </a:rPr>
              <a:t>.</a:t>
            </a:r>
            <a:endParaRPr lang="en-IN" sz="2400" dirty="0"/>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3</a:t>
            </a:r>
            <a:r>
              <a:rPr lang="en-IN" sz="2400" b="1" dirty="0">
                <a:sym typeface="+mn-ea"/>
              </a:rPr>
              <a:t>]</a:t>
            </a:r>
            <a:r>
              <a:rPr lang="en-IN" sz="2400" dirty="0">
                <a:sym typeface="+mn-ea"/>
              </a:rPr>
              <a:t> </a:t>
            </a:r>
            <a:r>
              <a:rPr lang="en-IN" sz="2400" b="1" dirty="0">
                <a:sym typeface="+mn-ea"/>
              </a:rPr>
              <a:t>W. L. Hamilton</a:t>
            </a:r>
            <a:r>
              <a:rPr lang="en-IN" sz="2400" dirty="0">
                <a:sym typeface="+mn-ea"/>
              </a:rPr>
              <a:t>, R. Ying, and J. Leskovec, </a:t>
            </a:r>
            <a:r>
              <a:rPr lang="en-IN" sz="2400" b="1" dirty="0">
                <a:sym typeface="+mn-ea"/>
              </a:rPr>
              <a:t>"Inductive Re</a:t>
            </a:r>
            <a:r>
              <a:rPr altLang="en-IN" sz="2400" b="1" dirty="0">
                <a:sym typeface="+mn-ea"/>
              </a:rPr>
              <a:t>currence </a:t>
            </a:r>
            <a:r>
              <a:rPr lang="en-IN" sz="2400" b="1" dirty="0">
                <a:sym typeface="+mn-ea"/>
              </a:rPr>
              <a:t>Learning on </a:t>
            </a:r>
            <a:r>
              <a:rPr altLang="en-IN" sz="2400" b="1" dirty="0">
                <a:sym typeface="+mn-ea"/>
              </a:rPr>
              <a:t>Mental Health</a:t>
            </a:r>
            <a:r>
              <a:rPr lang="en-IN" sz="2400" b="1" dirty="0">
                <a:sym typeface="+mn-ea"/>
              </a:rPr>
              <a:t>,"</a:t>
            </a:r>
            <a:r>
              <a:rPr lang="en-IN" sz="2400" dirty="0">
                <a:sym typeface="+mn-ea"/>
              </a:rPr>
              <a:t> </a:t>
            </a:r>
            <a:r>
              <a:rPr lang="en-IN" sz="2400" i="1" dirty="0">
                <a:sym typeface="+mn-ea"/>
              </a:rPr>
              <a:t>Advances in </a:t>
            </a:r>
            <a:r>
              <a:rPr altLang="en-IN" sz="2400" i="1" dirty="0">
                <a:sym typeface="+mn-ea"/>
              </a:rPr>
              <a:t>MLOps </a:t>
            </a:r>
            <a:r>
              <a:rPr lang="en-IN" sz="2400" i="1" dirty="0">
                <a:sym typeface="+mn-ea"/>
              </a:rPr>
              <a:t> (</a:t>
            </a:r>
            <a:r>
              <a:rPr altLang="en-IN" sz="2400" i="1" dirty="0">
                <a:sym typeface="+mn-ea"/>
              </a:rPr>
              <a:t>Algorithms</a:t>
            </a:r>
            <a:r>
              <a:rPr lang="en-IN" sz="2400" i="1" dirty="0">
                <a:sym typeface="+mn-ea"/>
              </a:rPr>
              <a:t>)</a:t>
            </a:r>
            <a:r>
              <a:rPr lang="en-IN" sz="2400" dirty="0">
                <a:sym typeface="+mn-ea"/>
              </a:rPr>
              <a:t>, </a:t>
            </a:r>
            <a:r>
              <a:rPr lang="en-IN" sz="2400" b="1" dirty="0">
                <a:sym typeface="+mn-ea"/>
              </a:rPr>
              <a:t>Vol. 30</a:t>
            </a:r>
            <a:r>
              <a:rPr lang="en-IN" sz="2400" dirty="0">
                <a:sym typeface="+mn-ea"/>
              </a:rPr>
              <a:t>, </a:t>
            </a:r>
            <a:r>
              <a:rPr lang="en-IN" sz="2400" b="1" dirty="0">
                <a:sym typeface="+mn-ea"/>
              </a:rPr>
              <a:t>20</a:t>
            </a:r>
            <a:r>
              <a:rPr altLang="en-IN" sz="2400" b="1" dirty="0">
                <a:sym typeface="+mn-ea"/>
              </a:rPr>
              <a:t>23</a:t>
            </a:r>
            <a:r>
              <a:rPr lang="en-IN" sz="2400" dirty="0">
                <a:sym typeface="+mn-ea"/>
              </a:rPr>
              <a:t>.</a:t>
            </a:r>
            <a:endParaRPr lang="en-IN" sz="2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[4]</a:t>
            </a:r>
            <a:r>
              <a:rPr lang="en-IN" sz="2400" dirty="0">
                <a:sym typeface="+mn-ea"/>
              </a:rPr>
              <a:t> </a:t>
            </a:r>
            <a:r>
              <a:rPr lang="en-IN" sz="2400" b="1" dirty="0">
                <a:sym typeface="+mn-ea"/>
              </a:rPr>
              <a:t>I. Bello</a:t>
            </a:r>
            <a:r>
              <a:rPr lang="en-IN" sz="2400" dirty="0">
                <a:sym typeface="+mn-ea"/>
              </a:rPr>
              <a:t>, H. Pham, Q. V. Le, M. Norouzi, and S. Bengio, </a:t>
            </a:r>
            <a:r>
              <a:rPr lang="en-IN" sz="2400" b="1" dirty="0">
                <a:sym typeface="+mn-ea"/>
              </a:rPr>
              <a:t>"Neural Combinatorial Optimization with Reinforcement Learning,"</a:t>
            </a:r>
            <a:r>
              <a:rPr lang="en-IN" sz="2400" dirty="0">
                <a:sym typeface="+mn-ea"/>
              </a:rPr>
              <a:t> </a:t>
            </a:r>
            <a:r>
              <a:rPr lang="en-IN" sz="2400" i="1" dirty="0" err="1">
                <a:sym typeface="+mn-ea"/>
              </a:rPr>
              <a:t>arXiv</a:t>
            </a:r>
            <a:r>
              <a:rPr lang="en-IN" sz="2400" i="1" dirty="0">
                <a:sym typeface="+mn-ea"/>
              </a:rPr>
              <a:t> preprint arXiv:1611.09940</a:t>
            </a:r>
            <a:r>
              <a:rPr lang="en-IN" sz="2400" dirty="0">
                <a:sym typeface="+mn-ea"/>
              </a:rPr>
              <a:t>, </a:t>
            </a:r>
            <a:r>
              <a:rPr lang="en-IN" sz="2400" b="1" dirty="0">
                <a:sym typeface="+mn-ea"/>
              </a:rPr>
              <a:t>20</a:t>
            </a:r>
            <a:r>
              <a:rPr altLang="en-IN" sz="2400" b="1" dirty="0">
                <a:sym typeface="+mn-ea"/>
              </a:rPr>
              <a:t>21</a:t>
            </a:r>
            <a:r>
              <a:rPr lang="en-IN" sz="2400" dirty="0">
                <a:sym typeface="+mn-ea"/>
              </a:rPr>
              <a:t>.</a:t>
            </a:r>
            <a:r>
              <a:rPr altLang="en-US" sz="2400">
                <a:sym typeface="+mn-ea"/>
              </a:rPr>
              <a:t> </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sym typeface="+mn-ea"/>
              </a:rPr>
              <a:t> [5]P. Penava and R. Buettne</a:t>
            </a:r>
            <a:r>
              <a:rPr lang="en-US" altLang="en-US" sz="2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rPr>
              <a:t>[6] A. Dev et al</a:t>
            </a:r>
            <a:r>
              <a:rPr lang="en-US" altLang="en-US" sz="2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2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research demonstrates that artificial intelligence can play a significant role in the early identification of suicide risk by analyzing behavioral and textual patterns. The proposed machine learning-based approach provides accurate and reliable predictions, enabling earlier detection of individuals who may require immediate psychological support. While the system is not intended to replace mental health professionals, it serves as an effective decision-support tool that can assist in timely intervention and improve the overall efficiency of mental healthcare. With further validation on larger and more diverse datasets, along with improvements in interpretability, fairness, and privacy, the proposed system has the potential to become a valuable component of future mental health assessment and suicide prevention strategies.</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9168</Words>
  <Application>WPS Presentation</Application>
  <PresentationFormat/>
  <Paragraphs>214</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Calibri</vt:lpstr>
      <vt:lpstr>Office Theme</vt:lpstr>
      <vt:lpstr>   </vt:lpstr>
      <vt:lpstr>.</vt:lpstr>
      <vt:lpstr>EXISTING SOLUTION :</vt:lpstr>
      <vt:lpstr>PROPOSED SOLUTION : </vt:lpstr>
      <vt:lpstr>Block Diagram:</vt:lpstr>
      <vt:lpstr>Tools Used:</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187</cp:revision>
  <dcterms:created xsi:type="dcterms:W3CDTF">2006-08-16T00:00:00Z</dcterms:created>
  <dcterms:modified xsi:type="dcterms:W3CDTF">2026-07-24T13:54:01Z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24E2D16691334FC3BA58B7F5A9149A00_13</vt:lpwstr>
  </property>
  <property fmtid="{D5CDD505-2E9C-101B-9397-08002B2CF9AE}" pid="4" name="KSOProductBuildVer">
    <vt:lpwstr>1033-12.1.0.27458</vt:lpwstr>
  </property>
  <property fmtid="{D5CDD505-2E9C-101B-9397-08002B2CF9AE}" pid="5" name="PresentationFormat">
    <vt:lpwstr>Widescreen</vt:lpwstr>
  </property>
  <property fmtid="{D5CDD505-2E9C-101B-9397-08002B2CF9AE}" pid="6" name="Slides">
    <vt:i4>13</vt:i4>
  </property>
</Properties>
</file>