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257" r:id="rId4"/>
    <p:sldId id="258" r:id="rId5"/>
    <p:sldId id="260" r:id="rId6"/>
    <p:sldId id="261" r:id="rId7"/>
    <p:sldId id="262" r:id="rId8"/>
    <p:sldId id="267" r:id="rId9"/>
    <p:sldId id="264" r:id="rId11"/>
    <p:sldId id="265" r:id="rId12"/>
    <p:sldId id="269" r:id="rId13"/>
    <p:sldId id="266" r:id="rId14"/>
    <p:sldId id="270" r:id="rId15"/>
  </p:sldIdLst>
  <p:sldSz cx="12192000" cy="6858000"/>
  <p:notesSz cx="7772400" cy="10058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368040" cy="50466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402561" y="0"/>
            <a:ext cx="3368040" cy="50466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868680" y="1257300"/>
            <a:ext cx="6035040" cy="339471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77240" y="4840605"/>
            <a:ext cx="6217920" cy="3960495"/>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9553734"/>
            <a:ext cx="3368040" cy="5046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402561" y="9553734"/>
            <a:ext cx="3368040" cy="50466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n-US" sz="6000" b="0" u="none" strike="noStrike">
                <a:solidFill>
                  <a:schemeClr val="dk1"/>
                </a:solidFill>
                <a:effectLst/>
                <a:uFillTx/>
                <a:latin typeface="Calibri Light" panose="020F0302020204030204"/>
              </a:defRPr>
            </a:lvl1pPr>
          </a:lstStyle>
          <a:p>
            <a:pPr indent="0" algn="ctr"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7"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8"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9"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0"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2"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3"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4"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15"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17"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18"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19"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0"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bg>
      <p:bgPr>
        <a:blipFill rotWithShape="0">
          <a:blip r:embed="rId2"/>
          <a:stretch>
            <a:fillRect/>
          </a:stretch>
        </a:blipFill>
        <a:effectLst/>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n-US" sz="6000" b="0" u="none" strike="noStrike">
                <a:solidFill>
                  <a:schemeClr val="dk1"/>
                </a:solidFill>
                <a:effectLst/>
                <a:uFillTx/>
                <a:latin typeface="Calibri Light" panose="020F0302020204030204"/>
              </a:defRPr>
            </a:lvl1pPr>
          </a:lstStyle>
          <a:p>
            <a:pPr indent="0" algn="l" defTabSz="914400">
              <a:lnSpc>
                <a:spcPct val="90000"/>
              </a:lnSpc>
              <a:buNone/>
            </a:pPr>
            <a:r>
              <a:rPr lang="en-US" sz="6000" b="0" u="none" strike="noStrike">
                <a:solidFill>
                  <a:schemeClr val="dk1"/>
                </a:solidFill>
                <a:effectLst/>
                <a:uFillTx/>
                <a:latin typeface="Calibri Light" panose="020F0302020204030204"/>
              </a:rPr>
              <a:t>Click to edit Master title style</a:t>
            </a:r>
            <a:endParaRPr lang="en-US" sz="6000" b="0" u="none" strike="noStrike">
              <a:solidFill>
                <a:schemeClr val="dk1"/>
              </a:solidFill>
              <a:effectLst/>
              <a:uFillTx/>
              <a:latin typeface="Calibri Light" panose="020F0302020204030204"/>
            </a:endParaRPr>
          </a:p>
        </p:txBody>
      </p:sp>
      <p:sp>
        <p:nvSpPr>
          <p:cNvPr id="22"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2400" b="0" u="none" strike="noStrike">
                <a:solidFill>
                  <a:schemeClr val="dk1">
                    <a:tint val="75000"/>
                  </a:schemeClr>
                </a:solidFill>
                <a:effectLst/>
                <a:uFillTx/>
                <a:latin typeface="Calibri" panose="020F0502020204030204"/>
              </a:defRPr>
            </a:lvl1pPr>
          </a:lstStyle>
          <a:p>
            <a:pPr indent="0" algn="l" defTabSz="914400">
              <a:lnSpc>
                <a:spcPct val="90000"/>
              </a:lnSpc>
              <a:spcBef>
                <a:spcPts val="1000"/>
              </a:spcBef>
              <a:buNone/>
              <a:tabLst>
                <a:tab pos="0" algn="l"/>
              </a:tabLst>
            </a:pPr>
            <a:r>
              <a:rPr lang="en-US" sz="2400" b="0" u="none" strike="noStrike">
                <a:solidFill>
                  <a:schemeClr val="dk1">
                    <a:tint val="75000"/>
                  </a:schemeClr>
                </a:solidFill>
                <a:effectLst/>
                <a:uFillTx/>
                <a:latin typeface="Calibri" panose="020F0502020204030204"/>
              </a:rPr>
              <a:t>Click to edit Master text styles</a:t>
            </a:r>
            <a:endParaRPr lang="en-US" sz="2400" b="0" u="none" strike="noStrike">
              <a:solidFill>
                <a:schemeClr val="dk1">
                  <a:tint val="75000"/>
                </a:schemeClr>
              </a:solidFill>
              <a:effectLst/>
              <a:uFillTx/>
              <a:latin typeface="Calibri" panose="020F0502020204030204"/>
            </a:endParaRPr>
          </a:p>
        </p:txBody>
      </p:sp>
      <p:sp>
        <p:nvSpPr>
          <p:cNvPr id="23"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24"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25"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27"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8"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29"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0"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1"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33"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4"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5"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0"/>
              </a:spcBef>
              <a:buNone/>
              <a:tabLst>
                <a:tab pos="0" algn="l"/>
              </a:tabLst>
              <a:defRPr lang="en-US" sz="2400" b="1"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2400" b="1" u="none" strike="noStrike">
                <a:solidFill>
                  <a:schemeClr val="dk1"/>
                </a:solidFill>
                <a:effectLst/>
                <a:uFillTx/>
                <a:latin typeface="Calibri" panose="020F0502020204030204"/>
              </a:rPr>
              <a:t>Click to edit Master text styles</a:t>
            </a:r>
            <a:endParaRPr lang="en-US" sz="2400" b="0" u="none" strike="noStrike">
              <a:solidFill>
                <a:schemeClr val="dk1"/>
              </a:solidFill>
              <a:effectLst/>
              <a:uFillTx/>
              <a:latin typeface="Calibri" panose="020F0502020204030204"/>
            </a:endParaRPr>
          </a:p>
        </p:txBody>
      </p:sp>
      <p:sp>
        <p:nvSpPr>
          <p:cNvPr id="36"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tabLst>
                <a:tab pos="0" algn="l"/>
              </a:tabLst>
              <a:defRPr lang="en-US" sz="28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tabLst>
                <a:tab pos="0" algn="l"/>
              </a:tabLst>
              <a:defRPr lang="en-US" sz="24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tabLst>
                <a:tab pos="0" algn="l"/>
              </a:tabLst>
              <a:defRPr lang="en-US" sz="20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tabLst>
                <a:tab pos="0" algn="l"/>
              </a:tabLst>
              <a:defRPr lang="en-US" sz="18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tabLst>
                <a:tab pos="0" algn="l"/>
              </a:tabLst>
            </a:pPr>
            <a:r>
              <a:rPr lang="en-US" sz="2800" b="0" u="none" strike="noStrike">
                <a:solidFill>
                  <a:schemeClr val="dk1"/>
                </a:solidFill>
                <a:effectLst/>
                <a:uFillTx/>
                <a:latin typeface="Calibri" panose="020F0502020204030204"/>
              </a:rPr>
              <a:t>Click to edit Master text styles</a:t>
            </a:r>
            <a:endParaRPr lang="en-US" sz="28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tabLst>
                <a:tab pos="0" algn="l"/>
              </a:tabLst>
            </a:pPr>
            <a:r>
              <a:rPr lang="en-US" sz="2400" b="0" u="none" strike="noStrike">
                <a:solidFill>
                  <a:schemeClr val="dk1"/>
                </a:solidFill>
                <a:effectLst/>
                <a:uFillTx/>
                <a:latin typeface="Calibri" panose="020F0502020204030204"/>
              </a:rPr>
              <a:t>Second level</a:t>
            </a:r>
            <a:endParaRPr lang="en-US" sz="24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tabLst>
                <a:tab pos="0" algn="l"/>
              </a:tabLst>
            </a:pPr>
            <a:r>
              <a:rPr lang="en-US" sz="2000" b="0" u="none" strike="noStrike">
                <a:solidFill>
                  <a:schemeClr val="dk1"/>
                </a:solidFill>
                <a:effectLst/>
                <a:uFillTx/>
                <a:latin typeface="Calibri" panose="020F0502020204030204"/>
              </a:rPr>
              <a:t>Third level</a:t>
            </a:r>
            <a:endParaRPr lang="en-US" sz="20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Fourth level</a:t>
            </a:r>
            <a:endParaRPr lang="en-US" sz="18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tabLst>
                <a:tab pos="0" algn="l"/>
              </a:tabLst>
            </a:pPr>
            <a:r>
              <a:rPr lang="en-US" sz="1800" b="0" u="none" strike="noStrike">
                <a:solidFill>
                  <a:schemeClr val="dk1"/>
                </a:solidFill>
                <a:effectLst/>
                <a:uFillTx/>
                <a:latin typeface="Calibri" panose="020F0502020204030204"/>
              </a:rPr>
              <a:t>Fifth level</a:t>
            </a:r>
            <a:endParaRPr lang="en-US" sz="1800" b="0" u="none" strike="noStrike">
              <a:solidFill>
                <a:schemeClr val="dk1"/>
              </a:solidFill>
              <a:effectLst/>
              <a:uFillTx/>
              <a:latin typeface="Calibri" panose="020F0502020204030204"/>
            </a:endParaRPr>
          </a:p>
        </p:txBody>
      </p:sp>
      <p:sp>
        <p:nvSpPr>
          <p:cNvPr id="37"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38"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39"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0">
          <a:blip r:embed="rId2"/>
          <a:stretch>
            <a:fillRect/>
          </a:stretch>
        </a:blip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n-US" sz="4400" b="0" u="none" strike="noStrike">
                <a:solidFill>
                  <a:schemeClr val="dk1"/>
                </a:solidFill>
                <a:effectLst/>
                <a:uFillTx/>
                <a:latin typeface="Calibri Light" panose="020F0302020204030204"/>
              </a:defRPr>
            </a:lvl1pPr>
          </a:lstStyle>
          <a:p>
            <a:pPr indent="0" algn="l" defTabSz="914400">
              <a:lnSpc>
                <a:spcPct val="90000"/>
              </a:lnSpc>
              <a:buNone/>
            </a:pPr>
            <a:r>
              <a:rPr lang="en-US" sz="4400" b="0" u="none" strike="noStrike">
                <a:solidFill>
                  <a:schemeClr val="dk1"/>
                </a:solidFill>
                <a:effectLst/>
                <a:uFillTx/>
                <a:latin typeface="Calibri Light" panose="020F0302020204030204"/>
              </a:rPr>
              <a:t>Click to edit Master title style</a:t>
            </a:r>
            <a:endParaRPr lang="en-US" sz="4400" b="0" u="none" strike="noStrike">
              <a:solidFill>
                <a:schemeClr val="dk1"/>
              </a:solidFill>
              <a:effectLst/>
              <a:uFillTx/>
              <a:latin typeface="Calibri Light" panose="020F0302020204030204"/>
            </a:endParaRPr>
          </a:p>
        </p:txBody>
      </p:sp>
      <p:sp>
        <p:nvSpPr>
          <p:cNvPr id="41"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2"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3"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rotWithShape="0">
          <a:blip r:embed="rId2"/>
          <a:stretch>
            <a:fillRect/>
          </a:stretch>
        </a:blipFill>
        <a:effectLst/>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0"/>
              </a:spcBef>
              <a:buClr>
                <a:srgbClr val="000000"/>
              </a:buClr>
              <a:buFont typeface="Arial" panose="020B0604020202020204"/>
              <a:buChar char="•"/>
              <a:defRPr lang="en-US" sz="3200" b="0" u="none" strike="noStrike">
                <a:solidFill>
                  <a:schemeClr val="dk1"/>
                </a:solidFill>
                <a:effectLst/>
                <a:uFillTx/>
                <a:latin typeface="Calibri" panose="020F0502020204030204"/>
              </a:defRPr>
            </a:lvl1pPr>
            <a:lvl2pPr lvl="1" algn="l" defTabSz="914400">
              <a:lnSpc>
                <a:spcPct val="90000"/>
              </a:lnSpc>
              <a:spcBef>
                <a:spcPts val="500"/>
              </a:spcBef>
              <a:buClr>
                <a:srgbClr val="000000"/>
              </a:buClr>
              <a:buFont typeface="Arial" panose="020B0604020202020204"/>
              <a:buChar char="•"/>
              <a:defRPr lang="en-US" sz="2800" b="0" u="none" strike="noStrike">
                <a:solidFill>
                  <a:schemeClr val="dk1"/>
                </a:solidFill>
                <a:effectLst/>
                <a:uFillTx/>
                <a:latin typeface="Calibri" panose="020F0502020204030204"/>
              </a:defRPr>
            </a:lvl2pPr>
            <a:lvl3pPr lvl="2" algn="l" defTabSz="914400">
              <a:lnSpc>
                <a:spcPct val="90000"/>
              </a:lnSpc>
              <a:spcBef>
                <a:spcPts val="500"/>
              </a:spcBef>
              <a:buClr>
                <a:srgbClr val="000000"/>
              </a:buClr>
              <a:buFont typeface="Arial" panose="020B0604020202020204"/>
              <a:buChar char="•"/>
              <a:defRPr lang="en-US" sz="2400" b="0" u="none" strike="noStrike">
                <a:solidFill>
                  <a:schemeClr val="dk1"/>
                </a:solidFill>
                <a:effectLst/>
                <a:uFillTx/>
                <a:latin typeface="Calibri" panose="020F0502020204030204"/>
              </a:defRPr>
            </a:lvl3pPr>
            <a:lvl4pPr lvl="3"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4pPr>
            <a:lvl5pPr lvl="4" algn="l" defTabSz="914400">
              <a:lnSpc>
                <a:spcPct val="90000"/>
              </a:lnSpc>
              <a:spcBef>
                <a:spcPts val="500"/>
              </a:spcBef>
              <a:buClr>
                <a:srgbClr val="000000"/>
              </a:buClr>
              <a:buFont typeface="Arial" panose="020B0604020202020204"/>
              <a:buChar char="•"/>
              <a:defRPr lang="en-US" sz="2000" b="0" u="none" strike="noStrike">
                <a:solidFill>
                  <a:schemeClr val="dk1"/>
                </a:solidFill>
                <a:effectLst/>
                <a:uFillTx/>
                <a:latin typeface="Calibri" panose="020F0502020204030204"/>
              </a:defRPr>
            </a:lvl5pPr>
          </a:lstStyle>
          <a:p>
            <a:pPr marL="228600" indent="-228600" algn="l" defTabSz="914400">
              <a:lnSpc>
                <a:spcPct val="90000"/>
              </a:lnSpc>
              <a:spcBef>
                <a:spcPts val="1000"/>
              </a:spcBef>
              <a:buClr>
                <a:srgbClr val="000000"/>
              </a:buClr>
              <a:buFont typeface="Arial" panose="020B0604020202020204"/>
              <a:buChar char="•"/>
            </a:pPr>
            <a:r>
              <a:rPr lang="en-US" sz="3200" b="0" u="none" strike="noStrike">
                <a:solidFill>
                  <a:schemeClr val="dk1"/>
                </a:solidFill>
                <a:effectLst/>
                <a:uFillTx/>
                <a:latin typeface="Calibri" panose="020F0502020204030204"/>
              </a:rPr>
              <a:t>Click to edit Master text styles</a:t>
            </a:r>
            <a:endParaRPr lang="en-US" sz="3200" b="0" u="none" strike="noStrike">
              <a:solidFill>
                <a:schemeClr val="dk1"/>
              </a:solidFill>
              <a:effectLst/>
              <a:uFillTx/>
              <a:latin typeface="Calibri" panose="020F0502020204030204"/>
            </a:endParaRPr>
          </a:p>
          <a:p>
            <a:pPr marL="685800" lvl="1" indent="-228600" algn="l" defTabSz="914400">
              <a:lnSpc>
                <a:spcPct val="90000"/>
              </a:lnSpc>
              <a:spcBef>
                <a:spcPts val="500"/>
              </a:spcBef>
              <a:buClr>
                <a:srgbClr val="000000"/>
              </a:buClr>
              <a:buFont typeface="Arial" panose="020B0604020202020204"/>
              <a:buChar char="•"/>
            </a:pPr>
            <a:r>
              <a:rPr lang="en-US" sz="2800" b="0" u="none" strike="noStrike">
                <a:solidFill>
                  <a:schemeClr val="dk1"/>
                </a:solidFill>
                <a:effectLst/>
                <a:uFillTx/>
                <a:latin typeface="Calibri" panose="020F0502020204030204"/>
              </a:rPr>
              <a:t>Second level</a:t>
            </a:r>
            <a:endParaRPr lang="en-US" sz="2800" b="0" u="none" strike="noStrike">
              <a:solidFill>
                <a:schemeClr val="dk1"/>
              </a:solidFill>
              <a:effectLst/>
              <a:uFillTx/>
              <a:latin typeface="Calibri" panose="020F0502020204030204"/>
            </a:endParaRPr>
          </a:p>
          <a:p>
            <a:pPr marL="1143000" lvl="2" indent="-228600" algn="l" defTabSz="914400">
              <a:lnSpc>
                <a:spcPct val="90000"/>
              </a:lnSpc>
              <a:spcBef>
                <a:spcPts val="500"/>
              </a:spcBef>
              <a:buClr>
                <a:srgbClr val="000000"/>
              </a:buClr>
              <a:buFont typeface="Arial" panose="020B0604020202020204"/>
              <a:buChar char="•"/>
            </a:pPr>
            <a:r>
              <a:rPr lang="en-US" sz="2400" b="0" u="none" strike="noStrike">
                <a:solidFill>
                  <a:schemeClr val="dk1"/>
                </a:solidFill>
                <a:effectLst/>
                <a:uFillTx/>
                <a:latin typeface="Calibri" panose="020F0502020204030204"/>
              </a:rPr>
              <a:t>Third level</a:t>
            </a:r>
            <a:endParaRPr lang="en-US" sz="2400" b="0" u="none" strike="noStrike">
              <a:solidFill>
                <a:schemeClr val="dk1"/>
              </a:solidFill>
              <a:effectLst/>
              <a:uFillTx/>
              <a:latin typeface="Calibri" panose="020F0502020204030204"/>
            </a:endParaRPr>
          </a:p>
          <a:p>
            <a:pPr marL="1600200" lvl="3"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Fourth level</a:t>
            </a:r>
            <a:endParaRPr lang="en-US" sz="2000" b="0" u="none" strike="noStrike">
              <a:solidFill>
                <a:schemeClr val="dk1"/>
              </a:solidFill>
              <a:effectLst/>
              <a:uFillTx/>
              <a:latin typeface="Calibri" panose="020F0502020204030204"/>
            </a:endParaRPr>
          </a:p>
          <a:p>
            <a:pPr marL="2057400" lvl="4" indent="-228600" algn="l" defTabSz="914400">
              <a:lnSpc>
                <a:spcPct val="90000"/>
              </a:lnSpc>
              <a:spcBef>
                <a:spcPts val="500"/>
              </a:spcBef>
              <a:buClr>
                <a:srgbClr val="000000"/>
              </a:buClr>
              <a:buFont typeface="Arial" panose="020B0604020202020204"/>
              <a:buChar char="•"/>
            </a:pPr>
            <a:r>
              <a:rPr lang="en-US" sz="2000" b="0" u="none" strike="noStrike">
                <a:solidFill>
                  <a:schemeClr val="dk1"/>
                </a:solidFill>
                <a:effectLst/>
                <a:uFillTx/>
                <a:latin typeface="Calibri" panose="020F0502020204030204"/>
              </a:rPr>
              <a:t>Fifth level</a:t>
            </a:r>
            <a:endParaRPr lang="en-US" sz="2000" b="0" u="none" strike="noStrike">
              <a:solidFill>
                <a:schemeClr val="dk1"/>
              </a:solidFill>
              <a:effectLst/>
              <a:uFillTx/>
              <a:latin typeface="Calibri" panose="020F0502020204030204"/>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bg>
      <p:bgPr>
        <a:blipFill rotWithShape="0">
          <a:blip r:embed="rId2"/>
          <a:stretch>
            <a:fillRect/>
          </a:stretch>
        </a:blipFill>
        <a:effectLst/>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n-US" sz="3200" b="0" u="none" strike="noStrike">
                <a:solidFill>
                  <a:schemeClr val="dk1"/>
                </a:solidFill>
                <a:effectLst/>
                <a:uFillTx/>
                <a:latin typeface="Calibri Light" panose="020F0302020204030204"/>
              </a:defRPr>
            </a:lvl1pPr>
          </a:lstStyle>
          <a:p>
            <a:pPr indent="0" algn="l" defTabSz="914400">
              <a:lnSpc>
                <a:spcPct val="90000"/>
              </a:lnSpc>
              <a:buNone/>
            </a:pPr>
            <a:r>
              <a:rPr lang="en-US" sz="3200" b="0" u="none" strike="noStrike">
                <a:solidFill>
                  <a:schemeClr val="dk1"/>
                </a:solidFill>
                <a:effectLst/>
                <a:uFillTx/>
                <a:latin typeface="Calibri Light" panose="020F0302020204030204"/>
              </a:rPr>
              <a:t>Click to edit Master title style</a:t>
            </a:r>
            <a:endParaRPr lang="en-US" sz="3200" b="0" u="none" strike="noStrike">
              <a:solidFill>
                <a:schemeClr val="dk1"/>
              </a:solidFill>
              <a:effectLst/>
              <a:uFillTx/>
              <a:latin typeface="Calibri Light" panose="020F0302020204030204"/>
            </a:endParaRPr>
          </a:p>
        </p:txBody>
      </p:sp>
      <p:sp>
        <p:nvSpPr>
          <p:cNvPr id="54" name="PlaceHolder 2"/>
          <p:cNvSpPr>
            <a:spLocks noGrp="1"/>
          </p:cNvSpPr>
          <p:nvPr>
            <p:ph type="body" hasCustomPrompt="1"/>
          </p:nvPr>
        </p:nvSpPr>
        <p:spPr>
          <a:xfrm>
            <a:off x="5183280" y="987480"/>
            <a:ext cx="6171840" cy="4873320"/>
          </a:xfrm>
          <a:prstGeom prst="rect">
            <a:avLst/>
          </a:prstGeom>
          <a:noFill/>
          <a:ln w="0">
            <a:noFill/>
          </a:ln>
        </p:spPr>
        <p:txBody>
          <a:bodyPr lIns="90000" tIns="45000" rIns="90000" bIns="45000" anchor="t">
            <a:noAutofit/>
          </a:bodyPr>
          <a:lstStyle>
            <a:lvl1pPr indent="0" algn="l" defTabSz="457200">
              <a:lnSpc>
                <a:spcPct val="100000"/>
              </a:lnSpc>
              <a:buNone/>
              <a:tabLst>
                <a:tab pos="0" algn="l"/>
              </a:tabLst>
              <a:defRPr lang="en-US" sz="3200" b="0" u="none" strike="noStrike">
                <a:solidFill>
                  <a:schemeClr val="dk1"/>
                </a:solidFill>
                <a:effectLst/>
                <a:uFillTx/>
                <a:latin typeface="Calibri" panose="020F0502020204030204"/>
              </a:defRPr>
            </a:lvl1pPr>
          </a:lstStyle>
          <a:p>
            <a:pPr indent="0" algn="l" defTabSz="457200">
              <a:lnSpc>
                <a:spcPct val="100000"/>
              </a:lnSpc>
              <a:buNone/>
              <a:tabLst>
                <a:tab pos="0" algn="l"/>
              </a:tabLst>
            </a:pPr>
            <a:r>
              <a:rPr lang="en-US" sz="3200" b="0" u="none" strike="noStrike">
                <a:solidFill>
                  <a:schemeClr val="dk1"/>
                </a:solidFill>
                <a:effectLst/>
                <a:uFillTx/>
                <a:latin typeface="Calibri" panose="020F0502020204030204"/>
              </a:rPr>
              <a:t>Click icon to add picture</a:t>
            </a:r>
            <a:endParaRPr lang="en-US" sz="3200" b="0" u="none" strike="noStrike">
              <a:solidFill>
                <a:schemeClr val="dk1"/>
              </a:solidFill>
              <a:effectLst/>
              <a:uFillTx/>
              <a:latin typeface="Calibri" panose="020F0502020204030204"/>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0"/>
              </a:spcBef>
              <a:buNone/>
              <a:tabLst>
                <a:tab pos="0" algn="l"/>
              </a:tabLst>
              <a:defRPr lang="en-US" sz="1600" b="0" u="none" strike="noStrike">
                <a:solidFill>
                  <a:schemeClr val="dk1"/>
                </a:solidFill>
                <a:effectLst/>
                <a:uFillTx/>
                <a:latin typeface="Calibri" panose="020F0502020204030204"/>
              </a:defRPr>
            </a:lvl1pPr>
          </a:lstStyle>
          <a:p>
            <a:pPr indent="0" algn="l" defTabSz="914400">
              <a:lnSpc>
                <a:spcPct val="90000"/>
              </a:lnSpc>
              <a:spcBef>
                <a:spcPts val="1000"/>
              </a:spcBef>
              <a:buNone/>
              <a:tabLst>
                <a:tab pos="0" algn="l"/>
              </a:tabLst>
            </a:pPr>
            <a:r>
              <a:rPr lang="en-US" sz="1600" b="0" u="none" strike="noStrike">
                <a:solidFill>
                  <a:schemeClr val="dk1"/>
                </a:solidFill>
                <a:effectLst/>
                <a:uFillTx/>
                <a:latin typeface="Calibri" panose="020F0502020204030204"/>
              </a:rPr>
              <a:t>Click to edit Master text styles</a:t>
            </a:r>
            <a:endParaRPr lang="en-US" sz="1600" b="0" u="none" strike="noStrike">
              <a:solidFill>
                <a:schemeClr val="dk1"/>
              </a:solidFill>
              <a:effectLst/>
              <a:uFillTx/>
              <a:latin typeface="Calibri" panose="020F0502020204030204"/>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panose="02020603050405020304"/>
              </a:defRPr>
            </a:lvl1pPr>
          </a:lstStyle>
          <a:p>
            <a:pPr indent="0" algn="l">
              <a:buNone/>
            </a:pPr>
            <a:r>
              <a:rPr lang="en-US" sz="1400" b="0" u="none" strike="noStrike">
                <a:solidFill>
                  <a:srgbClr val="000000"/>
                </a:solidFill>
                <a:effectLst/>
                <a:uFillTx/>
                <a:latin typeface="Times New Roman" panose="02020603050405020304"/>
              </a:rPr>
              <a:t>&lt;date/time&gt;</a:t>
            </a:r>
            <a:endParaRPr lang="en-US" sz="1400" b="0" u="none" strike="noStrike">
              <a:solidFill>
                <a:srgbClr val="000000"/>
              </a:solidFill>
              <a:effectLst/>
              <a:uFillTx/>
              <a:latin typeface="Times New Roman" panose="02020603050405020304"/>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defTabSz="457200">
              <a:lnSpc>
                <a:spcPct val="100000"/>
              </a:lnSpc>
              <a:buNone/>
              <a:defRPr lang="en-US" sz="1200" b="0" u="none" strike="noStrike">
                <a:solidFill>
                  <a:schemeClr val="dk1">
                    <a:tint val="75000"/>
                  </a:schemeClr>
                </a:solidFill>
                <a:effectLst/>
                <a:uFillTx/>
                <a:latin typeface="Calibri" panose="020F0502020204030204"/>
              </a:defRPr>
            </a:lvl1pPr>
          </a:lstStyle>
          <a:p>
            <a:pPr indent="0" algn="ctr" defTabSz="457200">
              <a:lnSpc>
                <a:spcPct val="100000"/>
              </a:lnSpc>
              <a:buNone/>
            </a:pPr>
            <a:r>
              <a:rPr lang="en-US" sz="1200" b="0" u="none" strike="noStrike">
                <a:solidFill>
                  <a:schemeClr val="dk1">
                    <a:tint val="75000"/>
                  </a:schemeClr>
                </a:solidFill>
                <a:effectLst/>
                <a:uFillTx/>
                <a:latin typeface="Calibri" panose="020F0502020204030204"/>
              </a:rPr>
              <a:t>&lt;footer&gt;</a:t>
            </a:r>
            <a:endParaRPr lang="en-US" sz="1200" b="0" u="none" strike="noStrike">
              <a:solidFill>
                <a:srgbClr val="000000"/>
              </a:solidFill>
              <a:effectLst/>
              <a:uFillTx/>
              <a:latin typeface="Times New Roman" panose="02020603050405020304"/>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rgbClr val="000000"/>
              </a:solidFill>
              <a:effectLst/>
              <a:uFillTx/>
              <a:latin typeface="Times New Roman" panose="020206030504050203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a:xfrm>
            <a:off x="838200" y="6356350"/>
            <a:ext cx="2743200" cy="365125"/>
          </a:xfrm>
        </p:spPr>
        <p:txBody>
          <a:bodyPr/>
          <a:lstStyle/>
          <a:p>
            <a:fld id="{FDE934FF-F4E1-47C5-9CA5-30A81DDE2BE4}" type="datetimeFigureOut">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a:xfrm>
            <a:off x="8610600" y="6356350"/>
            <a:ext cx="2743200" cy="365125"/>
          </a:xfrm>
        </p:spPr>
        <p:txBody>
          <a:bodyPr/>
          <a:lstStyle/>
          <a:p>
            <a:fld id="{B3561BA9-CDCF-4958-B8AB-66F3BF063E1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tags" Target="../tags/tag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981080" y="228600"/>
            <a:ext cx="8457840" cy="1143000"/>
          </a:xfrm>
          <a:prstGeom prst="rect">
            <a:avLst/>
          </a:prstGeom>
          <a:noFill/>
          <a:ln w="0">
            <a:noFill/>
          </a:ln>
        </p:spPr>
        <p:txBody>
          <a:bodyPr lIns="91440" tIns="45720" rIns="91440" bIns="45720" anchor="ctr">
            <a:normAutofit fontScale="47500" lnSpcReduction="19999"/>
          </a:bodyPr>
          <a:p>
            <a:pPr indent="0" algn="l" defTabSz="914400">
              <a:lnSpc>
                <a:spcPct val="90000"/>
              </a:lnSpc>
              <a:buNone/>
            </a:pPr>
            <a:br>
              <a:rPr sz="4400"/>
            </a:br>
            <a:br>
              <a:rPr sz="4400"/>
            </a:br>
            <a:br>
              <a:rPr sz="4400"/>
            </a:br>
            <a:endParaRPr lang="en-US" sz="4400" b="0" u="none" strike="noStrike">
              <a:solidFill>
                <a:schemeClr val="dk1"/>
              </a:solidFill>
              <a:effectLst/>
              <a:uFillTx/>
              <a:latin typeface="Calibri Light" panose="020F0302020204030204"/>
            </a:endParaRPr>
          </a:p>
        </p:txBody>
      </p:sp>
      <p:sp>
        <p:nvSpPr>
          <p:cNvPr id="60" name="Rectangle 5"/>
          <p:cNvSpPr/>
          <p:nvPr/>
        </p:nvSpPr>
        <p:spPr>
          <a:xfrm>
            <a:off x="2743200" y="152280"/>
            <a:ext cx="8458200" cy="70020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Dr.Mahalingam College of Engineering &amp; Technology</a:t>
            </a:r>
            <a:endParaRPr lang="en-US" sz="2000" b="0" u="none" strike="noStrike">
              <a:solidFill>
                <a:srgbClr val="000000"/>
              </a:solidFill>
              <a:effectLst/>
              <a:uFillTx/>
              <a:latin typeface="Arial" panose="020B0604020202020204"/>
            </a:endParaRPr>
          </a:p>
          <a:p>
            <a:pPr algn="just" defTabSz="457200">
              <a:lnSpc>
                <a:spcPct val="100000"/>
              </a:lnSpc>
            </a:pPr>
            <a:r>
              <a:rPr lang="en-IN" sz="2000" b="1" u="none" strike="noStrike">
                <a:solidFill>
                  <a:schemeClr val="dk1">
                    <a:lumMod val="95000"/>
                    <a:lumOff val="5000"/>
                  </a:schemeClr>
                </a:solidFill>
                <a:effectLst/>
                <a:uFillTx/>
                <a:latin typeface="Calibri" panose="020F0502020204030204"/>
              </a:rPr>
              <a:t>Department of Artificial Intelligence &amp; Data Science </a:t>
            </a:r>
            <a:endParaRPr lang="en-US" sz="2000" b="0" u="none" strike="noStrike">
              <a:solidFill>
                <a:srgbClr val="000000"/>
              </a:solidFill>
              <a:effectLst/>
              <a:uFillTx/>
              <a:latin typeface="Arial" panose="020B0604020202020204"/>
            </a:endParaRPr>
          </a:p>
        </p:txBody>
      </p:sp>
      <p:pic>
        <p:nvPicPr>
          <p:cNvPr id="61" name="Picture 7" descr="C:\Users\STAFFS\Desktop\MCET LOGO NEW_1 (1).jpg"/>
          <p:cNvPicPr/>
          <p:nvPr/>
        </p:nvPicPr>
        <p:blipFill>
          <a:blip r:embed="rId1"/>
          <a:stretch>
            <a:fillRect/>
          </a:stretch>
        </p:blipFill>
        <p:spPr>
          <a:xfrm>
            <a:off x="396360" y="152640"/>
            <a:ext cx="1584720" cy="761760"/>
          </a:xfrm>
          <a:prstGeom prst="rect">
            <a:avLst/>
          </a:prstGeom>
          <a:noFill/>
          <a:ln w="0">
            <a:noFill/>
          </a:ln>
        </p:spPr>
      </p:pic>
      <p:sp>
        <p:nvSpPr>
          <p:cNvPr id="62" name="Google Shape;452;p13"/>
          <p:cNvSpPr/>
          <p:nvPr/>
        </p:nvSpPr>
        <p:spPr>
          <a:xfrm>
            <a:off x="685800" y="1219320"/>
            <a:ext cx="10744200" cy="4870800"/>
          </a:xfrm>
          <a:prstGeom prst="rect">
            <a:avLst/>
          </a:prstGeom>
          <a:noFill/>
          <a:ln w="0">
            <a:noFill/>
          </a:ln>
        </p:spPr>
        <p:style>
          <a:lnRef idx="0">
            <a:srgbClr val="FFFFFF"/>
          </a:lnRef>
          <a:fillRef idx="0">
            <a:srgbClr val="FFFFFF"/>
          </a:fillRef>
          <a:effectRef idx="0">
            <a:srgbClr val="FFFFFF"/>
          </a:effectRef>
          <a:fontRef idx="minor"/>
        </p:style>
        <p:txBody>
          <a:bodyPr anchor="t">
            <a:noAutofit/>
          </a:bodyPr>
          <a:p>
            <a:pPr marL="274320" indent="-274320" algn="just" defTabSz="914400">
              <a:lnSpc>
                <a:spcPct val="150000"/>
              </a:lnSpc>
              <a:tabLst>
                <a:tab pos="0" algn="l"/>
              </a:tabLst>
            </a:pPr>
            <a:r>
              <a:rPr lang="en-IN" sz="2400" b="0" u="none" strike="noStrike">
                <a:solidFill>
                  <a:srgbClr val="FF0000"/>
                </a:solidFill>
                <a:effectLst/>
                <a:uFillTx/>
                <a:latin typeface="Calibri" panose="020F0502020204030204"/>
                <a:ea typeface="Times New Roman" panose="02020603050405020304"/>
              </a:rPr>
              <a:t>Team Number         : </a:t>
            </a:r>
            <a:r>
              <a:rPr lang="en-US" sz="2000" b="1" u="none" strike="noStrike">
                <a:solidFill>
                  <a:schemeClr val="dk1"/>
                </a:solidFill>
                <a:effectLst/>
                <a:uFillTx/>
                <a:latin typeface="Calibri" panose="020F0502020204030204"/>
                <a:ea typeface="Times New Roman" panose="02020603050405020304"/>
              </a:rPr>
              <a:t>A17</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 :</a:t>
            </a:r>
            <a:r>
              <a:rPr lang="en-US" sz="24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Machine Learning Operations (MLOps)</a:t>
            </a:r>
            <a:endParaRPr lang="en-US" sz="20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Sub-Domain          </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800" b="1" u="none" strike="noStrike">
                <a:solidFill>
                  <a:schemeClr val="dk1"/>
                </a:solidFill>
                <a:effectLst/>
                <a:uFillTx/>
                <a:latin typeface="Calibri" panose="020F0502020204030204"/>
                <a:ea typeface="Times New Roman" panose="02020603050405020304"/>
              </a:rPr>
              <a:t>Explainable &amp; Deployable AI for Mental Health Risk Prediction</a:t>
            </a:r>
            <a:endParaRPr lang="en-US" sz="1800" b="0" u="none" strike="noStrike">
              <a:solidFill>
                <a:srgbClr val="000000"/>
              </a:solidFill>
              <a:effectLst/>
              <a:uFillTx/>
              <a:latin typeface="Arial" panose="020B0604020202020204"/>
            </a:endParaRPr>
          </a:p>
          <a:p>
            <a:pPr marL="274320" indent="-274320"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Title</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0" u="none" strike="noStrike">
                <a:solidFill>
                  <a:srgbClr val="FF0000"/>
                </a:solidFill>
                <a:effectLst/>
                <a:uFillTx/>
                <a:latin typeface="Calibri" panose="020F0502020204030204"/>
                <a:ea typeface="Times New Roman" panose="02020603050405020304"/>
              </a:rPr>
              <a:t> </a:t>
            </a:r>
            <a:r>
              <a:rPr lang="en-US" sz="1400" b="1" u="none" strike="noStrike">
                <a:solidFill>
                  <a:srgbClr val="0C0C0C"/>
                </a:solidFill>
                <a:effectLst/>
                <a:uFillTx/>
                <a:latin typeface="Calibri" panose="020F0502020204030204"/>
                <a:ea typeface="Times New Roman" panose="02020603050405020304"/>
              </a:rPr>
              <a:t> </a:t>
            </a:r>
            <a:r>
              <a:rPr lang="en-US" sz="1800" b="1" u="none" strike="noStrike">
                <a:solidFill>
                  <a:srgbClr val="0C0C0C"/>
                </a:solidFill>
                <a:effectLst/>
                <a:uFillTx/>
                <a:latin typeface="Calibri" panose="020F0502020204030204"/>
                <a:ea typeface="Times New Roman" panose="02020603050405020304"/>
              </a:rPr>
              <a:t>Suicide Risk Prediction Models with Clinical Explainability</a:t>
            </a:r>
            <a:endParaRPr lang="en-US" sz="18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400" b="0" u="none" strike="noStrike">
                <a:solidFill>
                  <a:srgbClr val="FF0000"/>
                </a:solidFill>
                <a:effectLst/>
                <a:uFillTx/>
                <a:latin typeface="Calibri" panose="020F0502020204030204"/>
                <a:ea typeface="Times New Roman" panose="02020603050405020304"/>
              </a:rPr>
              <a:t>Faculty Supervisor</a:t>
            </a:r>
            <a:r>
              <a:rPr lang="en-IN" sz="2400" b="0" u="none" strike="noStrike">
                <a:solidFill>
                  <a:srgbClr val="FF0000"/>
                </a:solidFill>
                <a:effectLst/>
                <a:uFillTx/>
                <a:latin typeface="Calibri" panose="020F0502020204030204"/>
                <a:ea typeface="Times New Roman" panose="02020603050405020304"/>
              </a:rPr>
              <a:t> :</a:t>
            </a:r>
            <a:r>
              <a:rPr lang="en-IN" sz="2000" b="0"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Ms.M. RAJALAKSHMI, AP/SS, AI&amp;DS</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IN" sz="2400" b="0" u="none" strike="noStrike">
                <a:solidFill>
                  <a:srgbClr val="FF0000"/>
                </a:solidFill>
                <a:effectLst/>
                <a:uFillTx/>
                <a:latin typeface="Calibri" panose="020F0502020204030204"/>
                <a:ea typeface="Times New Roman" panose="02020603050405020304"/>
              </a:rPr>
              <a:t>Team Members</a:t>
            </a:r>
            <a:r>
              <a:rPr lang="en-US" sz="2400" b="0" u="none" strike="noStrike">
                <a:solidFill>
                  <a:srgbClr val="FF0000"/>
                </a:solidFill>
                <a:effectLst/>
                <a:uFillTx/>
                <a:latin typeface="Calibri" panose="020F0502020204030204"/>
                <a:ea typeface="Times New Roman" panose="02020603050405020304"/>
              </a:rPr>
              <a:t>      </a:t>
            </a:r>
            <a:r>
              <a:rPr lang="en-IN" sz="2400" b="0" u="none" strike="noStrike">
                <a:solidFill>
                  <a:srgbClr val="FF0000"/>
                </a:solidFill>
                <a:effectLst/>
                <a:uFillTx/>
                <a:latin typeface="Calibri" panose="020F0502020204030204"/>
                <a:ea typeface="Times New Roman" panose="02020603050405020304"/>
              </a:rPr>
              <a:t>:</a:t>
            </a:r>
            <a:r>
              <a:rPr lang="en-US" sz="2400" b="1" u="none" strike="noStrike">
                <a:solidFill>
                  <a:srgbClr val="FF0000"/>
                </a:solidFill>
                <a:effectLst/>
                <a:uFillTx/>
                <a:latin typeface="Calibri" panose="020F0502020204030204"/>
                <a:ea typeface="Times New Roman" panose="02020603050405020304"/>
              </a:rPr>
              <a:t> </a:t>
            </a:r>
            <a:r>
              <a:rPr lang="en-US" sz="2000" b="1" u="none" strike="noStrike">
                <a:solidFill>
                  <a:schemeClr val="dk1"/>
                </a:solidFill>
                <a:effectLst/>
                <a:uFillTx/>
                <a:latin typeface="Calibri" panose="020F0502020204030204"/>
                <a:ea typeface="Times New Roman" panose="02020603050405020304"/>
              </a:rPr>
              <a:t>Maha mathesh raja B (727624BAD031)</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irfan basha R (727624BAD009)</a:t>
            </a:r>
            <a:endParaRPr lang="en-US" sz="2000" b="0" u="none" strike="noStrike">
              <a:solidFill>
                <a:srgbClr val="000000"/>
              </a:solidFill>
              <a:effectLst/>
              <a:uFillTx/>
              <a:latin typeface="Arial" panose="020B0604020202020204"/>
            </a:endParaRPr>
          </a:p>
          <a:p>
            <a:pPr algn="just" defTabSz="914400">
              <a:lnSpc>
                <a:spcPct val="150000"/>
              </a:lnSpc>
              <a:spcBef>
                <a:spcPts val="580"/>
              </a:spcBef>
              <a:tabLst>
                <a:tab pos="0" algn="l"/>
              </a:tabLst>
            </a:pPr>
            <a:r>
              <a:rPr lang="en-US" sz="2000" b="1" u="none" strike="noStrike">
                <a:solidFill>
                  <a:schemeClr val="dk1"/>
                </a:solidFill>
                <a:effectLst/>
                <a:uFillTx/>
                <a:latin typeface="Calibri" panose="020F0502020204030204"/>
                <a:ea typeface="Times New Roman" panose="02020603050405020304"/>
              </a:rPr>
              <a:t>                                           Sridhar M (727624BAD091)</a:t>
            </a:r>
            <a:endParaRPr lang="en-US" sz="200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r>
              <a:rPr lang="en-IN" sz="1660" b="0" u="none" strike="noStrike">
                <a:solidFill>
                  <a:srgbClr val="0C0C0C"/>
                </a:solidFill>
                <a:effectLst/>
                <a:uFillTx/>
                <a:latin typeface="Calibri" panose="020F0502020204030204"/>
                <a:ea typeface="Times New Roman" panose="02020603050405020304"/>
              </a:rPr>
              <a:t>	</a:t>
            </a:r>
            <a:r>
              <a:rPr lang="en-IN" sz="1660" b="0" u="none" strike="noStrike">
                <a:solidFill>
                  <a:srgbClr val="0C0C0C"/>
                </a:solidFill>
                <a:effectLst/>
                <a:uFillTx/>
                <a:latin typeface="Calibri" panose="020F0502020204030204"/>
                <a:ea typeface="Times New Roman" panose="02020603050405020304"/>
              </a:rPr>
              <a:t>	</a:t>
            </a:r>
            <a:endParaRPr lang="en-US" sz="1660" b="0" u="none" strike="noStrike">
              <a:solidFill>
                <a:srgbClr val="000000"/>
              </a:solidFill>
              <a:effectLst/>
              <a:uFillTx/>
              <a:latin typeface="Arial" panose="020B0604020202020204"/>
            </a:endParaRPr>
          </a:p>
          <a:p>
            <a:pPr marL="2468880" indent="-228600" defTabSz="914400">
              <a:lnSpc>
                <a:spcPct val="80000"/>
              </a:lnSpc>
              <a:spcBef>
                <a:spcPts val="500"/>
              </a:spcBef>
              <a:tabLst>
                <a:tab pos="0" algn="l"/>
              </a:tabLst>
            </a:pPr>
            <a:endParaRPr lang="en-US" sz="1660" b="0" u="none" strike="noStrike">
              <a:solidFill>
                <a:srgbClr val="000000"/>
              </a:solidFill>
              <a:effectLst/>
              <a:uFillTx/>
              <a:latin typeface="Arial" panose="020B0604020202020204"/>
            </a:endParaRPr>
          </a:p>
          <a:p>
            <a:pPr marL="274320" indent="-144780" defTabSz="914400">
              <a:lnSpc>
                <a:spcPct val="80000"/>
              </a:lnSpc>
              <a:spcBef>
                <a:spcPts val="580"/>
              </a:spcBef>
              <a:tabLst>
                <a:tab pos="0" algn="l"/>
              </a:tabLst>
            </a:pPr>
            <a:endParaRPr lang="en-US" sz="2400" b="0" u="none" strike="noStrike">
              <a:solidFill>
                <a:srgbClr val="000000"/>
              </a:solidFill>
              <a:effectLst/>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PlaceHolder 1"/>
          <p:cNvSpPr>
            <a:spLocks noGrp="1"/>
          </p:cNvSpPr>
          <p:nvPr>
            <p:ph type="title"/>
          </p:nvPr>
        </p:nvSpPr>
        <p:spPr>
          <a:xfrm>
            <a:off x="76320" y="228600"/>
            <a:ext cx="1193400" cy="88560"/>
          </a:xfrm>
          <a:prstGeom prst="rect">
            <a:avLst/>
          </a:prstGeom>
          <a:noFill/>
          <a:ln w="0">
            <a:noFill/>
          </a:ln>
        </p:spPr>
        <p:txBody>
          <a:bodyPr lIns="91440" tIns="44280" rIns="91440" bIns="44280" anchor="ctr">
            <a:normAutofit fontScale="25000" lnSpcReduction="19999"/>
          </a:bodyPr>
          <a:p>
            <a:pPr indent="0" algn="l" defTabSz="914400">
              <a:lnSpc>
                <a:spcPct val="90000"/>
              </a:lnSpc>
              <a:buNone/>
            </a:pPr>
            <a:r>
              <a:rPr lang="en-US" sz="2000" b="1" i="1" u="none" strike="noStrike">
                <a:solidFill>
                  <a:schemeClr val="dk1"/>
                </a:solidFill>
                <a:effectLst/>
                <a:uFillTx/>
                <a:latin typeface="Calibri" panose="020F0502020204030204"/>
              </a:rPr>
              <a:t>.</a:t>
            </a:r>
            <a:endParaRPr lang="en-US" sz="2000" b="0" u="none" strike="noStrike">
              <a:solidFill>
                <a:schemeClr val="dk1"/>
              </a:solidFill>
              <a:effectLst/>
              <a:uFillTx/>
              <a:latin typeface="Calibri Light" panose="020F0302020204030204"/>
            </a:endParaRPr>
          </a:p>
        </p:txBody>
      </p:sp>
      <p:sp>
        <p:nvSpPr>
          <p:cNvPr id="64" name="PlaceHolder 2"/>
          <p:cNvSpPr>
            <a:spLocks noGrp="1"/>
          </p:cNvSpPr>
          <p:nvPr>
            <p:ph/>
          </p:nvPr>
        </p:nvSpPr>
        <p:spPr>
          <a:xfrm>
            <a:off x="152280" y="457200"/>
            <a:ext cx="11693160" cy="5293800"/>
          </a:xfrm>
          <a:prstGeom prst="rect">
            <a:avLst/>
          </a:prstGeom>
          <a:noFill/>
          <a:ln w="0">
            <a:noFill/>
          </a:ln>
        </p:spPr>
        <p:txBody>
          <a:bodyPr lIns="91440" tIns="45720" rIns="91440" bIns="45720" anchor="t">
            <a:normAutofit lnSpcReduction="1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ABSTRACT:</a:t>
            </a:r>
            <a:endParaRPr lang="en-US" sz="36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r>
              <a:rPr lang="en-US" sz="3600" b="1" u="none" strike="noStrike">
                <a:solidFill>
                  <a:schemeClr val="dk1"/>
                </a:solidFill>
                <a:effectLst/>
                <a:uFillTx/>
                <a:latin typeface="Calibri" panose="020F0502020204030204"/>
              </a:rPr>
              <a:t>  </a:t>
            </a:r>
            <a:r>
              <a:rPr lang="en-US" sz="2400" b="0" u="none" strike="noStrike">
                <a:solidFill>
                  <a:schemeClr val="dk1"/>
                </a:solidFill>
                <a:effectLst/>
                <a:uFillTx/>
                <a:latin typeface="Calibri" panose="020F0502020204030204"/>
              </a:rPr>
              <a:t>Over 300 million people worldwide are affected by depression, with symptoms that have a major impact on patients and, in the worst cases, can lead to suicide. As the severity of the disease increases over time, early detection can save a patient’s life. The disease is diagnosed by professionals using questionnaires that might be influenced by biases, and of which the accuracy and reliability are not guaranteed. Due to the low level of preprocessing and the associated fast computing time and low computational intensity, our innovative approach can serve as a basis for applications in the real world. This enables patients with suitable hardware to recognize the disease themselves at an early stage and thus receive timely treatment to prevent further development. However, the focus is not on the early detection of mild depression, which can be the entry point to major depression. In this work, we developed a deep learning based model using a 1D convolutional neural network to detect mild depression in resting-state electroencephalogram data. We evaluated the model using a realistic world-like dataset and were able to achieve a balanced accuracy of 69.21% hit.</a:t>
            </a:r>
            <a:endParaRPr lang="en-US" sz="2400" b="0" u="none" strike="noStrike">
              <a:solidFill>
                <a:schemeClr val="dk1"/>
              </a:solidFill>
              <a:effectLst/>
              <a:uFillTx/>
              <a:latin typeface="Calibri" panose="020F0502020204030204"/>
            </a:endParaRPr>
          </a:p>
        </p:txBody>
      </p:sp>
      <p:sp>
        <p:nvSpPr>
          <p:cNvPr id="65" name="PlaceHolder 3"/>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PlaceHolder 1"/>
          <p:cNvSpPr>
            <a:spLocks noGrp="1"/>
          </p:cNvSpPr>
          <p:nvPr>
            <p:ph type="title"/>
          </p:nvPr>
        </p:nvSpPr>
        <p:spPr>
          <a:xfrm>
            <a:off x="838080" y="365040"/>
            <a:ext cx="10515240" cy="549360"/>
          </a:xfrm>
          <a:prstGeom prst="rect">
            <a:avLst/>
          </a:prstGeom>
          <a:noFill/>
          <a:ln w="0">
            <a:noFill/>
          </a:ln>
        </p:spPr>
        <p:txBody>
          <a:bodyPr lIns="91440" tIns="45720" rIns="91440" bIns="45720" anchor="ctr">
            <a:normAutofit fontScale="90000"/>
          </a:bodyPr>
          <a:p>
            <a:pPr indent="0" algn="l" defTabSz="914400">
              <a:lnSpc>
                <a:spcPct val="90000"/>
              </a:lnSpc>
              <a:buNone/>
            </a:pPr>
            <a:r>
              <a:rPr lang="en-US" sz="3600" b="1" u="none" strike="noStrike">
                <a:solidFill>
                  <a:srgbClr val="FF0000"/>
                </a:solidFill>
                <a:effectLst/>
                <a:uFillTx/>
                <a:latin typeface="Times New Roman" panose="02020603050405020304"/>
                <a:ea typeface="Canva Sans Bold"/>
              </a:rPr>
              <a:t>EXISTING SOLUTION :</a:t>
            </a:r>
            <a:endParaRPr lang="en-US" sz="3600" b="1" u="none" strike="noStrike">
              <a:solidFill>
                <a:schemeClr val="dk1"/>
              </a:solidFill>
              <a:effectLst/>
              <a:uFillTx/>
              <a:latin typeface="Calibri Light" panose="020F0302020204030204"/>
            </a:endParaRPr>
          </a:p>
        </p:txBody>
      </p:sp>
      <p:sp>
        <p:nvSpPr>
          <p:cNvPr id="67" name="PlaceHolder 2"/>
          <p:cNvSpPr>
            <a:spLocks noGrp="1"/>
          </p:cNvSpPr>
          <p:nvPr>
            <p:ph/>
          </p:nvPr>
        </p:nvSpPr>
        <p:spPr>
          <a:xfrm>
            <a:off x="838080" y="1143000"/>
            <a:ext cx="10515240" cy="502920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suicide risk prediction systems primarily use BERT, MentalBERT, and deep learning models for detecting suicidal ideation.</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existing models provide only a risk score or classification without explaining why the prediction was made.</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systems function as black-box models, making it difficult for clinicians to trust and interpret the results.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Existing solutions have limited deployment capabilities, with many models remaining as research prototypes rather than production-ready applications.</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Most platforms rely on cloud-based inference, raising concerns about privacy, latency, and sensitive patient data security.</a:t>
            </a:r>
            <a:endParaRPr lang="en-US" sz="22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200" b="0" u="none" strike="noStrike">
                <a:solidFill>
                  <a:schemeClr val="dk1"/>
                </a:solidFill>
                <a:effectLst/>
                <a:uFillTx/>
                <a:latin typeface="Calibri" panose="020F0502020204030204"/>
              </a:rPr>
              <a:t>Current models have limited support for cross-platform deployment and are not optimized for efficient on-device inference</a:t>
            </a:r>
            <a:endParaRPr lang="en-US" sz="22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838080" y="228600"/>
            <a:ext cx="9188640" cy="2689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PROPOSED SOLUTION : </a:t>
            </a:r>
            <a:endParaRPr lang="en-US" sz="3200" b="0" u="none" strike="noStrike">
              <a:solidFill>
                <a:schemeClr val="dk1"/>
              </a:solidFill>
              <a:effectLst/>
              <a:uFillTx/>
              <a:latin typeface="Calibri Light" panose="020F0302020204030204"/>
            </a:endParaRPr>
          </a:p>
        </p:txBody>
      </p:sp>
      <p:sp>
        <p:nvSpPr>
          <p:cNvPr id="72" name="PlaceHolder 2"/>
          <p:cNvSpPr>
            <a:spLocks noGrp="1"/>
          </p:cNvSpPr>
          <p:nvPr>
            <p:ph/>
          </p:nvPr>
        </p:nvSpPr>
        <p:spPr>
          <a:xfrm>
            <a:off x="685800" y="685800"/>
            <a:ext cx="10983240" cy="5486400"/>
          </a:xfrm>
          <a:prstGeom prst="rect">
            <a:avLst/>
          </a:prstGeom>
          <a:noFill/>
          <a:ln w="0">
            <a:noFill/>
          </a:ln>
        </p:spPr>
        <p:txBody>
          <a:bodyPr lIns="91440" tIns="45720" rIns="91440" bIns="45720" anchor="t">
            <a:noAutofit/>
          </a:bodyPr>
          <a:p>
            <a:pPr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Develop a Suicide Risk Prediction System using fine-tuned BERT/MentalBERT models to accurately identify suicidal ideation from text.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Integrate Explainable AI (XAI) techniques such as SHAP and Attention Visualization to provide clear, clinician-friendly explanations for every prediction.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Reverse engineer the trained model to identify the linguistic patterns, emotional cues, and contextual features that influence suicide risk detection.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Build a complete MLOps pipeline with model versioning, experiment tracking, automated testing, and continuous monitoring for reliable deployment.</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Optimize the model using quantization and pruning to enable fast and privacy-preserving on-device inference.</a:t>
            </a:r>
            <a:endParaRPr lang="en-US" sz="2400" b="0" u="none" strike="noStrike">
              <a:solidFill>
                <a:schemeClr val="dk1"/>
              </a:solidFill>
              <a:effectLst/>
              <a:uFillTx/>
              <a:latin typeface="Calibri" panose="020F0502020204030204"/>
            </a:endParaRPr>
          </a:p>
          <a:p>
            <a:pPr indent="0" algn="just" defTabSz="914400">
              <a:lnSpc>
                <a:spcPct val="90000"/>
              </a:lnSpc>
              <a:spcBef>
                <a:spcPts val="1000"/>
              </a:spcBef>
              <a:buNone/>
              <a:tabLst>
                <a:tab pos="0" algn="l"/>
              </a:tabLst>
            </a:pPr>
            <a:endParaRPr lang="en-US" sz="2400" b="0" u="none" strike="noStrike">
              <a:solidFill>
                <a:schemeClr val="dk1"/>
              </a:solidFill>
              <a:effectLst/>
              <a:uFillTx/>
              <a:latin typeface="Calibri" panose="020F0502020204030204"/>
            </a:endParaRPr>
          </a:p>
        </p:txBody>
      </p:sp>
      <p:sp>
        <p:nvSpPr>
          <p:cNvPr id="73" name="PlaceHolder 3"/>
          <p:cNvSpPr>
            <a:spLocks noGrp="1"/>
          </p:cNvSpPr>
          <p:nvPr>
            <p:ph type="dt" idx="36"/>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Block Diagram</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95376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838080" y="365040"/>
            <a:ext cx="10515240" cy="444600"/>
          </a:xfrm>
          <a:prstGeom prst="rect">
            <a:avLst/>
          </a:prstGeom>
          <a:noFill/>
          <a:ln w="0">
            <a:noFill/>
          </a:ln>
        </p:spPr>
        <p:txBody>
          <a:bodyPr lIns="91440" tIns="45720" rIns="91440" bIns="45720" anchor="ctr">
            <a:normAutofit fontScale="85000" lnSpcReduction="9999"/>
          </a:bodyPr>
          <a:p>
            <a:pPr indent="0" algn="l" defTabSz="914400">
              <a:lnSpc>
                <a:spcPct val="90000"/>
              </a:lnSpc>
              <a:buNone/>
            </a:pPr>
            <a:r>
              <a:rPr lang="en-IN" sz="3200" b="1" u="none" strike="noStrike">
                <a:solidFill>
                  <a:srgbClr val="FF0000"/>
                </a:solidFill>
                <a:effectLst/>
                <a:uFillTx/>
                <a:latin typeface="Times New Roman" panose="02020603050405020304"/>
              </a:rPr>
              <a:t>Tools Used</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graphicFrame>
        <p:nvGraphicFramePr>
          <p:cNvPr id="77" name="Content Placeholder 7"/>
          <p:cNvGraphicFramePr/>
          <p:nvPr/>
        </p:nvGraphicFramePr>
        <p:xfrm>
          <a:off x="838080" y="996480"/>
          <a:ext cx="10515240" cy="4511880"/>
        </p:xfrm>
        <a:graphic>
          <a:graphicData uri="http://schemas.openxmlformats.org/drawingml/2006/table">
            <a:tbl>
              <a:tblPr/>
              <a:tblGrid>
                <a:gridCol w="2753640"/>
                <a:gridCol w="2503800"/>
                <a:gridCol w="2628720"/>
                <a:gridCol w="2628720"/>
              </a:tblGrid>
              <a:tr h="609480">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Category</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Tools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09480">
                <a:tc>
                  <a:txBody>
                    <a:bodyPr>
                      <a:spAutoFit/>
                    </a:bodyPr>
                    <a:p>
                      <a:pPr defTabSz="914400">
                        <a:lnSpc>
                          <a:spcPct val="100000"/>
                        </a:lnSpc>
                      </a:pPr>
                      <a:r>
                        <a:rPr lang="en-IN" sz="2400" b="1" u="none" strike="noStrike">
                          <a:solidFill>
                            <a:schemeClr val="dk1"/>
                          </a:solidFill>
                          <a:effectLst/>
                          <a:uFillTx/>
                          <a:latin typeface="Calibri" panose="020F0502020204030204"/>
                        </a:rPr>
                        <a:t>Programming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Python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1" u="none" strike="noStrike">
                          <a:solidFill>
                            <a:schemeClr val="dk1"/>
                          </a:solidFill>
                          <a:effectLst/>
                          <a:uFillTx/>
                          <a:latin typeface="Calibri" panose="020F0502020204030204"/>
                        </a:rPr>
                        <a:t>Container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Docker</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79040">
                <a:tc>
                  <a:txBody>
                    <a:bodyPr>
                      <a:spAutoFit/>
                    </a:bodyPr>
                    <a:p>
                      <a:pPr defTabSz="914400">
                        <a:lnSpc>
                          <a:spcPct val="100000"/>
                        </a:lnSpc>
                      </a:pPr>
                      <a:r>
                        <a:rPr lang="en-US" sz="2400" b="1" u="none" strike="noStrike">
                          <a:solidFill>
                            <a:schemeClr val="dk1"/>
                          </a:solidFill>
                          <a:effectLst/>
                          <a:uFillTx/>
                          <a:latin typeface="Calibri" panose="020F0502020204030204"/>
                        </a:rPr>
                        <a:t>ModelOptimization</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Quantization, Pruning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Target Platforms</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Windows, Linux</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IN" sz="2400" b="1" u="none" strike="noStrike">
                          <a:solidFill>
                            <a:schemeClr val="dk1"/>
                          </a:solidFill>
                          <a:effectLst/>
                          <a:uFillTx/>
                          <a:latin typeface="Calibri" panose="020F0502020204030204"/>
                        </a:rPr>
                        <a:t>Deep Learning</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IN" sz="2400" b="0" u="none" strike="noStrike">
                          <a:solidFill>
                            <a:schemeClr val="dk1"/>
                          </a:solidFill>
                          <a:effectLst/>
                          <a:uFillTx/>
                          <a:latin typeface="Calibri" panose="020F0502020204030204"/>
                        </a:rPr>
                        <a:t>PyTorch, PyTorch Geometric</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Deployment</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ONNX Runtime, TensorFlow Lite (TFLite)</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1066680">
                <a:tc>
                  <a:txBody>
                    <a:bodyPr>
                      <a:spAutoFit/>
                    </a:bodyPr>
                    <a:p>
                      <a:pPr defTabSz="914400">
                        <a:lnSpc>
                          <a:spcPct val="100000"/>
                        </a:lnSpc>
                      </a:pPr>
                      <a:r>
                        <a:rPr lang="en-US" sz="2400" b="1" u="none" strike="noStrike">
                          <a:solidFill>
                            <a:schemeClr val="dk1"/>
                          </a:solidFill>
                          <a:effectLst/>
                          <a:uFillTx/>
                          <a:latin typeface="Calibri" panose="020F0502020204030204"/>
                        </a:rPr>
                        <a:t>Explainable AI (XAI)</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SHAP, BertViz</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1" u="none" strike="noStrike">
                          <a:solidFill>
                            <a:schemeClr val="dk1"/>
                          </a:solidFill>
                          <a:effectLst/>
                          <a:uFillTx/>
                          <a:latin typeface="Calibri" panose="020F0502020204030204"/>
                        </a:rPr>
                        <a:t>MLOps Platform</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spAutoFit/>
                    </a:bodyPr>
                    <a:p>
                      <a:pPr defTabSz="914400">
                        <a:lnSpc>
                          <a:spcPct val="100000"/>
                        </a:lnSpc>
                      </a:pPr>
                      <a:r>
                        <a:rPr lang="en-US" sz="2400" b="0" u="none" strike="noStrike">
                          <a:solidFill>
                            <a:schemeClr val="dk1"/>
                          </a:solidFill>
                          <a:effectLst/>
                          <a:uFillTx/>
                          <a:latin typeface="Calibri" panose="020F0502020204030204"/>
                        </a:rPr>
                        <a:t>MLflow, Optuna</a:t>
                      </a:r>
                      <a:endParaRPr lang="en-US" sz="2400" b="0" u="none" strike="noStrike">
                        <a:solidFill>
                          <a:srgbClr val="000000"/>
                        </a:solidFill>
                        <a:effectLst/>
                        <a:uFillTx/>
                        <a:latin typeface="Arial" panose="020B0604020202020204"/>
                      </a:endParaRPr>
                    </a:p>
                  </a:txBody>
                  <a:tcPr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78790" y="138430"/>
            <a:ext cx="10514965" cy="386715"/>
          </a:xfrm>
        </p:spPr>
        <p:txBody>
          <a:bodyPr/>
          <a:p>
            <a:r>
              <a:rPr lang="en-US" sz="3200" b="1">
                <a:solidFill>
                  <a:srgbClr val="FF0000"/>
                </a:solidFill>
              </a:rPr>
              <a:t>LITERATURE ANALYSIS:</a:t>
            </a:r>
            <a:endParaRPr lang="en-US" sz="3200" b="1">
              <a:solidFill>
                <a:srgbClr val="FF0000"/>
              </a:solidFill>
            </a:endParaRPr>
          </a:p>
        </p:txBody>
      </p:sp>
      <p:graphicFrame>
        <p:nvGraphicFramePr>
          <p:cNvPr id="7" name="Table 6"/>
          <p:cNvGraphicFramePr/>
          <p:nvPr>
            <p:custDataLst>
              <p:tags r:id="rId1"/>
            </p:custDataLst>
          </p:nvPr>
        </p:nvGraphicFramePr>
        <p:xfrm>
          <a:off x="73025" y="622300"/>
          <a:ext cx="11915140" cy="6014720"/>
        </p:xfrm>
        <a:graphic>
          <a:graphicData uri="http://schemas.openxmlformats.org/drawingml/2006/table">
            <a:tbl>
              <a:tblPr firstRow="1" bandRow="1">
                <a:tableStyleId>{5C22544A-7EE6-4342-B048-85BDC9FD1C3A}</a:tableStyleId>
              </a:tblPr>
              <a:tblGrid>
                <a:gridCol w="2522855"/>
                <a:gridCol w="2148840"/>
                <a:gridCol w="2490470"/>
                <a:gridCol w="2377440"/>
                <a:gridCol w="2375535"/>
              </a:tblGrid>
              <a:tr h="271145">
                <a:tc>
                  <a:txBody>
                    <a:bodyPr/>
                    <a:p>
                      <a:r>
                        <a:rPr lang="en-US" altLang="zh-CN" sz="1100"/>
                        <a:t>Author &amp; Year</a:t>
                      </a:r>
                      <a:endParaRPr lang="en-US" altLang="zh-CN" sz="1100"/>
                    </a:p>
                  </a:txBody>
                  <a:tcPr marL="0" marR="0" marT="0" marB="0" anchor="ctr" anchorCtr="0"/>
                </a:tc>
                <a:tc>
                  <a:txBody>
                    <a:bodyPr/>
                    <a:p>
                      <a:r>
                        <a:rPr lang="en-US" altLang="zh-CN" sz="1100"/>
                        <a:t>Work Done</a:t>
                      </a:r>
                      <a:endParaRPr lang="en-US" altLang="zh-CN" sz="1100"/>
                    </a:p>
                  </a:txBody>
                  <a:tcPr marL="0" marR="0" marT="0" marB="0" anchor="ctr" anchorCtr="0"/>
                </a:tc>
                <a:tc>
                  <a:txBody>
                    <a:bodyPr/>
                    <a:p>
                      <a:r>
                        <a:rPr lang="en-US" altLang="zh-CN" sz="1100"/>
                        <a:t>Advantages</a:t>
                      </a:r>
                      <a:endParaRPr lang="en-US" altLang="zh-CN" sz="1100"/>
                    </a:p>
                  </a:txBody>
                  <a:tcPr marL="0" marR="0" marT="0" marB="0" anchor="ctr" anchorCtr="0"/>
                </a:tc>
                <a:tc>
                  <a:txBody>
                    <a:bodyPr/>
                    <a:p>
                      <a:r>
                        <a:rPr lang="en-US" altLang="zh-CN" sz="1100"/>
                        <a:t>Limitations</a:t>
                      </a:r>
                      <a:endParaRPr lang="en-US" altLang="zh-CN" sz="1100"/>
                    </a:p>
                  </a:txBody>
                  <a:tcPr marL="0" marR="0" marT="0" marB="0" anchor="ctr" anchorCtr="0"/>
                </a:tc>
                <a:tc>
                  <a:txBody>
                    <a:bodyPr/>
                    <a:p>
                      <a:r>
                        <a:rPr lang="en-US" altLang="zh-CN" sz="1100"/>
                        <a:t>Comparison with Our Solution</a:t>
                      </a:r>
                      <a:endParaRPr lang="en-US" altLang="zh-CN" sz="1100"/>
                    </a:p>
                  </a:txBody>
                  <a:tcPr marL="0" marR="0" marT="0" marB="0" anchor="ctr" anchorCtr="0"/>
                </a:tc>
              </a:tr>
              <a:tr h="1645920">
                <a:tc>
                  <a:txBody>
                    <a:bodyPr/>
                    <a:p>
                      <a:pPr>
                        <a:buNone/>
                      </a:pPr>
                      <a:r>
                        <a:rPr lang="en-US" altLang="en-US" sz="1800">
                          <a:sym typeface="+mn-ea"/>
                        </a:rPr>
                        <a:t>Pascal Penava et al.</a:t>
                      </a:r>
                      <a:endParaRPr lang="en-US" altLang="en-US" sz="1800"/>
                    </a:p>
                    <a:p>
                      <a:pPr>
                        <a:buNone/>
                      </a:pPr>
                      <a:r>
                        <a:rPr altLang="en-US" sz="1800">
                          <a:sym typeface="+mn-ea"/>
                        </a:rPr>
                        <a:t>(https://ieeexplore.ieee.org/document/10757418). </a:t>
                      </a:r>
                      <a:r>
                        <a:rPr lang="en-US" altLang="en-US" sz="1800">
                          <a:sym typeface="+mn-ea"/>
                        </a:rPr>
                        <a:t>Journals &amp; Magazines, IEEE Access, Volume: 12, 2024</a:t>
                      </a:r>
                      <a:endParaRPr lang="en-US" altLang="zh-CN" sz="1100"/>
                    </a:p>
                  </a:txBody>
                  <a:tcPr marL="0" marR="0" marT="0" marB="0" anchor="ctr" anchorCtr="0"/>
                </a:tc>
                <a:tc>
                  <a:txBody>
                    <a:bodyPr/>
                    <a:p>
                      <a:r>
                        <a:rPr lang="en-US" altLang="en-US" sz="1800"/>
                        <a:t>1D CNN on resting-state EEG for early mild depression detection</a:t>
                      </a:r>
                      <a:endParaRPr lang="en-US" altLang="en-US" sz="1800"/>
                    </a:p>
                  </a:txBody>
                  <a:tcPr marL="0" marR="0" marT="0" marB="0" anchor="ctr" anchorCtr="0"/>
                </a:tc>
                <a:tc>
                  <a:txBody>
                    <a:bodyPr/>
                    <a:p>
                      <a:r>
                        <a:rPr lang="en-US" altLang="en-US" sz="2000"/>
                        <a:t>Good accuracy (69.21%), low computational cost &amp; fast inference</a:t>
                      </a:r>
                      <a:endParaRPr lang="en-US" altLang="en-US" sz="2000"/>
                    </a:p>
                  </a:txBody>
                  <a:tcPr marL="0" marR="0" marT="0" marB="0" anchor="ctr" anchorCtr="0"/>
                </a:tc>
                <a:tc>
                  <a:txBody>
                    <a:bodyPr/>
                    <a:p>
                      <a:r>
                        <a:rPr lang="en-US" altLang="en-US" sz="1800"/>
                        <a:t>EEG-only (requires hardware); no explainability; limited to depression, not suicide risk; no deployment/privacy</a:t>
                      </a:r>
                      <a:endParaRPr lang="en-US" altLang="en-US" sz="1800"/>
                    </a:p>
                  </a:txBody>
                  <a:tcPr marL="0" marR="0" marT="0" marB="0" anchor="ctr" anchorCtr="0"/>
                </a:tc>
                <a:tc>
                  <a:txBody>
                    <a:bodyPr/>
                    <a:p>
                      <a:r>
                        <a:rPr lang="en-US" altLang="zh-CN" sz="1800"/>
                        <a:t>Our text-based approach + XAI (SHAP &amp; Attention) + MLOps + on-device DPDP compliance is more accessible &amp; practical</a:t>
                      </a:r>
                      <a:endParaRPr lang="en-US" altLang="zh-CN" sz="1800"/>
                    </a:p>
                  </a:txBody>
                  <a:tcPr marL="0" marR="0" marT="0" marB="0" anchor="ctr" anchorCtr="0"/>
                </a:tc>
              </a:tr>
              <a:tr h="1415415">
                <a:tc>
                  <a:txBody>
                    <a:bodyPr/>
                    <a:p>
                      <a:pPr>
                        <a:buNone/>
                      </a:pPr>
                      <a:r>
                        <a:rPr lang="en-US" altLang="en-US" sz="1600">
                          <a:sym typeface="+mn-ea"/>
                        </a:rPr>
                        <a:t>Hao Tang et al</a:t>
                      </a:r>
                      <a:endParaRPr lang="en-US" altLang="en-US" sz="1600"/>
                    </a:p>
                    <a:p>
                      <a:pPr>
                        <a:buNone/>
                      </a:pPr>
                      <a:r>
                        <a:rPr lang="en-IN" sz="1600" i="1" dirty="0" err="1">
                          <a:sym typeface="+mn-ea"/>
                        </a:rPr>
                        <a:t>arXiv</a:t>
                      </a:r>
                      <a:r>
                        <a:rPr lang="en-IN" sz="1600" i="1" dirty="0">
                          <a:sym typeface="+mn-ea"/>
                        </a:rPr>
                        <a:t> preprint arXiv:2508.1</a:t>
                      </a:r>
                      <a:r>
                        <a:rPr altLang="en-IN" sz="1600" i="1" dirty="0">
                          <a:sym typeface="+mn-ea"/>
                        </a:rPr>
                        <a:t>12</a:t>
                      </a:r>
                      <a:r>
                        <a:rPr lang="en-IN" sz="1600" i="1" dirty="0">
                          <a:sym typeface="+mn-ea"/>
                        </a:rPr>
                        <a:t>65</a:t>
                      </a:r>
                      <a:r>
                        <a:rPr lang="en-IN" sz="1600" dirty="0">
                          <a:sym typeface="+mn-ea"/>
                        </a:rPr>
                        <a:t>, </a:t>
                      </a:r>
                      <a:r>
                        <a:rPr lang="en-IN" sz="1600" b="1" dirty="0">
                          <a:sym typeface="+mn-ea"/>
                        </a:rPr>
                        <a:t>202</a:t>
                      </a:r>
                      <a:r>
                        <a:rPr lang="en-US" altLang="en-IN" sz="1600" b="1" dirty="0">
                          <a:sym typeface="+mn-ea"/>
                        </a:rPr>
                        <a:t>3.</a:t>
                      </a:r>
                      <a:endParaRPr lang="en-US" altLang="en-IN" sz="1600" b="1" dirty="0">
                        <a:sym typeface="+mn-ea"/>
                      </a:endParaRPr>
                    </a:p>
                  </a:txBody>
                  <a:tcPr marL="0" marR="0" marT="0" marB="0" anchor="ctr" anchorCtr="0"/>
                </a:tc>
                <a:tc>
                  <a:txBody>
                    <a:bodyPr/>
                    <a:p>
                      <a:r>
                        <a:rPr lang="en-US" altLang="zh-CN" sz="1600"/>
                        <a:t>XGBoost + SHAP for identifying key features in suicide risk prediction</a:t>
                      </a:r>
                      <a:endParaRPr lang="en-US" altLang="zh-CN" sz="1600"/>
                    </a:p>
                  </a:txBody>
                  <a:tcPr marL="0" marR="0" marT="0" marB="0" anchor="ctr" anchorCtr="0"/>
                </a:tc>
                <a:tc>
                  <a:txBody>
                    <a:bodyPr/>
                    <a:p>
                      <a:r>
                        <a:rPr lang="en-US" altLang="zh-CN" sz="1600"/>
                        <a:t>Interpretable results using SHAP; clinician-friendly feature importance</a:t>
                      </a:r>
                      <a:endParaRPr lang="en-US" altLang="zh-CN" sz="1600"/>
                    </a:p>
                  </a:txBody>
                  <a:tcPr marL="0" marR="0" marT="0" marB="0" anchor="ctr" anchorCtr="0"/>
                </a:tc>
                <a:tc>
                  <a:txBody>
                    <a:bodyPr/>
                    <a:p>
                      <a:r>
                        <a:rPr lang="en-US" altLang="zh-CN" sz="1600"/>
                        <a:t>Traditional ML (weaker on complex text); limited scalability &amp; deployment</a:t>
                      </a:r>
                      <a:endParaRPr lang="en-US" altLang="zh-CN" sz="1600"/>
                    </a:p>
                  </a:txBody>
                  <a:tcPr marL="0" marR="0" marT="0" marB="0" anchor="ctr" anchorCtr="0"/>
                </a:tc>
                <a:tc>
                  <a:txBody>
                    <a:bodyPr/>
                    <a:p>
                      <a:r>
                        <a:rPr lang="en-US" altLang="zh-CN" sz="1400"/>
                        <a:t>Advanced with fine-tuned BERT/MentalBERT + multiple XAI methods + complete MLOps + efficient on-device optimization under DPDP</a:t>
                      </a:r>
                      <a:endParaRPr lang="en-US" altLang="zh-CN" sz="1400"/>
                    </a:p>
                  </a:txBody>
                  <a:tcPr marL="0" marR="0" marT="0" marB="0" anchor="ctr" anchorCtr="0"/>
                </a:tc>
              </a:tr>
              <a:tr h="1706880">
                <a:tc>
                  <a:txBody>
                    <a:bodyPr/>
                    <a:p>
                      <a:pPr>
                        <a:buNone/>
                      </a:pPr>
                      <a:r>
                        <a:rPr lang="en-US" altLang="en-US" sz="1600">
                          <a:sym typeface="+mn-ea"/>
                        </a:rPr>
                        <a:t>Shaoxiong Ji et al.</a:t>
                      </a:r>
                      <a:r>
                        <a:rPr lang="en-US" altLang="en-US" sz="1600">
                          <a:effectLst/>
                          <a:uFillTx/>
                          <a:latin typeface="Calibri" panose="020F0502020204030204"/>
                          <a:sym typeface="+mn-ea"/>
                        </a:rPr>
                        <a:t>IEEE Access, vol. 10, pp. 16756-16781, 2022</a:t>
                      </a:r>
                      <a:endParaRPr lang="en-US" altLang="zh-CN" sz="1600"/>
                    </a:p>
                    <a:p>
                      <a:pPr>
                        <a:buNone/>
                      </a:pPr>
                      <a:endParaRPr lang="en-US" altLang="en-US" sz="1600"/>
                    </a:p>
                    <a:p>
                      <a:pPr>
                        <a:buNone/>
                      </a:pPr>
                      <a:endParaRPr lang="en-US" altLang="en-US" sz="1600"/>
                    </a:p>
                  </a:txBody>
                  <a:tcPr marL="0" marR="0" marT="0" marB="0" anchor="ctr" anchorCtr="0"/>
                </a:tc>
                <a:tc>
                  <a:txBody>
                    <a:bodyPr/>
                    <a:p>
                      <a:r>
                        <a:rPr lang="en-US" altLang="en-US" sz="1600"/>
                        <a:t>Pretrained MentalBERT + fine-tuning on mental health text for depression, anxiety &amp; suicidal ideation</a:t>
                      </a:r>
                      <a:endParaRPr lang="en-US" altLang="en-US" sz="1600"/>
                    </a:p>
                  </a:txBody>
                  <a:tcPr marL="0" marR="0" marT="0" marB="0" anchor="ctr" anchorCtr="0"/>
                </a:tc>
                <a:tc>
                  <a:txBody>
                    <a:bodyPr/>
                    <a:p>
                      <a:r>
                        <a:rPr lang="en-US" altLang="en-US" sz="1600"/>
                        <a:t>Strong domain-specific performance on text data</a:t>
                      </a:r>
                      <a:endParaRPr lang="en-US" altLang="en-US" sz="1600"/>
                    </a:p>
                  </a:txBody>
                  <a:tcPr marL="0" marR="0" marT="0" marB="0" anchor="ctr" anchorCtr="0"/>
                </a:tc>
                <a:tc>
                  <a:txBody>
                    <a:bodyPr/>
                    <a:p>
                      <a:r>
                        <a:rPr lang="en-US" altLang="en-US" sz="1600"/>
                        <a:t>Black-box model; no explainability; limited clinical validation &amp; deployment focus</a:t>
                      </a:r>
                      <a:endParaRPr lang="en-US" altLang="en-US" sz="1600"/>
                    </a:p>
                  </a:txBody>
                  <a:tcPr marL="0" marR="0" marT="0" marB="0" anchor="ctr" anchorCtr="0"/>
                </a:tc>
                <a:tc>
                  <a:txBody>
                    <a:bodyPr/>
                    <a:p>
                      <a:r>
                        <a:rPr lang="en-US" altLang="en-US" sz="1600"/>
                        <a:t>Builds directly on MentalBERT + adds SHAP, Attention Visualization, reverse engineering, MLOps pipeline &amp; strong privacy design</a:t>
                      </a:r>
                      <a:endParaRPr lang="en-US" altLang="en-US" sz="1600"/>
                    </a:p>
                  </a:txBody>
                  <a:tcPr marL="0" marR="0" marT="0" marB="0" anchor="ctr" anchorCtr="0"/>
                </a:tc>
              </a:tr>
              <a:tr h="975360">
                <a:tc>
                  <a:txBody>
                    <a:bodyPr/>
                    <a:p>
                      <a:r>
                        <a:rPr lang="en-US" altLang="en-US" sz="1600"/>
                        <a:t>Matthew Matero et al.</a:t>
                      </a:r>
                      <a:endParaRPr lang="en-US" altLang="en-US" sz="1600"/>
                    </a:p>
                    <a:p>
                      <a:r>
                        <a:rPr lang="en-US" altLang="en-US" sz="1600"/>
                        <a:t>(arXiv preprint arXiv:1611.09940, 2019)</a:t>
                      </a:r>
                      <a:endParaRPr lang="en-US" altLang="en-US" sz="1600"/>
                    </a:p>
                  </a:txBody>
                  <a:tcPr marL="0" marR="0" marT="0" marB="0" anchor="ctr" anchorCtr="0"/>
                </a:tc>
                <a:tc>
                  <a:txBody>
                    <a:bodyPr/>
                    <a:p>
                      <a:r>
                        <a:rPr lang="en-US" altLang="en-US" sz="1600"/>
                        <a:t>Dual-context BERT framework using post content + user history for suicide risk</a:t>
                      </a:r>
                      <a:endParaRPr lang="en-US" altLang="en-US" sz="1600"/>
                    </a:p>
                  </a:txBody>
                  <a:tcPr marL="0" marR="0" marT="0" marB="0" anchor="ctr" anchorCtr="0"/>
                </a:tc>
                <a:tc>
                  <a:txBody>
                    <a:bodyPr/>
                    <a:p>
                      <a:r>
                        <a:rPr lang="en-US" altLang="en-US" sz="1600"/>
                        <a:t>Captures longitudinal behavior for better contex</a:t>
                      </a:r>
                      <a:endParaRPr lang="en-US" altLang="en-US" sz="1600"/>
                    </a:p>
                  </a:txBody>
                  <a:tcPr marL="0" marR="0" marT="0" marB="0" anchor="ctr" anchorCtr="0"/>
                </a:tc>
                <a:tc>
                  <a:txBody>
                    <a:bodyPr/>
                    <a:p>
                      <a:r>
                        <a:rPr lang="en-US" altLang="en-US" sz="1600"/>
                        <a:t>Black-box; limited interpretability &amp; deployment strategy</a:t>
                      </a:r>
                      <a:endParaRPr lang="en-US" altLang="en-US" sz="1600"/>
                    </a:p>
                  </a:txBody>
                  <a:tcPr marL="0" marR="0" marT="0" marB="0" anchor="ctr" anchorCtr="0"/>
                </a:tc>
                <a:tc>
                  <a:txBody>
                    <a:bodyPr/>
                    <a:p>
                      <a:r>
                        <a:rPr lang="en-US" altLang="en-US" sz="1400"/>
                        <a:t>Enhanced with modern XAI techniques, full MLOps, and privacy-preserving on-device inference</a:t>
                      </a:r>
                      <a:endParaRPr lang="en-US" altLang="en-US" sz="1400"/>
                    </a:p>
                  </a:txBody>
                  <a:tcPr marL="0" marR="0" marT="0" marB="0" anchor="ctr" anchorCtr="0"/>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0" y="0"/>
            <a:ext cx="7948440" cy="80532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Research Limitations</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sp>
        <p:nvSpPr>
          <p:cNvPr id="81" name="PlaceHolder 2"/>
          <p:cNvSpPr>
            <a:spLocks noGrp="1"/>
          </p:cNvSpPr>
          <p:nvPr>
            <p:ph/>
          </p:nvPr>
        </p:nvSpPr>
        <p:spPr>
          <a:xfrm>
            <a:off x="457200" y="685800"/>
            <a:ext cx="10515240" cy="5722560"/>
          </a:xfrm>
          <a:prstGeom prst="rect">
            <a:avLst/>
          </a:prstGeom>
          <a:noFill/>
          <a:ln w="0">
            <a:noFill/>
          </a:ln>
        </p:spPr>
        <p:txBody>
          <a:bodyPr lIns="91440" tIns="45720" rIns="91440" bIns="45720" anchor="t">
            <a:noAutofit/>
          </a:bodyPr>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Dataset Diversity – Most publicly available datasets are collected from social media platforms (e.g., Reddit), which may not represent all demographic and clinical populations.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Black-Box Nature of Deep Learning Models – Although explainability techniques are used, they may not fully capture the complete reasoning behind model predictions.</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Limited Clinical Validation – The system requires extensive evaluation and feedback from mental health professionals before real-world clinical adoption.</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Language Dependency – The current model is primarily trained on English text and may not generalize well to other languages without retraining.</a:t>
            </a:r>
            <a:endParaRPr lang="en-US" sz="2400" b="0" u="none" strike="noStrike">
              <a:solidFill>
                <a:schemeClr val="dk1"/>
              </a:solidFill>
              <a:effectLst/>
              <a:uFillTx/>
              <a:latin typeface="Calibri" panose="020F0502020204030204"/>
            </a:endParaRPr>
          </a:p>
          <a:p>
            <a:pPr marL="228600" indent="-228600" algn="just" defTabSz="914400">
              <a:lnSpc>
                <a:spcPct val="90000"/>
              </a:lnSpc>
              <a:spcBef>
                <a:spcPts val="1000"/>
              </a:spcBef>
              <a:buClr>
                <a:srgbClr val="000000"/>
              </a:buClr>
              <a:buFont typeface="Arial" panose="020B0604020202020204"/>
              <a:buChar char="•"/>
            </a:pPr>
            <a:r>
              <a:rPr lang="en-US" sz="2400" b="0" u="none" strike="noStrike">
                <a:solidFill>
                  <a:schemeClr val="dk1"/>
                </a:solidFill>
                <a:effectLst/>
                <a:uFillTx/>
                <a:latin typeface="Calibri" panose="020F0502020204030204"/>
              </a:rPr>
              <a:t>Risk of Prediction Errors – False positives and false negatives may occur, making the model unsuitable as the sole basis for clinical decision-making.</a:t>
            </a:r>
            <a:endParaRPr lang="en-US" sz="2400" b="0" u="none" strike="noStrike">
              <a:solidFill>
                <a:schemeClr val="dk1"/>
              </a:solidFill>
              <a:effectLst/>
              <a:uFillTx/>
              <a:latin typeface="Calibri" panose="020F0502020204030204"/>
            </a:endParaRPr>
          </a:p>
        </p:txBody>
      </p:sp>
      <p:sp>
        <p:nvSpPr>
          <p:cNvPr id="82" name="PlaceHolder 3"/>
          <p:cNvSpPr>
            <a:spLocks noGrp="1"/>
          </p:cNvSpPr>
          <p:nvPr>
            <p:ph type="dt" idx="37"/>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
        <p:nvSpPr>
          <p:cNvPr id="83" name="Text Box 4"/>
          <p:cNvSpPr/>
          <p:nvPr/>
        </p:nvSpPr>
        <p:spPr>
          <a:xfrm>
            <a:off x="5605200" y="703080"/>
            <a:ext cx="4063680" cy="3679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spAutoFit/>
          </a:bodyPr>
          <a:p>
            <a:endParaRPr lang="en-US" sz="18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838080" y="365040"/>
            <a:ext cx="10515240" cy="72972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References:</a:t>
            </a:r>
            <a:endParaRPr lang="en-US" sz="3600" b="0" u="none" strike="noStrike">
              <a:solidFill>
                <a:schemeClr val="dk1"/>
              </a:solidFill>
              <a:effectLst/>
              <a:uFillTx/>
              <a:latin typeface="Calibri Light" panose="020F0302020204030204"/>
            </a:endParaRPr>
          </a:p>
        </p:txBody>
      </p:sp>
      <p:sp>
        <p:nvSpPr>
          <p:cNvPr id="85" name="PlaceHolder 2"/>
          <p:cNvSpPr>
            <a:spLocks noGrp="1"/>
          </p:cNvSpPr>
          <p:nvPr>
            <p:ph/>
          </p:nvPr>
        </p:nvSpPr>
        <p:spPr>
          <a:xfrm>
            <a:off x="838080" y="1002600"/>
            <a:ext cx="10515240" cy="4696560"/>
          </a:xfrm>
          <a:prstGeom prst="rect">
            <a:avLst/>
          </a:prstGeom>
          <a:noFill/>
          <a:ln w="0">
            <a:noFill/>
          </a:ln>
        </p:spPr>
        <p:txBody>
          <a:bodyPr lIns="91440" tIns="45720" rIns="91440" bIns="45720" anchor="t">
            <a:normAutofit fontScale="80000"/>
          </a:bodyPr>
          <a:p>
            <a:pPr marL="228600" indent="-228600" algn="just" defTabSz="914400">
              <a:lnSpc>
                <a:spcPct val="90000"/>
              </a:lnSpc>
              <a:spcBef>
                <a:spcPts val="1000"/>
              </a:spcBef>
              <a:buClr>
                <a:srgbClr val="000000"/>
              </a:buClr>
              <a:buFont typeface="Arial" panose="020B0604020202020204"/>
              <a:buChar char="•"/>
            </a:pPr>
            <a:r>
              <a:rPr lang="en-US" sz="2400" b="1" u="none" strike="noStrike">
                <a:solidFill>
                  <a:schemeClr val="dk1"/>
                </a:solidFill>
                <a:effectLst/>
                <a:uFillTx/>
                <a:latin typeface="Calibri" panose="020F0502020204030204"/>
              </a:rPr>
              <a:t>[1]Pascal Penava et al</a:t>
            </a:r>
            <a:r>
              <a:rPr lang="en-US" sz="2400" b="0" u="none" strike="noStrike">
                <a:solidFill>
                  <a:schemeClr val="dk1"/>
                </a:solidFill>
                <a:effectLst/>
                <a:uFillTx/>
                <a:latin typeface="Calibri" panose="020F0502020204030204"/>
              </a:rPr>
              <a:t>.(2025)—Early-Stage Non-Severe Depression Detection Using a Novel CNNApproach on Resting-State EEG Data(2024)— IEEE.</a:t>
            </a:r>
            <a:r>
              <a:rPr altLang="en-US" sz="2400">
                <a:sym typeface="+mn-ea"/>
              </a:rPr>
              <a:t> (https://ieeexplore.ieee.org/document/10757418). </a:t>
            </a:r>
            <a:r>
              <a:rPr lang="en-US" altLang="en-US" sz="2400">
                <a:sym typeface="+mn-ea"/>
              </a:rPr>
              <a:t>Journals &amp; Magazines, IEEE Access, Volume: 12</a:t>
            </a:r>
            <a:endParaRPr lang="en-US" altLang="en-US" sz="240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2</a:t>
            </a:r>
            <a:r>
              <a:rPr lang="en-IN" sz="2400" b="1" dirty="0">
                <a:sym typeface="+mn-ea"/>
              </a:rPr>
              <a:t>]</a:t>
            </a:r>
            <a:r>
              <a:rPr lang="en-IN" sz="2400" dirty="0">
                <a:sym typeface="+mn-ea"/>
              </a:rPr>
              <a:t> </a:t>
            </a:r>
            <a:r>
              <a:rPr lang="en-IN" sz="2400" b="1" dirty="0">
                <a:sym typeface="+mn-ea"/>
              </a:rPr>
              <a:t>A. Vázquez-Rodríguez</a:t>
            </a:r>
            <a:r>
              <a:rPr lang="en-IN" sz="2400" dirty="0">
                <a:sym typeface="+mn-ea"/>
              </a:rPr>
              <a:t>, J. L. Hernández-Ramos, A. J. Jara, and A. F. </a:t>
            </a:r>
            <a:r>
              <a:rPr lang="en-IN" sz="2400" dirty="0" err="1">
                <a:sym typeface="+mn-ea"/>
              </a:rPr>
              <a:t>Skarmeta</a:t>
            </a:r>
            <a:r>
              <a:rPr lang="en-IN" sz="2400" dirty="0">
                <a:sym typeface="+mn-ea"/>
              </a:rPr>
              <a:t>, </a:t>
            </a:r>
            <a:r>
              <a:rPr lang="en-IN" sz="2400" b="1" dirty="0">
                <a:sym typeface="+mn-ea"/>
              </a:rPr>
              <a:t>"CNFP: Optimizing </a:t>
            </a:r>
            <a:r>
              <a:rPr altLang="en-IN" sz="2400" b="1" dirty="0">
                <a:sym typeface="+mn-ea"/>
              </a:rPr>
              <a:t>backend</a:t>
            </a:r>
            <a:r>
              <a:rPr lang="en-IN" sz="2400" b="1" dirty="0">
                <a:sym typeface="+mn-ea"/>
              </a:rPr>
              <a:t>-Native </a:t>
            </a:r>
            <a:r>
              <a:rPr altLang="en-IN" sz="2400" b="1" dirty="0">
                <a:sym typeface="+mn-ea"/>
              </a:rPr>
              <a:t>quantisation </a:t>
            </a:r>
            <a:r>
              <a:rPr lang="en-IN" sz="2400" b="1" dirty="0">
                <a:sym typeface="+mn-ea"/>
              </a:rPr>
              <a:t> Function Placement with Diffusion Models </a:t>
            </a:r>
            <a:r>
              <a:rPr altLang="en-IN" sz="2400" b="1" dirty="0">
                <a:sym typeface="+mn-ea"/>
              </a:rPr>
              <a:t>with proper optimisation</a:t>
            </a:r>
            <a:r>
              <a:rPr lang="en-IN" sz="2400" b="1" dirty="0">
                <a:sym typeface="+mn-ea"/>
              </a:rPr>
              <a:t>,"</a:t>
            </a:r>
            <a:r>
              <a:rPr lang="en-IN" sz="2400" dirty="0">
                <a:sym typeface="+mn-ea"/>
              </a:rPr>
              <a:t> </a:t>
            </a:r>
            <a:r>
              <a:rPr lang="en-IN" sz="2400" i="1" dirty="0" err="1">
                <a:sym typeface="+mn-ea"/>
              </a:rPr>
              <a:t>arXiv</a:t>
            </a:r>
            <a:r>
              <a:rPr lang="en-IN" sz="2400" i="1" dirty="0">
                <a:sym typeface="+mn-ea"/>
              </a:rPr>
              <a:t> preprint arXiv:2508.1</a:t>
            </a:r>
            <a:r>
              <a:rPr altLang="en-IN" sz="2400" i="1" dirty="0">
                <a:sym typeface="+mn-ea"/>
              </a:rPr>
              <a:t>12</a:t>
            </a:r>
            <a:r>
              <a:rPr lang="en-IN" sz="2400" i="1" dirty="0">
                <a:sym typeface="+mn-ea"/>
              </a:rPr>
              <a:t>65</a:t>
            </a:r>
            <a:r>
              <a:rPr lang="en-IN" sz="2400" dirty="0">
                <a:sym typeface="+mn-ea"/>
              </a:rPr>
              <a:t>, </a:t>
            </a:r>
            <a:r>
              <a:rPr lang="en-IN" sz="2400" b="1" dirty="0">
                <a:sym typeface="+mn-ea"/>
              </a:rPr>
              <a:t>202</a:t>
            </a:r>
            <a:r>
              <a:rPr altLang="en-IN" sz="2400" b="1" dirty="0">
                <a:sym typeface="+mn-ea"/>
              </a:rPr>
              <a:t>4</a:t>
            </a:r>
            <a:r>
              <a:rPr lang="en-IN" sz="2400" dirty="0">
                <a:sym typeface="+mn-ea"/>
              </a:rPr>
              <a:t>.</a:t>
            </a:r>
            <a:endParaRPr lang="en-IN" sz="2400" dirty="0"/>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a:t>
            </a:r>
            <a:r>
              <a:rPr altLang="en-IN" sz="2400" b="1" dirty="0">
                <a:sym typeface="+mn-ea"/>
              </a:rPr>
              <a:t>3</a:t>
            </a:r>
            <a:r>
              <a:rPr lang="en-IN" sz="2400" b="1" dirty="0">
                <a:sym typeface="+mn-ea"/>
              </a:rPr>
              <a:t>]</a:t>
            </a:r>
            <a:r>
              <a:rPr lang="en-IN" sz="2400" dirty="0">
                <a:sym typeface="+mn-ea"/>
              </a:rPr>
              <a:t> </a:t>
            </a:r>
            <a:r>
              <a:rPr lang="en-IN" sz="2400" b="1" dirty="0">
                <a:sym typeface="+mn-ea"/>
              </a:rPr>
              <a:t>W. L. Hamilton</a:t>
            </a:r>
            <a:r>
              <a:rPr lang="en-IN" sz="2400" dirty="0">
                <a:sym typeface="+mn-ea"/>
              </a:rPr>
              <a:t>, R. Ying, and J. Leskovec, </a:t>
            </a:r>
            <a:r>
              <a:rPr lang="en-IN" sz="2400" b="1" dirty="0">
                <a:sym typeface="+mn-ea"/>
              </a:rPr>
              <a:t>"Inductive Re</a:t>
            </a:r>
            <a:r>
              <a:rPr altLang="en-IN" sz="2400" b="1" dirty="0">
                <a:sym typeface="+mn-ea"/>
              </a:rPr>
              <a:t>currence </a:t>
            </a:r>
            <a:r>
              <a:rPr lang="en-IN" sz="2400" b="1" dirty="0">
                <a:sym typeface="+mn-ea"/>
              </a:rPr>
              <a:t>Learning on </a:t>
            </a:r>
            <a:r>
              <a:rPr altLang="en-IN" sz="2400" b="1" dirty="0">
                <a:sym typeface="+mn-ea"/>
              </a:rPr>
              <a:t>Mental Health</a:t>
            </a:r>
            <a:r>
              <a:rPr lang="en-IN" sz="2400" b="1" dirty="0">
                <a:sym typeface="+mn-ea"/>
              </a:rPr>
              <a:t>,"</a:t>
            </a:r>
            <a:r>
              <a:rPr lang="en-IN" sz="2400" dirty="0">
                <a:sym typeface="+mn-ea"/>
              </a:rPr>
              <a:t> </a:t>
            </a:r>
            <a:r>
              <a:rPr lang="en-IN" sz="2400" i="1" dirty="0">
                <a:sym typeface="+mn-ea"/>
              </a:rPr>
              <a:t>Advances in </a:t>
            </a:r>
            <a:r>
              <a:rPr altLang="en-IN" sz="2400" i="1" dirty="0">
                <a:sym typeface="+mn-ea"/>
              </a:rPr>
              <a:t>MLOps </a:t>
            </a:r>
            <a:r>
              <a:rPr lang="en-IN" sz="2400" i="1" dirty="0">
                <a:sym typeface="+mn-ea"/>
              </a:rPr>
              <a:t> (</a:t>
            </a:r>
            <a:r>
              <a:rPr altLang="en-IN" sz="2400" i="1" dirty="0">
                <a:sym typeface="+mn-ea"/>
              </a:rPr>
              <a:t>Algorithms</a:t>
            </a:r>
            <a:r>
              <a:rPr lang="en-IN" sz="2400" i="1" dirty="0">
                <a:sym typeface="+mn-ea"/>
              </a:rPr>
              <a:t>)</a:t>
            </a:r>
            <a:r>
              <a:rPr lang="en-IN" sz="2400" dirty="0">
                <a:sym typeface="+mn-ea"/>
              </a:rPr>
              <a:t>, </a:t>
            </a:r>
            <a:r>
              <a:rPr lang="en-IN" sz="2400" b="1" dirty="0">
                <a:sym typeface="+mn-ea"/>
              </a:rPr>
              <a:t>Vol. 30</a:t>
            </a:r>
            <a:r>
              <a:rPr lang="en-IN" sz="2400" dirty="0">
                <a:sym typeface="+mn-ea"/>
              </a:rPr>
              <a:t>, </a:t>
            </a:r>
            <a:r>
              <a:rPr lang="en-IN" sz="2400" b="1" dirty="0">
                <a:sym typeface="+mn-ea"/>
              </a:rPr>
              <a:t>20</a:t>
            </a:r>
            <a:r>
              <a:rPr altLang="en-IN" sz="2400" b="1" dirty="0">
                <a:sym typeface="+mn-ea"/>
              </a:rPr>
              <a:t>23</a:t>
            </a:r>
            <a:r>
              <a:rPr lang="en-IN" sz="2400" dirty="0">
                <a:sym typeface="+mn-ea"/>
              </a:rPr>
              <a:t>.</a:t>
            </a:r>
            <a:endParaRPr lang="en-IN" sz="2400" dirty="0">
              <a:sym typeface="+mn-ea"/>
            </a:endParaRPr>
          </a:p>
          <a:p>
            <a:pPr marL="228600" indent="-228600" algn="just" defTabSz="914400">
              <a:lnSpc>
                <a:spcPct val="90000"/>
              </a:lnSpc>
              <a:spcBef>
                <a:spcPts val="1000"/>
              </a:spcBef>
              <a:buClr>
                <a:srgbClr val="000000"/>
              </a:buClr>
              <a:buFont typeface="Arial" panose="020B0604020202020204"/>
              <a:buChar char="•"/>
            </a:pPr>
            <a:r>
              <a:rPr lang="en-IN" sz="2400" b="1" dirty="0">
                <a:sym typeface="+mn-ea"/>
              </a:rPr>
              <a:t>[4]</a:t>
            </a:r>
            <a:r>
              <a:rPr lang="en-IN" sz="2400" dirty="0">
                <a:sym typeface="+mn-ea"/>
              </a:rPr>
              <a:t> </a:t>
            </a:r>
            <a:r>
              <a:rPr lang="en-IN" sz="2400" b="1" dirty="0">
                <a:sym typeface="+mn-ea"/>
              </a:rPr>
              <a:t>I. Bello</a:t>
            </a:r>
            <a:r>
              <a:rPr lang="en-IN" sz="2400" dirty="0">
                <a:sym typeface="+mn-ea"/>
              </a:rPr>
              <a:t>, H. Pham, Q. V. Le, M. Norouzi, and S. Bengio, </a:t>
            </a:r>
            <a:r>
              <a:rPr lang="en-IN" sz="2400" b="1" dirty="0">
                <a:sym typeface="+mn-ea"/>
              </a:rPr>
              <a:t>"Neural Combinatorial Optimization with Reinforcement Learning,"</a:t>
            </a:r>
            <a:r>
              <a:rPr lang="en-IN" sz="2400" dirty="0">
                <a:sym typeface="+mn-ea"/>
              </a:rPr>
              <a:t> </a:t>
            </a:r>
            <a:r>
              <a:rPr lang="en-IN" sz="2400" i="1" dirty="0" err="1">
                <a:sym typeface="+mn-ea"/>
              </a:rPr>
              <a:t>arXiv</a:t>
            </a:r>
            <a:r>
              <a:rPr lang="en-IN" sz="2400" i="1" dirty="0">
                <a:sym typeface="+mn-ea"/>
              </a:rPr>
              <a:t> preprint arXiv:1611.09940</a:t>
            </a:r>
            <a:r>
              <a:rPr lang="en-IN" sz="2400" dirty="0">
                <a:sym typeface="+mn-ea"/>
              </a:rPr>
              <a:t>, </a:t>
            </a:r>
            <a:r>
              <a:rPr lang="en-IN" sz="2400" b="1" dirty="0">
                <a:sym typeface="+mn-ea"/>
              </a:rPr>
              <a:t>20</a:t>
            </a:r>
            <a:r>
              <a:rPr altLang="en-IN" sz="2400" b="1" dirty="0">
                <a:sym typeface="+mn-ea"/>
              </a:rPr>
              <a:t>21</a:t>
            </a:r>
            <a:r>
              <a:rPr lang="en-IN" sz="2400" dirty="0">
                <a:sym typeface="+mn-ea"/>
              </a:rPr>
              <a:t>.</a:t>
            </a:r>
            <a:r>
              <a:rPr altLang="en-US" sz="2400">
                <a:sym typeface="+mn-ea"/>
              </a:rPr>
              <a:t> </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sym typeface="+mn-ea"/>
              </a:rPr>
              <a:t> [5]P. Penava and R. Buettne</a:t>
            </a:r>
            <a:r>
              <a:rPr lang="en-US" altLang="en-US" sz="2400" b="0" u="none" strike="noStrike">
                <a:solidFill>
                  <a:schemeClr val="dk1"/>
                </a:solidFill>
                <a:effectLst/>
                <a:uFillTx/>
                <a:latin typeface="Calibri" panose="020F0502020204030204"/>
                <a:sym typeface="+mn-ea"/>
              </a:rPr>
              <a:t>r, 'Early-Stage Non-Severe Depression Detection Using a Novel Convolutional Neural Network Approach Based on Resting-State EEG Data,' IEEE Access, vol. 12, pp. 173380-173389, 2024.</a:t>
            </a:r>
            <a:endParaRPr lang="en-US" altLang="en-US" sz="2400" b="0" u="none" strike="noStrike">
              <a:solidFill>
                <a:schemeClr val="dk1"/>
              </a:solidFill>
              <a:effectLst/>
              <a:uFillTx/>
              <a:latin typeface="Calibri" panose="020F0502020204030204"/>
              <a:sym typeface="+mn-ea"/>
            </a:endParaRPr>
          </a:p>
          <a:p>
            <a:pPr marL="228600" indent="-228600" algn="just" defTabSz="914400">
              <a:lnSpc>
                <a:spcPct val="90000"/>
              </a:lnSpc>
              <a:spcBef>
                <a:spcPts val="1000"/>
              </a:spcBef>
              <a:buClr>
                <a:srgbClr val="000000"/>
              </a:buClr>
              <a:buFont typeface="Arial" panose="020B0604020202020204"/>
              <a:buChar char="•"/>
            </a:pPr>
            <a:r>
              <a:rPr lang="en-US" altLang="en-US" sz="2400" b="1" u="none" strike="noStrike">
                <a:solidFill>
                  <a:schemeClr val="dk1"/>
                </a:solidFill>
                <a:effectLst/>
                <a:uFillTx/>
                <a:latin typeface="Calibri" panose="020F0502020204030204"/>
              </a:rPr>
              <a:t>[6] A. Dev et al</a:t>
            </a:r>
            <a:r>
              <a:rPr lang="en-US" altLang="en-US" sz="2400" b="0" u="none" strike="noStrike">
                <a:solidFill>
                  <a:schemeClr val="dk1"/>
                </a:solidFill>
                <a:effectLst/>
                <a:uFillTx/>
                <a:latin typeface="Calibri" panose="020F0502020204030204"/>
              </a:rPr>
              <a:t>., 'Exploration of EEG-based depression biomarkers identification techniques and their applications: A systematic review,' IEEE Access, vol. 10, pp. 16756-16781, 2022</a:t>
            </a:r>
            <a:endParaRPr lang="en-US" altLang="en-US" sz="2400" b="0" u="none" strike="noStrike">
              <a:solidFill>
                <a:schemeClr val="dk1"/>
              </a:solidFill>
              <a:effectLst/>
              <a:uFillTx/>
              <a:latin typeface="Calibri" panose="020F0502020204030204"/>
            </a:endParaRPr>
          </a:p>
          <a:p>
            <a:pPr marL="228600" indent="0" algn="just" defTabSz="914400">
              <a:lnSpc>
                <a:spcPct val="90000"/>
              </a:lnSpc>
              <a:spcBef>
                <a:spcPts val="1000"/>
              </a:spcBef>
              <a:buNone/>
            </a:pPr>
            <a:endParaRPr lang="en-US" sz="2400" b="0" u="none" strike="noStrike">
              <a:solidFill>
                <a:schemeClr val="dk1"/>
              </a:solidFill>
              <a:effectLst/>
              <a:uFillTx/>
              <a:latin typeface="Calibri" panose="020F0502020204030204"/>
            </a:endParaRPr>
          </a:p>
        </p:txBody>
      </p:sp>
      <p:sp>
        <p:nvSpPr>
          <p:cNvPr id="86" name="PlaceHolder 3"/>
          <p:cNvSpPr>
            <a:spLocks noGrp="1"/>
          </p:cNvSpPr>
          <p:nvPr>
            <p:ph type="dt" idx="38"/>
          </p:nvPr>
        </p:nvSpPr>
        <p:spPr>
          <a:xfrm>
            <a:off x="838080" y="6356520"/>
            <a:ext cx="2742840" cy="364680"/>
          </a:xfrm>
          <a:prstGeom prst="rect">
            <a:avLst/>
          </a:prstGeom>
          <a:noFill/>
          <a:ln w="0">
            <a:noFill/>
          </a:ln>
        </p:spPr>
        <p:txBody>
          <a:bodyPr lIns="91440" tIns="45720" rIns="91440" bIns="45720" anchor="ctr">
            <a:noAutofit/>
          </a:bodyPr>
          <a:p>
            <a:pPr indent="0" algn="l">
              <a:buNone/>
            </a:pPr>
            <a:endParaRPr lang="en-US" sz="1200" b="0" u="none" strike="noStrike">
              <a:solidFill>
                <a:schemeClr val="dk1">
                  <a:tint val="75000"/>
                </a:schemeClr>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71450" y="320040"/>
            <a:ext cx="11791950" cy="5868035"/>
          </a:xfrm>
          <a:prstGeom prst="rect">
            <a:avLst/>
          </a:prstGeom>
          <a:noFill/>
        </p:spPr>
        <p:txBody>
          <a:bodyPr wrap="square" rtlCol="0">
            <a:noAutofit/>
          </a:bodyPr>
          <a:p>
            <a:endParaRPr lang="en-US"/>
          </a:p>
        </p:txBody>
      </p:sp>
      <p:graphicFrame>
        <p:nvGraphicFramePr>
          <p:cNvPr id="5" name="Table 4"/>
          <p:cNvGraphicFramePr/>
          <p:nvPr>
            <p:custDataLst>
              <p:tags r:id="rId1"/>
            </p:custDataLst>
          </p:nvPr>
        </p:nvGraphicFramePr>
        <p:xfrm>
          <a:off x="361950" y="327660"/>
          <a:ext cx="10452100" cy="6070600"/>
        </p:xfrm>
        <a:graphic>
          <a:graphicData uri="http://schemas.openxmlformats.org/drawingml/2006/table">
            <a:tbl>
              <a:tblPr/>
              <a:tblGrid>
                <a:gridCol w="2090420"/>
                <a:gridCol w="2090420"/>
                <a:gridCol w="2090420"/>
                <a:gridCol w="2090420"/>
                <a:gridCol w="2090420"/>
              </a:tblGrid>
              <a:tr h="441325">
                <a:tc>
                  <a:txBody>
                    <a:bodyPr/>
                    <a:p>
                      <a:r>
                        <a:rPr lang="en-US" altLang="zh-CN" sz="1600" b="1">
                          <a:solidFill>
                            <a:schemeClr val="tx1"/>
                          </a:solidFill>
                        </a:rPr>
                        <a:t>Author &amp; Year</a:t>
                      </a:r>
                      <a:endParaRPr lang="en-US" altLang="zh-CN" sz="1600" b="1">
                        <a:solidFill>
                          <a:schemeClr val="tx1"/>
                        </a:solidFill>
                      </a:endParaRPr>
                    </a:p>
                  </a:txBody>
                  <a:tcPr marL="0" marR="0" marT="0" marB="0" anchor="ctr" anchorCtr="0">
                    <a:lnL>
                      <a:noFill/>
                    </a:lnL>
                    <a:lnR>
                      <a:noFill/>
                    </a:lnR>
                    <a:lnT>
                      <a:noFill/>
                    </a:lnT>
                    <a:lnB>
                      <a:noFill/>
                    </a:lnB>
                    <a:noFill/>
                  </a:tcPr>
                </a:tc>
                <a:tc>
                  <a:txBody>
                    <a:bodyPr/>
                    <a:p>
                      <a:r>
                        <a:rPr lang="en-US" altLang="zh-CN" sz="1100"/>
                        <a:t>Work Done</a:t>
                      </a:r>
                      <a:endParaRPr lang="en-US" altLang="zh-CN" sz="1100"/>
                    </a:p>
                  </a:txBody>
                  <a:tcPr marL="0" marR="0" marT="0" marB="0" anchor="ctr" anchorCtr="0">
                    <a:lnL>
                      <a:noFill/>
                    </a:lnL>
                    <a:lnR>
                      <a:noFill/>
                    </a:lnR>
                    <a:lnT>
                      <a:noFill/>
                    </a:lnT>
                    <a:lnB>
                      <a:noFill/>
                    </a:lnB>
                    <a:noFill/>
                  </a:tcPr>
                </a:tc>
                <a:tc>
                  <a:txBody>
                    <a:bodyPr/>
                    <a:p>
                      <a:r>
                        <a:rPr lang="en-US" altLang="zh-CN" sz="1100"/>
                        <a:t>Advantages</a:t>
                      </a:r>
                      <a:endParaRPr lang="en-US" altLang="zh-CN" sz="1100"/>
                    </a:p>
                  </a:txBody>
                  <a:tcPr marL="0" marR="0" marT="0" marB="0" anchor="ctr" anchorCtr="0">
                    <a:lnL>
                      <a:noFill/>
                    </a:lnL>
                    <a:lnR>
                      <a:noFill/>
                    </a:lnR>
                    <a:lnT>
                      <a:noFill/>
                    </a:lnT>
                    <a:lnB>
                      <a:noFill/>
                    </a:lnB>
                    <a:noFill/>
                  </a:tcPr>
                </a:tc>
                <a:tc>
                  <a:txBody>
                    <a:bodyPr/>
                    <a:p>
                      <a:r>
                        <a:rPr lang="en-US" altLang="zh-CN" sz="1100"/>
                        <a:t>Limitations</a:t>
                      </a:r>
                      <a:endParaRPr lang="en-US" altLang="zh-CN" sz="1100"/>
                    </a:p>
                  </a:txBody>
                  <a:tcPr marL="0" marR="0" marT="0" marB="0" anchor="ctr" anchorCtr="0">
                    <a:lnL>
                      <a:noFill/>
                    </a:lnL>
                    <a:lnR>
                      <a:noFill/>
                    </a:lnR>
                    <a:lnT>
                      <a:noFill/>
                    </a:lnT>
                    <a:lnB>
                      <a:noFill/>
                    </a:lnB>
                    <a:noFill/>
                  </a:tcPr>
                </a:tc>
                <a:tc>
                  <a:txBody>
                    <a:bodyPr/>
                    <a:p>
                      <a:r>
                        <a:rPr lang="en-US" altLang="zh-CN" sz="1100"/>
                        <a:t>Comparison with Our Solution</a:t>
                      </a:r>
                      <a:endParaRPr lang="en-US" altLang="zh-CN" sz="1100"/>
                    </a:p>
                  </a:txBody>
                  <a:tcPr marL="0" marR="0" marT="0" marB="0" anchor="ctr" anchorCtr="0">
                    <a:lnL>
                      <a:noFill/>
                    </a:lnL>
                    <a:lnR>
                      <a:noFill/>
                    </a:lnR>
                    <a:lnT>
                      <a:noFill/>
                    </a:lnT>
                    <a:lnB>
                      <a:noFill/>
                    </a:lnB>
                    <a:noFill/>
                  </a:tcPr>
                </a:tc>
              </a:tr>
              <a:tr h="1164590">
                <a:tc>
                  <a:txBody>
                    <a:bodyPr/>
                    <a:p>
                      <a:r>
                        <a:rPr lang="en-US" altLang="zh-CN" sz="1100"/>
                        <a:t>Pascal Penava et al. (2024)</a:t>
                      </a:r>
                      <a:endParaRPr lang="en-US" altLang="zh-CN" sz="1100"/>
                    </a:p>
                  </a:txBody>
                  <a:tcPr marL="0" marR="0" marT="0" marB="0" anchor="ctr" anchorCtr="0">
                    <a:lnL>
                      <a:noFill/>
                    </a:lnL>
                    <a:lnR>
                      <a:noFill/>
                    </a:lnR>
                    <a:lnT>
                      <a:noFill/>
                    </a:lnT>
                    <a:lnB>
                      <a:noFill/>
                    </a:lnB>
                    <a:noFill/>
                  </a:tcPr>
                </a:tc>
                <a:tc>
                  <a:txBody>
                    <a:bodyPr/>
                    <a:p>
                      <a:r>
                        <a:rPr lang="en-US" altLang="zh-CN" sz="1100"/>
                        <a:t>1D CNN on resting-state EEG for mild depression detection</a:t>
                      </a:r>
                      <a:endParaRPr lang="en-US" altLang="zh-CN" sz="1100"/>
                    </a:p>
                  </a:txBody>
                  <a:tcPr marL="0" marR="0" marT="0" marB="0" anchor="ctr" anchorCtr="0">
                    <a:lnL>
                      <a:noFill/>
                    </a:lnL>
                    <a:lnR>
                      <a:noFill/>
                    </a:lnR>
                    <a:lnT>
                      <a:noFill/>
                    </a:lnT>
                    <a:lnB>
                      <a:noFill/>
                    </a:lnB>
                    <a:noFill/>
                  </a:tcPr>
                </a:tc>
                <a:tc>
                  <a:txBody>
                    <a:bodyPr/>
                    <a:p>
                      <a:r>
                        <a:rPr lang="en-US" altLang="zh-CN" sz="1100"/>
                        <a:t>Good accuracy (69.21%), low compute &amp; fast inference</a:t>
                      </a:r>
                      <a:endParaRPr lang="en-US" altLang="zh-CN" sz="1100"/>
                    </a:p>
                  </a:txBody>
                  <a:tcPr marL="0" marR="0" marT="0" marB="0" anchor="ctr" anchorCtr="0">
                    <a:lnL>
                      <a:noFill/>
                    </a:lnL>
                    <a:lnR>
                      <a:noFill/>
                    </a:lnR>
                    <a:lnT>
                      <a:noFill/>
                    </a:lnT>
                    <a:lnB>
                      <a:noFill/>
                    </a:lnB>
                    <a:noFill/>
                  </a:tcPr>
                </a:tc>
                <a:tc>
                  <a:txBody>
                    <a:bodyPr/>
                    <a:p>
                      <a:r>
                        <a:rPr lang="en-US" altLang="zh-CN" sz="1100"/>
                        <a:t>EEG-only (needs hardware); no explainability; not suicide-focused; no deployment/privacy</a:t>
                      </a:r>
                      <a:endParaRPr lang="en-US" altLang="zh-CN" sz="1100"/>
                    </a:p>
                  </a:txBody>
                  <a:tcPr marL="0" marR="0" marT="0" marB="0" anchor="ctr" anchorCtr="0">
                    <a:lnL>
                      <a:noFill/>
                    </a:lnL>
                    <a:lnR>
                      <a:noFill/>
                    </a:lnR>
                    <a:lnT>
                      <a:noFill/>
                    </a:lnT>
                    <a:lnB>
                      <a:noFill/>
                    </a:lnB>
                    <a:noFill/>
                  </a:tcPr>
                </a:tc>
                <a:tc>
                  <a:txBody>
                    <a:bodyPr/>
                    <a:p>
                      <a:r>
                        <a:rPr lang="en-US" altLang="zh-CN" sz="1100"/>
                        <a:t>Our text-based + XAI + MLOps + on-device DPDP compliant approach is more accessible</a:t>
                      </a:r>
                      <a:endParaRPr lang="en-US" altLang="zh-CN" sz="1100"/>
                    </a:p>
                  </a:txBody>
                  <a:tcPr marL="0" marR="0" marT="0" marB="0" anchor="ctr" anchorCtr="0">
                    <a:lnL>
                      <a:noFill/>
                    </a:lnL>
                    <a:lnR>
                      <a:noFill/>
                    </a:lnR>
                    <a:lnT>
                      <a:noFill/>
                    </a:lnT>
                    <a:lnB>
                      <a:noFill/>
                    </a:lnB>
                    <a:noFill/>
                  </a:tcPr>
                </a:tc>
              </a:tr>
              <a:tr h="1359535">
                <a:tc>
                  <a:txBody>
                    <a:bodyPr/>
                    <a:p>
                      <a:r>
                        <a:rPr lang="en-US" altLang="zh-CN" sz="1100"/>
                        <a:t>Shaoxiong Ji et al. (2022)</a:t>
                      </a:r>
                      <a:endParaRPr lang="en-US" altLang="zh-CN" sz="1100"/>
                    </a:p>
                  </a:txBody>
                  <a:tcPr marL="0" marR="0" marT="0" marB="0" anchor="ctr" anchorCtr="0">
                    <a:lnL>
                      <a:noFill/>
                    </a:lnL>
                    <a:lnR>
                      <a:noFill/>
                    </a:lnR>
                    <a:lnT>
                      <a:noFill/>
                    </a:lnT>
                    <a:lnB>
                      <a:noFill/>
                    </a:lnB>
                    <a:noFill/>
                  </a:tcPr>
                </a:tc>
                <a:tc>
                  <a:txBody>
                    <a:bodyPr/>
                    <a:p>
                      <a:r>
                        <a:rPr lang="en-US" altLang="zh-CN" sz="1100"/>
                        <a:t>Pretrained MentalBERT + fine-tuning on mental health text</a:t>
                      </a:r>
                      <a:endParaRPr lang="en-US" altLang="zh-CN" sz="1100"/>
                    </a:p>
                  </a:txBody>
                  <a:tcPr marL="0" marR="0" marT="0" marB="0" anchor="ctr" anchorCtr="0">
                    <a:lnL>
                      <a:noFill/>
                    </a:lnL>
                    <a:lnR>
                      <a:noFill/>
                    </a:lnR>
                    <a:lnT>
                      <a:noFill/>
                    </a:lnT>
                    <a:lnB>
                      <a:noFill/>
                    </a:lnB>
                    <a:noFill/>
                  </a:tcPr>
                </a:tc>
                <a:tc>
                  <a:txBody>
                    <a:bodyPr/>
                    <a:p>
                      <a:r>
                        <a:rPr lang="en-US" altLang="zh-CN" sz="1100"/>
                        <a:t>Strong domain-specific performance</a:t>
                      </a:r>
                      <a:endParaRPr lang="en-US" altLang="zh-CN" sz="1100"/>
                    </a:p>
                  </a:txBody>
                  <a:tcPr marL="0" marR="0" marT="0" marB="0" anchor="ctr" anchorCtr="0">
                    <a:lnL>
                      <a:noFill/>
                    </a:lnL>
                    <a:lnR>
                      <a:noFill/>
                    </a:lnR>
                    <a:lnT>
                      <a:noFill/>
                    </a:lnT>
                    <a:lnB>
                      <a:noFill/>
                    </a:lnB>
                    <a:noFill/>
                  </a:tcPr>
                </a:tc>
                <a:tc>
                  <a:txBody>
                    <a:bodyPr/>
                    <a:p>
                      <a:r>
                        <a:rPr lang="en-US" altLang="zh-CN" sz="1100"/>
                        <a:t>Black-box; no explainability or deployment focus</a:t>
                      </a:r>
                      <a:endParaRPr lang="en-US" altLang="zh-CN" sz="1100"/>
                    </a:p>
                  </a:txBody>
                  <a:tcPr marL="0" marR="0" marT="0" marB="0" anchor="ctr" anchorCtr="0">
                    <a:lnL>
                      <a:noFill/>
                    </a:lnL>
                    <a:lnR>
                      <a:noFill/>
                    </a:lnR>
                    <a:lnT>
                      <a:noFill/>
                    </a:lnT>
                    <a:lnB>
                      <a:noFill/>
                    </a:lnB>
                    <a:noFill/>
                  </a:tcPr>
                </a:tc>
                <a:tc>
                  <a:txBody>
                    <a:bodyPr/>
                    <a:p>
                      <a:r>
                        <a:rPr lang="en-US" altLang="zh-CN" sz="1100"/>
                        <a:t>Builds on MentalBERT + adds SHAP, Attention, MLOps &amp; privacy</a:t>
                      </a:r>
                      <a:endParaRPr lang="en-US" altLang="zh-CN" sz="1100"/>
                    </a:p>
                  </a:txBody>
                  <a:tcPr marL="0" marR="0" marT="0" marB="0" anchor="ctr" anchorCtr="0">
                    <a:lnL>
                      <a:noFill/>
                    </a:lnL>
                    <a:lnR>
                      <a:noFill/>
                    </a:lnR>
                    <a:lnT>
                      <a:noFill/>
                    </a:lnT>
                    <a:lnB>
                      <a:noFill/>
                    </a:lnB>
                    <a:noFill/>
                  </a:tcPr>
                </a:tc>
              </a:tr>
              <a:tr h="1358265">
                <a:tc>
                  <a:txBody>
                    <a:bodyPr/>
                    <a:p>
                      <a:r>
                        <a:rPr lang="en-US" altLang="zh-CN" sz="1100"/>
                        <a:t>Matthew Matero et al. (2019)</a:t>
                      </a:r>
                      <a:endParaRPr lang="en-US" altLang="zh-CN" sz="1100"/>
                    </a:p>
                  </a:txBody>
                  <a:tcPr marL="0" marR="0" marT="0" marB="0" anchor="ctr" anchorCtr="0">
                    <a:lnL>
                      <a:noFill/>
                    </a:lnL>
                    <a:lnR>
                      <a:noFill/>
                    </a:lnR>
                    <a:lnT>
                      <a:noFill/>
                    </a:lnT>
                    <a:lnB>
                      <a:noFill/>
                    </a:lnB>
                    <a:noFill/>
                  </a:tcPr>
                </a:tc>
                <a:tc>
                  <a:txBody>
                    <a:bodyPr/>
                    <a:p>
                      <a:r>
                        <a:rPr lang="en-US" altLang="zh-CN" sz="1100"/>
                        <a:t>Dual-context BERT (post + history) for suicide risk</a:t>
                      </a:r>
                      <a:endParaRPr lang="en-US" altLang="zh-CN" sz="1100"/>
                    </a:p>
                  </a:txBody>
                  <a:tcPr marL="0" marR="0" marT="0" marB="0" anchor="ctr" anchorCtr="0">
                    <a:lnL>
                      <a:noFill/>
                    </a:lnL>
                    <a:lnR>
                      <a:noFill/>
                    </a:lnR>
                    <a:lnT>
                      <a:noFill/>
                    </a:lnT>
                    <a:lnB>
                      <a:noFill/>
                    </a:lnB>
                    <a:noFill/>
                  </a:tcPr>
                </a:tc>
                <a:tc>
                  <a:txBody>
                    <a:bodyPr/>
                    <a:p>
                      <a:r>
                        <a:rPr lang="en-US" altLang="zh-CN" sz="1100"/>
                        <a:t>Better context via user history</a:t>
                      </a:r>
                      <a:endParaRPr lang="en-US" altLang="zh-CN" sz="1100"/>
                    </a:p>
                  </a:txBody>
                  <a:tcPr marL="0" marR="0" marT="0" marB="0" anchor="ctr" anchorCtr="0">
                    <a:lnL>
                      <a:noFill/>
                    </a:lnL>
                    <a:lnR>
                      <a:noFill/>
                    </a:lnR>
                    <a:lnT>
                      <a:noFill/>
                    </a:lnT>
                    <a:lnB>
                      <a:noFill/>
                    </a:lnB>
                    <a:noFill/>
                  </a:tcPr>
                </a:tc>
                <a:tc>
                  <a:txBody>
                    <a:bodyPr/>
                    <a:p>
                      <a:r>
                        <a:rPr lang="en-US" altLang="zh-CN" sz="1100"/>
                        <a:t>Black-box; limited interpretability &amp; deployment</a:t>
                      </a:r>
                      <a:endParaRPr lang="en-US" altLang="zh-CN" sz="1100"/>
                    </a:p>
                  </a:txBody>
                  <a:tcPr marL="0" marR="0" marT="0" marB="0" anchor="ctr" anchorCtr="0">
                    <a:lnL>
                      <a:noFill/>
                    </a:lnL>
                    <a:lnR>
                      <a:noFill/>
                    </a:lnR>
                    <a:lnT>
                      <a:noFill/>
                    </a:lnT>
                    <a:lnB>
                      <a:noFill/>
                    </a:lnB>
                    <a:noFill/>
                  </a:tcPr>
                </a:tc>
                <a:tc>
                  <a:txBody>
                    <a:bodyPr/>
                    <a:p>
                      <a:r>
                        <a:rPr lang="en-US" altLang="zh-CN" sz="1100"/>
                        <a:t>Enhanced with modern XAI + production MLOps + on-device inference</a:t>
                      </a:r>
                      <a:endParaRPr lang="en-US" altLang="zh-CN" sz="1100"/>
                    </a:p>
                  </a:txBody>
                  <a:tcPr marL="0" marR="0" marT="0" marB="0" anchor="ctr" anchorCtr="0">
                    <a:lnL>
                      <a:noFill/>
                    </a:lnL>
                    <a:lnR>
                      <a:noFill/>
                    </a:lnR>
                    <a:lnT>
                      <a:noFill/>
                    </a:lnT>
                    <a:lnB>
                      <a:noFill/>
                    </a:lnB>
                    <a:noFill/>
                  </a:tcPr>
                </a:tc>
              </a:tr>
              <a:tr h="1746885">
                <a:tc>
                  <a:txBody>
                    <a:bodyPr/>
                    <a:p>
                      <a:r>
                        <a:rPr lang="en-US" altLang="zh-CN" sz="1100"/>
                        <a:t>Hao Tang et al. (2023)</a:t>
                      </a:r>
                      <a:endParaRPr lang="en-US" altLang="zh-CN" sz="1100"/>
                    </a:p>
                  </a:txBody>
                  <a:tcPr marL="0" marR="0" marT="0" marB="0" anchor="ctr" anchorCtr="0">
                    <a:lnL>
                      <a:noFill/>
                    </a:lnL>
                    <a:lnR>
                      <a:noFill/>
                    </a:lnR>
                    <a:lnT>
                      <a:noFill/>
                    </a:lnT>
                    <a:lnB>
                      <a:noFill/>
                    </a:lnB>
                    <a:noFill/>
                  </a:tcPr>
                </a:tc>
                <a:tc>
                  <a:txBody>
                    <a:bodyPr/>
                    <a:p>
                      <a:r>
                        <a:rPr lang="en-US" altLang="zh-CN" sz="1100"/>
                        <a:t>XGBoost + SHAP for suicide risk features</a:t>
                      </a:r>
                      <a:endParaRPr lang="en-US" altLang="zh-CN" sz="1100"/>
                    </a:p>
                  </a:txBody>
                  <a:tcPr marL="0" marR="0" marT="0" marB="0" anchor="ctr" anchorCtr="0">
                    <a:lnL>
                      <a:noFill/>
                    </a:lnL>
                    <a:lnR>
                      <a:noFill/>
                    </a:lnR>
                    <a:lnT>
                      <a:noFill/>
                    </a:lnT>
                    <a:lnB>
                      <a:noFill/>
                    </a:lnB>
                    <a:noFill/>
                  </a:tcPr>
                </a:tc>
                <a:tc>
                  <a:txBody>
                    <a:bodyPr/>
                    <a:p>
                      <a:r>
                        <a:rPr lang="en-US" altLang="zh-CN" sz="1100"/>
                        <a:t>Interpretable using SHAP</a:t>
                      </a:r>
                      <a:endParaRPr lang="en-US" altLang="zh-CN" sz="1100"/>
                    </a:p>
                  </a:txBody>
                  <a:tcPr marL="0" marR="0" marT="0" marB="0" anchor="ctr" anchorCtr="0">
                    <a:lnL>
                      <a:noFill/>
                    </a:lnL>
                    <a:lnR>
                      <a:noFill/>
                    </a:lnR>
                    <a:lnT>
                      <a:noFill/>
                    </a:lnT>
                    <a:lnB>
                      <a:noFill/>
                    </a:lnB>
                    <a:noFill/>
                  </a:tcPr>
                </a:tc>
                <a:tc>
                  <a:txBody>
                    <a:bodyPr/>
                    <a:p>
                      <a:r>
                        <a:rPr lang="en-US" altLang="zh-CN" sz="1100"/>
                        <a:t>Traditional ML (weaker on text); poor deployment</a:t>
                      </a:r>
                      <a:endParaRPr lang="en-US" altLang="zh-CN" sz="1100"/>
                    </a:p>
                  </a:txBody>
                  <a:tcPr marL="0" marR="0" marT="0" marB="0" anchor="ctr" anchorCtr="0">
                    <a:lnL>
                      <a:noFill/>
                    </a:lnL>
                    <a:lnR>
                      <a:noFill/>
                    </a:lnR>
                    <a:lnT>
                      <a:noFill/>
                    </a:lnT>
                    <a:lnB>
                      <a:noFill/>
                    </a:lnB>
                    <a:noFill/>
                  </a:tcPr>
                </a:tc>
                <a:tc>
                  <a:txBody>
                    <a:bodyPr/>
                    <a:p>
                      <a:r>
                        <a:rPr lang="en-US" altLang="zh-CN" sz="1100"/>
                        <a:t>Advanced with BERT + multiple XAI + full MLOps + on-device optimization</a:t>
                      </a:r>
                      <a:endParaRPr lang="en-US" altLang="zh-CN"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600" b="1" u="none" strike="noStrike">
                <a:solidFill>
                  <a:schemeClr val="dk1"/>
                </a:solidFill>
                <a:effectLst/>
                <a:uFillTx/>
                <a:latin typeface="Times New Roman" panose="02020603050405020304"/>
              </a:rPr>
              <a:t>Conclusion:</a:t>
            </a:r>
            <a:endParaRPr lang="en-US" sz="3600" b="0" u="none" strike="noStrike">
              <a:solidFill>
                <a:schemeClr val="dk1"/>
              </a:solidFill>
              <a:effectLst/>
              <a:uFillTx/>
              <a:latin typeface="Calibri Light" panose="020F0302020204030204"/>
            </a:endParaRPr>
          </a:p>
        </p:txBody>
      </p:sp>
      <p:sp>
        <p:nvSpPr>
          <p:cNvPr id="88" name="PlaceHolder 2"/>
          <p:cNvSpPr>
            <a:spLocks noGrp="1"/>
          </p:cNvSpPr>
          <p:nvPr>
            <p:ph/>
          </p:nvPr>
        </p:nvSpPr>
        <p:spPr>
          <a:xfrm>
            <a:off x="838080" y="1214280"/>
            <a:ext cx="10515240" cy="4519440"/>
          </a:xfrm>
          <a:prstGeom prst="rect">
            <a:avLst/>
          </a:prstGeom>
          <a:noFill/>
          <a:ln w="0">
            <a:noFill/>
          </a:ln>
        </p:spPr>
        <p:txBody>
          <a:bodyPr lIns="91440" tIns="45720" rIns="91440" bIns="45720" anchor="t">
            <a:normAutofit/>
          </a:bodyPr>
          <a:p>
            <a:pPr indent="0" algn="just" defTabSz="914400">
              <a:lnSpc>
                <a:spcPct val="90000"/>
              </a:lnSpc>
              <a:spcBef>
                <a:spcPts val="1190"/>
              </a:spcBef>
              <a:spcAft>
                <a:spcPts val="990"/>
              </a:spcAft>
              <a:buNone/>
              <a:tabLst>
                <a:tab pos="0" algn="l"/>
              </a:tabLst>
            </a:pPr>
            <a:r>
              <a:rPr lang="en-US" sz="2400" b="0" u="none" strike="noStrike">
                <a:solidFill>
                  <a:schemeClr val="dk1"/>
                </a:solidFill>
                <a:effectLst/>
                <a:uFillTx/>
                <a:latin typeface="Calibri" panose="020F0502020204030204"/>
              </a:rPr>
              <a:t>This research demonstrates that artificial intelligence can play a significant role in the early identification of suicide risk by analyzing behavioral and textual patterns. The proposed machine learning-based approach provides accurate and reliable predictions, enabling earlier detection of individuals who may require immediate psychological support. While the system is not intended to replace mental health professionals, it serves as an effective decision-support tool that can assist in timely intervention and improve the overall efficiency of mental healthcare. With further validation on larger and more diverse datasets, along with improvements in interpretability, fairness, and privacy, the proposed system has the potential to become a valuable component of future mental health assessment and suicide prevention strategies.</a:t>
            </a:r>
            <a:endParaRPr lang="en-US" sz="2400" b="0" u="none" strike="noStrike">
              <a:solidFill>
                <a:schemeClr val="dk1"/>
              </a:solidFill>
              <a:effectLst/>
              <a:uFillTx/>
              <a:latin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767595" y="189145"/>
            <a:ext cx="10515240" cy="776880"/>
          </a:xfrm>
          <a:prstGeom prst="rect">
            <a:avLst/>
          </a:prstGeom>
          <a:noFill/>
          <a:ln w="0">
            <a:noFill/>
          </a:ln>
        </p:spPr>
        <p:txBody>
          <a:bodyPr lIns="91440" tIns="45720" rIns="91440" bIns="45720" anchor="ctr">
            <a:noAutofit/>
          </a:bodyPr>
          <a:p>
            <a:pPr indent="0" algn="l" defTabSz="914400">
              <a:lnSpc>
                <a:spcPct val="90000"/>
              </a:lnSpc>
              <a:buNone/>
            </a:pPr>
            <a:r>
              <a:rPr lang="en-IN" sz="3200" b="1" u="none" strike="noStrike">
                <a:solidFill>
                  <a:srgbClr val="FF0000"/>
                </a:solidFill>
                <a:effectLst/>
                <a:uFillTx/>
                <a:latin typeface="Times New Roman" panose="02020603050405020304"/>
              </a:rPr>
              <a:t>System Workflow</a:t>
            </a:r>
            <a:r>
              <a:rPr lang="en-US" sz="3200" b="1" u="none" strike="noStrike">
                <a:solidFill>
                  <a:srgbClr val="FF0000"/>
                </a:solidFill>
                <a:effectLst/>
                <a:uFillTx/>
                <a:latin typeface="Times New Roman" panose="02020603050405020304"/>
              </a:rPr>
              <a:t>:</a:t>
            </a:r>
            <a:endParaRPr lang="en-US" sz="3200" b="0" u="none" strike="noStrike">
              <a:solidFill>
                <a:schemeClr val="dk1"/>
              </a:solidFill>
              <a:effectLst/>
              <a:uFillTx/>
              <a:latin typeface="Calibri Light" panose="020F0302020204030204"/>
            </a:endParaRPr>
          </a:p>
        </p:txBody>
      </p:sp>
      <p:pic>
        <p:nvPicPr>
          <p:cNvPr id="75" name="Construction Flow Diagram"/>
          <p:cNvPicPr/>
          <p:nvPr/>
        </p:nvPicPr>
        <p:blipFill>
          <a:blip r:embed="rId1"/>
          <a:stretch>
            <a:fillRect/>
          </a:stretch>
        </p:blipFill>
        <p:spPr>
          <a:xfrm>
            <a:off x="1015365" y="836295"/>
            <a:ext cx="9373235" cy="5121910"/>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ags/tag1.xml><?xml version="1.0" encoding="utf-8"?>
<p:tagLst xmlns:p="http://schemas.openxmlformats.org/presentationml/2006/main">
  <p:tag name="TABLE_ENDDRAG_ORIGIN_RECT" val="938*415"/>
  <p:tag name="TABLE_ENDDRAG_RECT" val="5*49*938*415"/>
</p:tagLst>
</file>

<file path=ppt/tags/tag2.xml><?xml version="1.0" encoding="utf-8"?>
<p:tagLst xmlns:p="http://schemas.openxmlformats.org/presentationml/2006/main">
  <p:tag name="TABLE_ENDDRAG_ORIGIN_RECT" val="823*458"/>
  <p:tag name="TABLE_ENDDRAG_RECT" val="28*25*823*458"/>
</p:tagLst>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majorFont>
      <a:minorFont>
        <a:latin typeface="Calibri"/>
        <a:ea typeface=""/>
        <a:cs typeface=""/>
      </a:minorFont>
    </a:fontScheme>
    <a:fmtScheme na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0</TotalTime>
  <Words>9184</Words>
  <Application>WPS Presentation</Application>
  <PresentationFormat/>
  <Paragraphs>216</Paragraphs>
  <Slides>12</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12</vt:i4>
      </vt:variant>
    </vt:vector>
  </HeadingPairs>
  <TitlesOfParts>
    <vt:vector size="24" baseType="lpstr">
      <vt:lpstr>Arial</vt:lpstr>
      <vt:lpstr>SimSun</vt:lpstr>
      <vt:lpstr>Wingdings</vt:lpstr>
      <vt:lpstr>Calibri Light</vt:lpstr>
      <vt:lpstr>Times New Roman</vt:lpstr>
      <vt:lpstr>Calibri</vt:lpstr>
      <vt:lpstr>Arial</vt:lpstr>
      <vt:lpstr>Canva Sans Bold</vt:lpstr>
      <vt:lpstr>Segoe Print</vt:lpstr>
      <vt:lpstr>Microsoft YaHei</vt:lpstr>
      <vt:lpstr>Arial Unicode MS</vt:lpstr>
      <vt:lpstr>Office Theme</vt:lpstr>
      <vt:lpstr>   </vt:lpstr>
      <vt:lpstr>.</vt:lpstr>
      <vt:lpstr>EXISTING SOLUTION :</vt:lpstr>
      <vt:lpstr>PROPOSED SOLUTION : </vt:lpstr>
      <vt:lpstr>Block Diagram:</vt:lpstr>
      <vt:lpstr>Tools Used:</vt:lpstr>
      <vt:lpstr>LITERATURE ANALYSIS:</vt:lpstr>
      <vt:lpstr>Research Limitations:</vt:lpstr>
      <vt:lpstr>References:</vt:lpstr>
      <vt:lpstr>PowerPoint 演示文稿</vt:lpstr>
      <vt:lpstr>Conclusion:</vt:lpstr>
      <vt:lpstr>System Workflow: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Welcome</dc:creator>
  <cp:lastModifiedBy>Sridhar.M</cp:lastModifiedBy>
  <cp:revision>188</cp:revision>
  <dcterms:created xsi:type="dcterms:W3CDTF">2006-08-16T00:00:00Z</dcterms:created>
  <dcterms:modified xsi:type="dcterms:W3CDTF">2026-07-24T16:04:49Z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0x01010098F1BCB14E108D43AB233A31F986D556</vt:lpwstr>
  </property>
  <property fmtid="{D5CDD505-2E9C-101B-9397-08002B2CF9AE}" pid="3" name="ICV">
    <vt:lpwstr>D3F68A13CB47448AA38EBC8B6ECABD43_13</vt:lpwstr>
  </property>
  <property fmtid="{D5CDD505-2E9C-101B-9397-08002B2CF9AE}" pid="4" name="KSOProductBuildVer">
    <vt:lpwstr>1033-12.1.0.27458</vt:lpwstr>
  </property>
  <property fmtid="{D5CDD505-2E9C-101B-9397-08002B2CF9AE}" pid="5" name="PresentationFormat">
    <vt:lpwstr>Widescreen</vt:lpwstr>
  </property>
  <property fmtid="{D5CDD505-2E9C-101B-9397-08002B2CF9AE}" pid="6" name="Slides">
    <vt:i4>13</vt:i4>
  </property>
</Properties>
</file>