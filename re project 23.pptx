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7" r:id="rId3"/>
    <p:sldId id="258" r:id="rId4"/>
    <p:sldId id="260" r:id="rId5"/>
    <p:sldId id="270" r:id="rId6"/>
    <p:sldId id="261" r:id="rId7"/>
    <p:sldId id="262" r:id="rId8"/>
    <p:sldId id="272" r:id="rId9"/>
    <p:sldId id="263" r:id="rId10"/>
    <p:sldId id="273" r:id="rId11"/>
    <p:sldId id="265" r:id="rId12"/>
    <p:sldId id="276" r:id="rId13"/>
    <p:sldId id="267" r:id="rId14"/>
    <p:sldId id="277" r:id="rId15"/>
    <p:sldId id="268" r:id="rId16"/>
    <p:sldId id="27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howGuides="1">
      <p:cViewPr varScale="1">
        <p:scale>
          <a:sx n="78" d="100"/>
          <a:sy n="78" d="100"/>
        </p:scale>
        <p:origin x="230" y="62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064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College of Engineering &amp; Technology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Department of Artificial Intelligence &amp; Data Science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0" y="5856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1532313" y="1534999"/>
            <a:ext cx="8907087" cy="46636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A17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 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Machine Learning (MLOps)</a:t>
            </a:r>
            <a:endParaRPr lang="en-IN" sz="2400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4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8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Suicide Risk Prediction Models with Clinical Explainability</a:t>
            </a:r>
            <a:endParaRPr lang="en-US" altLang="en-US" sz="14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Supervisor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Ms.M. RAJALAKSHMI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Maha mathesh raja B (727624BAD031)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irfan basha R (727624BAD009)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Sridhar M (727624BAD091)</a:t>
            </a:r>
            <a:endParaRPr lang="en-IN" sz="24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r>
              <a:rPr lang="en-IN" sz="1665" dirty="0">
                <a:solidFill>
                  <a:srgbClr val="0C0C0C"/>
                </a:solidFill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Reverse Engineering Suicide Prediction Models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530"/>
            <a:ext cx="10515600" cy="4603750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sz="2400" b="1" dirty="0"/>
              <a:t>Abstract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dirty="0"/>
              <a:t>Over 700,000 people die by suicide worldwide every year. This paper reverse-engineers what BERT-based suicide risk classifiers actually learn — identifying linguistic patterns, emotional signals, and phrasing structures — and builds a complete MLOps pipeline for cross-platform deployment (Android, iOS, Windows, macOS, Linux) with clinician-facing explainability.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Research Objectives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dirty="0"/>
              <a:t>1.  Understand what a trained suicide prediction model has actually learned — features, patterns, and clinical alignment.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2.  Design and implement an MLOps pipeline from research notebook to production system with versioning, testing, and monitoring.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3.  Deploy across mobile (Android, iOS) and desktop (Windows, macOS, Linux) without sacrificing meaningful accuracy.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4.  Make predictions explainable in terms clinicians — not just data scientists — can act 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1305"/>
          </a:xfrm>
        </p:spPr>
        <p:txBody>
          <a:bodyPr>
            <a:normAutofit fontScale="90000"/>
          </a:bodyPr>
          <a:lstStyle/>
          <a:p>
            <a:r>
              <a:rPr lang="en-US" sz="3200" b="1" i="1" dirty="0"/>
              <a:t>Review of Related work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8830"/>
            <a:ext cx="10515600" cy="549846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400" b="1" dirty="0"/>
              <a:t> </a:t>
            </a:r>
            <a:r>
              <a:rPr lang="en-US" sz="2000" b="1" dirty="0"/>
              <a:t>Suicide Prediction Using Machine Learning</a:t>
            </a:r>
            <a:endParaRPr lang="en-US" sz="2000" b="1" dirty="0"/>
          </a:p>
          <a:p>
            <a:pPr marL="228600" indent="-228600" algn="just">
              <a:buChar char="•"/>
            </a:pPr>
            <a:r>
              <a:rPr lang="en-US" sz="1800" dirty="0"/>
              <a:t>Early systems used keyword-matching and rule-based classifiers</a:t>
            </a:r>
            <a:endParaRPr lang="en-US" sz="1800" dirty="0"/>
          </a:p>
          <a:p>
            <a:pPr marL="228600" indent="-228600" algn="just">
              <a:buChar char="•"/>
            </a:pPr>
            <a:r>
              <a:rPr lang="en-US" sz="1800" dirty="0"/>
              <a:t>Deep learning (LSTM, BERT) now achieves state-of-the-art performance on social media datasets</a:t>
            </a:r>
            <a:endParaRPr lang="en-US" sz="1800" dirty="0"/>
          </a:p>
          <a:p>
            <a:pPr marL="228600" indent="-228600" algn="just">
              <a:buChar char="•"/>
            </a:pPr>
            <a:r>
              <a:rPr lang="en-US" sz="1800" dirty="0"/>
              <a:t>Key papers: Coppersmith et al. (2018), Ji et al. (2021), Tadesse et al. (2020), Gaur et al. (2019), Ophir et al. (2020)</a:t>
            </a:r>
            <a:endParaRPr lang="en-US" sz="1800" dirty="0"/>
          </a:p>
          <a:p>
            <a:pPr marL="0" indent="0" algn="just">
              <a:buNone/>
            </a:pPr>
            <a:r>
              <a:rPr lang="en-US" sz="2000" b="1" dirty="0"/>
              <a:t>NLP for Mental Health</a:t>
            </a:r>
            <a:endParaRPr lang="en-US" sz="2000" b="1" dirty="0"/>
          </a:p>
          <a:p>
            <a:pPr marL="228600" indent="-228600" algn="just">
              <a:buChar char="•"/>
            </a:pPr>
            <a:r>
              <a:rPr lang="en-US" sz="1800" dirty="0"/>
              <a:t>Sentiment analysis and emotion detection in mental health contexts</a:t>
            </a:r>
            <a:endParaRPr lang="en-US" sz="1800" dirty="0"/>
          </a:p>
          <a:p>
            <a:pPr marL="228600" indent="-228600" algn="just">
              <a:buChar char="•"/>
            </a:pPr>
            <a:r>
              <a:rPr lang="en-US" sz="1800" dirty="0"/>
              <a:t>Crisis language modeling — linguistic markers of suicidal ideation</a:t>
            </a:r>
            <a:endParaRPr lang="en-US" sz="1800" dirty="0"/>
          </a:p>
          <a:p>
            <a:pPr marL="228600" indent="-228600" algn="just">
              <a:buChar char="•"/>
            </a:pPr>
            <a:r>
              <a:rPr lang="en-US" sz="1800" dirty="0"/>
              <a:t>Transfer learning with clinical and social media corpora</a:t>
            </a:r>
            <a:endParaRPr lang="en-US" sz="1800" dirty="0"/>
          </a:p>
          <a:p>
            <a:pPr marL="228600" indent="-228600" algn="just">
              <a:buChar char="•"/>
            </a:pPr>
            <a:r>
              <a:rPr lang="en-US" sz="1800" dirty="0"/>
              <a:t>Multi-modal approaches combining text, behavioral, and physiological data</a:t>
            </a:r>
            <a:endParaRPr lang="en-US" sz="1800" dirty="0"/>
          </a:p>
          <a:p>
            <a:pPr marL="0" indent="0" algn="just">
              <a:buNone/>
            </a:pPr>
            <a:r>
              <a:rPr lang="en-US" sz="1600" b="1" dirty="0">
                <a:sym typeface="+mn-ea"/>
              </a:rPr>
              <a:t>MLOps for Healthcare</a:t>
            </a:r>
            <a:endParaRPr lang="en-US" sz="1600" b="1" dirty="0"/>
          </a:p>
          <a:p>
            <a:pPr marL="228600" indent="-228600" algn="just">
              <a:buChar char="•"/>
            </a:pPr>
            <a:r>
              <a:rPr lang="en-US" sz="1600" dirty="0">
                <a:sym typeface="+mn-ea"/>
              </a:rPr>
              <a:t>Encompasses model versioning, CI/CD, monitoring, and governance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>
                <a:sym typeface="+mn-ea"/>
              </a:rPr>
              <a:t>Healthcare adds HIPAA/GDPR compliance and clinical validation requirements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>
                <a:sym typeface="+mn-ea"/>
              </a:rPr>
              <a:t>Key tools: MLflow, Kubeflow, DVC, Weights &amp; Biases, BentoML, Seldon Core</a:t>
            </a:r>
            <a:endParaRPr lang="en-US" sz="1600" dirty="0"/>
          </a:p>
          <a:p>
            <a:pPr marL="0" indent="0" algn="just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89085" cy="132715"/>
          </a:xfrm>
        </p:spPr>
        <p:txBody>
          <a:bodyPr>
            <a:noAutofit/>
          </a:bodyPr>
          <a:p>
            <a:r>
              <a:rPr lang="en-US" sz="3200" b="1" i="1" dirty="0">
                <a:sym typeface="+mn-ea"/>
              </a:rPr>
              <a:t>Review of Related work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9495"/>
            <a:ext cx="10515600" cy="3462655"/>
          </a:xfrm>
        </p:spPr>
        <p:txBody>
          <a:bodyPr>
            <a:noAutofit/>
          </a:bodyPr>
          <a:p>
            <a:pPr marL="0" indent="0" algn="just">
              <a:buNone/>
            </a:pPr>
            <a:r>
              <a:rPr lang="en-US" sz="1800" b="1" dirty="0">
                <a:sym typeface="+mn-ea"/>
              </a:rPr>
              <a:t>Reverse Engineering &amp; Explainability in ML</a:t>
            </a:r>
            <a:endParaRPr lang="en-US" sz="1800" b="1" dirty="0"/>
          </a:p>
          <a:p>
            <a:pPr marL="228600" indent="-228600" algn="just">
              <a:buChar char="•"/>
            </a:pPr>
            <a:r>
              <a:rPr lang="en-US" sz="1800" dirty="0">
                <a:sym typeface="+mn-ea"/>
              </a:rPr>
              <a:t>Analyzes trained model internals: learned representations, decision boundaries, and failure modes</a:t>
            </a:r>
            <a:endParaRPr lang="en-US" sz="1800" dirty="0"/>
          </a:p>
          <a:p>
            <a:pPr marL="228600" indent="-228600" algn="just">
              <a:buChar char="•"/>
            </a:pPr>
            <a:r>
              <a:rPr lang="en-US" sz="1800" dirty="0">
                <a:sym typeface="+mn-ea"/>
              </a:rPr>
              <a:t>Techniques: SHAP, LIME, attention mechanism analysis, concept probing (TCAV), adversarial probing</a:t>
            </a:r>
            <a:endParaRPr lang="en-US" sz="1800" dirty="0"/>
          </a:p>
          <a:p>
            <a:pPr marL="228600" indent="-228600" algn="just">
              <a:buChar char="•"/>
            </a:pPr>
            <a:r>
              <a:rPr lang="en-US" sz="1800" dirty="0">
                <a:sym typeface="+mn-ea"/>
              </a:rPr>
              <a:t>Distinct from standard XAI: asks what the model learned, not just why it made a prediction</a:t>
            </a: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b="1" dirty="0">
                <a:sym typeface="+mn-ea"/>
              </a:rPr>
              <a:t>  Gaps in Existing Literature</a:t>
            </a:r>
            <a:endParaRPr lang="en-US" sz="1800" b="1" dirty="0"/>
          </a:p>
          <a:p>
            <a:pPr marL="228600" indent="-228600" algn="just">
              <a:buChar char="•"/>
            </a:pPr>
            <a:r>
              <a:rPr lang="en-US" sz="1800" dirty="0">
                <a:sym typeface="+mn-ea"/>
              </a:rPr>
              <a:t>No existing work ties together: reverse engineering + production MLOps + cross-platform deployment</a:t>
            </a:r>
            <a:endParaRPr lang="en-US" sz="1800" dirty="0"/>
          </a:p>
          <a:p>
            <a:pPr marL="228600" indent="-228600" algn="just">
              <a:buChar char="•"/>
            </a:pPr>
            <a:r>
              <a:rPr lang="en-US" sz="1800" dirty="0">
                <a:sym typeface="+mn-ea"/>
              </a:rPr>
              <a:t>Prior suicide prediction papers stop at model evaluation — none address real-world deployment</a:t>
            </a:r>
            <a:endParaRPr lang="en-US" sz="1800" dirty="0"/>
          </a:p>
          <a:p>
            <a:pPr marL="228600" indent="-228600" algn="just">
              <a:buChar char="•"/>
            </a:pPr>
            <a:r>
              <a:rPr lang="en-US" sz="1800" dirty="0">
                <a:sym typeface="+mn-ea"/>
              </a:rPr>
              <a:t>This paper fills all three gaps simultaneously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5135"/>
          </a:xfrm>
        </p:spPr>
        <p:txBody>
          <a:bodyPr>
            <a:normAutofit fontScale="90000"/>
          </a:bodyPr>
          <a:lstStyle/>
          <a:p>
            <a:r>
              <a:rPr lang="en-US" sz="3200" b="1" i="1" dirty="0"/>
              <a:t>Theoretical Framework &amp; Methodology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6315"/>
            <a:ext cx="10515600" cy="518096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2400" b="1" dirty="0"/>
              <a:t> Three Pillars of the Framework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Predictive Power: model must be accurate enough to be clinically useful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Interpretability: predictions without explanations cannot be trusted or acted upon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Responsible Deployment: consent, privacy, and bias management are non-negotiable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 Suicide Risk as NLP Classification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Four-class problem: No Risk, Low Risk, Moderate Risk, High Risk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Modelled on Columbia Suicide Severity Rating Scale (C-SSRS)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Input: raw text (journal entry, chat, clinical note) → fine-tuned transformer → probability distribution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 MLOps Lifecycle (5 Phases)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Phase 1: Data Collection &amp; Governance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2: Feature Engineering &amp; Preprocessing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3: Model Training &amp; Validation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4: Reverse Engineering &amp; Audit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Phase 5: Compression &amp; Deployment</a:t>
            </a:r>
            <a:endParaRPr lang="en-US" sz="18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20" y="304800"/>
            <a:ext cx="5051425" cy="768985"/>
          </a:xfrm>
        </p:spPr>
        <p:txBody>
          <a:bodyPr/>
          <a:lstStyle/>
          <a:p>
            <a:r>
              <a:rPr lang="en-US" sz="3200" b="1" i="1" dirty="0"/>
              <a:t>Reverse Engineering Pipeline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020" y="1323340"/>
            <a:ext cx="10939780" cy="51225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/>
              <a:t>Step 1 — Feature Attribution (SHAP)</a:t>
            </a:r>
            <a:endParaRPr lang="en-US" sz="2000" b="1" dirty="0"/>
          </a:p>
          <a:p>
            <a:pPr marL="228600" indent="-228600" algn="just">
              <a:buChar char="•"/>
            </a:pPr>
            <a:r>
              <a:rPr lang="en-US" sz="1600" dirty="0"/>
              <a:t>Apply TreeSHAP (LSTM) and KernelSHAP (transformers) for per-token importance scores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Identify top-20 most influential tokens across the test set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Cluster by semantic category: hopelessness, method references, temporal urgency, social isolation</a:t>
            </a:r>
            <a:endParaRPr lang="en-US" sz="1600" dirty="0"/>
          </a:p>
          <a:p>
            <a:pPr marL="0" indent="0" algn="just">
              <a:buNone/>
            </a:pPr>
            <a:r>
              <a:rPr lang="en-US" sz="2000" b="1" dirty="0"/>
              <a:t>Step 2 — Attention Visualization</a:t>
            </a:r>
            <a:endParaRPr lang="en-US" sz="2000" b="1" dirty="0"/>
          </a:p>
          <a:p>
            <a:pPr marL="228600" indent="-228600" algn="just">
              <a:buChar char="•"/>
            </a:pPr>
            <a:r>
              <a:rPr lang="en-US" sz="1600" dirty="0"/>
              <a:t>Extract multi-head attention weights from all 12 transformer layers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Visualize attention flow using BertViz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Identify attention heads specializing in crisis-related syntactic vs. semantic content</a:t>
            </a:r>
            <a:endParaRPr lang="en-US" sz="1600" dirty="0"/>
          </a:p>
          <a:p>
            <a:pPr marL="0" indent="0" algn="just">
              <a:buNone/>
            </a:pPr>
            <a:r>
              <a:rPr lang="en-US" sz="2000" b="1" dirty="0"/>
              <a:t>Step 3 — Probing Experiments</a:t>
            </a:r>
            <a:endParaRPr lang="en-US" sz="2000" b="1" dirty="0"/>
          </a:p>
          <a:p>
            <a:pPr marL="228600" indent="-228600" algn="just">
              <a:buChar char="•"/>
            </a:pPr>
            <a:r>
              <a:rPr lang="en-US" sz="1600" dirty="0"/>
              <a:t>Train lightweight linear classifiers on top of frozen layer representations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Test what linguistic properties (negation, tense, affect) are encoded at each layer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Reveals the model's internal feature hierarchy</a:t>
            </a:r>
            <a:endParaRPr lang="en-US" sz="1600" dirty="0"/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5535295" cy="805815"/>
          </a:xfrm>
        </p:spPr>
        <p:txBody>
          <a:bodyPr/>
          <a:p>
            <a:r>
              <a:rPr lang="en-US" b="1" dirty="0">
                <a:sym typeface="+mn-ea"/>
              </a:rPr>
              <a:t>   </a:t>
            </a:r>
            <a:r>
              <a:rPr lang="en-US" sz="3200" b="1" i="1" dirty="0">
                <a:sym typeface="+mn-ea"/>
              </a:rPr>
              <a:t> Reverse Engineering Pipeline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349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sz="2000" b="1" dirty="0">
                <a:sym typeface="+mn-ea"/>
              </a:rPr>
              <a:t>Step 4 — Bias Audit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Evaluate performance across subgroups: age, gender markers, geographic terms, religious language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Fairness metrics: Equal Opportunity, Equalized Odds, Demographic Parity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Gender bias reduced from 3.2% to 0.8% after fairness-aware reweighting</a:t>
            </a:r>
            <a:endParaRPr lang="en-US" sz="2000" dirty="0">
              <a:sym typeface="+mn-ea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ym typeface="+mn-ea"/>
              </a:rPr>
              <a:t>Step 5 — Adversarial Robustness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Apply TextFooler and character-level perturbation attacks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Assess model robustness and document failure modes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Design mitigation strategies for production hardening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240"/>
          </a:xfrm>
        </p:spPr>
        <p:txBody>
          <a:bodyPr/>
          <a:lstStyle/>
          <a:p>
            <a:r>
              <a:rPr lang="en-US" sz="3200" b="1" i="1" dirty="0"/>
              <a:t>MLOps Pipeline Architecture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120"/>
            <a:ext cx="10515600" cy="451993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 </a:t>
            </a:r>
            <a:r>
              <a:rPr lang="en-US" sz="2000" b="1" dirty="0"/>
              <a:t>Pipeline Overview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Data Layer → Feature Store → Training Cluster → Model Registry → Compression Engine → Deployment Target → Monitoring Layer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 Data Layer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Data ingestion from Reddit API, clinical APIs, or user-consented local input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Data versioning with DVC; preprocessing: tokenization, anonymization, noise removal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Data validation with Great Expectations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 Training &amp; Experimentation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1600" dirty="0"/>
              <a:t>Experiment tracking with MLflow or Weights &amp; Biases</a:t>
            </a:r>
            <a:endParaRPr lang="en-US" sz="1600" dirty="0"/>
          </a:p>
          <a:p>
            <a:pPr marL="228600" indent="-228600">
              <a:buChar char="•"/>
            </a:pPr>
            <a:r>
              <a:rPr lang="en-US" sz="1600" dirty="0"/>
              <a:t>Hyperparameter optimization with Optuna; distributed training with Hugging Face Accelerate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0840"/>
          </a:xfrm>
        </p:spPr>
        <p:txBody>
          <a:bodyPr>
            <a:normAutofit fontScale="90000"/>
          </a:bodyPr>
          <a:p>
            <a:r>
              <a:rPr lang="en-US" sz="3200" b="1" i="1" dirty="0">
                <a:sym typeface="+mn-ea"/>
              </a:rPr>
              <a:t>MLOps Pipeline Architecture</a:t>
            </a:r>
            <a:endParaRPr 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809625"/>
            <a:ext cx="10515600" cy="5619115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en-US" b="1" dirty="0">
                <a:sym typeface="+mn-ea"/>
              </a:rPr>
              <a:t> </a:t>
            </a:r>
            <a:r>
              <a:rPr lang="en-US" sz="7200" b="1" dirty="0">
                <a:sym typeface="+mn-ea"/>
              </a:rPr>
              <a:t>Model Compression Engine</a:t>
            </a:r>
            <a:endParaRPr lang="en-US" sz="7200" b="1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INT8 quantization: 4x size reduction, preserves &gt;97% accuracy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Pruning and knowledge distillation for further mobile optimization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Conversion to TFLite (.tflite), Core ML (.mlmodel), and ONNX formats</a:t>
            </a: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b="1" dirty="0">
                <a:sym typeface="+mn-ea"/>
              </a:rPr>
              <a:t> CI/CD Pipeline</a:t>
            </a:r>
            <a:endParaRPr lang="en-US" sz="7200" b="1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GitHub Actions for automated testing on every code push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Model regression tests: no deployment if F1 drops below threshold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Staged rollout: dev → staging → production with automated rollback</a:t>
            </a: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b="1" dirty="0">
                <a:sym typeface="+mn-ea"/>
              </a:rPr>
              <a:t>Monitoring &amp; Observability</a:t>
            </a:r>
            <a:endParaRPr lang="en-US" sz="7200" b="1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Prediction distribution drift detection with Evidently AI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Latency and throughput monitoring per device type</a:t>
            </a:r>
            <a:endParaRPr lang="en-US" sz="7200" dirty="0"/>
          </a:p>
          <a:p>
            <a:pPr marL="228600" indent="-228600">
              <a:buChar char="•"/>
            </a:pPr>
            <a:r>
              <a:rPr lang="en-US" sz="7200" dirty="0">
                <a:sym typeface="+mn-ea"/>
              </a:rPr>
              <a:t>Clinician-flagged false positives feed the retraining queue</a:t>
            </a:r>
            <a:endParaRPr lang="en-US" sz="7200" dirty="0"/>
          </a:p>
          <a:p>
            <a:pPr marL="0" indent="0">
              <a:buNone/>
            </a:pPr>
            <a:endParaRPr lang="en-US" sz="5300" dirty="0"/>
          </a:p>
          <a:p>
            <a:endParaRPr lang="en-US" sz="5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853440"/>
          </a:xfrm>
        </p:spPr>
        <p:txBody>
          <a:bodyPr/>
          <a:lstStyle/>
          <a:p>
            <a:r>
              <a:rPr lang="en-US" sz="3200" b="1" i="1" dirty="0"/>
              <a:t>Core view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0190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 </a:t>
            </a:r>
            <a:r>
              <a:rPr lang="en-US" sz="2400" b="1" dirty="0"/>
              <a:t>SHAP-Based Token Attribution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SHAP values assign importance scores to every token in the input text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Positive values push prediction toward higher risk; negative values indicate protective language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Rendered as highlighted text overlay in the clinician-facing UI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Clinical Concept Mapping (TCAV)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/>
              <a:t>Maps model internals to C-SSRS clinical concepts: Ideation, Plan, Intent, Means, Hopelessness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78% of high-risk predictions aligned with at least one C-SSRS clinical concept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/>
              <a:t>Bridges statistical predictions and clinical frameworks</a:t>
            </a:r>
            <a:endParaRPr lang="en-US" sz="1800" dirty="0"/>
          </a:p>
          <a:p>
            <a:pPr marL="0" indent="0">
              <a:buNone/>
            </a:pPr>
            <a:r>
              <a:rPr lang="en-US" sz="2400" b="1" dirty="0">
                <a:sym typeface="+mn-ea"/>
              </a:rPr>
              <a:t>Privacy-Preserving Design</a:t>
            </a:r>
            <a:endParaRPr lang="en-US" sz="2400" b="1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On-device inference as default — no raw text leaves the user's device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Differential privacy for any aggregated data used in model updates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Federated learning for model improvement without centralizing sensitive data</a:t>
            </a:r>
            <a:endParaRPr lang="en-US" sz="1800" dirty="0"/>
          </a:p>
          <a:p>
            <a:pPr marL="228600" indent="-228600">
              <a:buChar char="•"/>
            </a:pPr>
            <a:r>
              <a:rPr lang="en-US" sz="1800" dirty="0">
                <a:sym typeface="+mn-ea"/>
              </a:rPr>
              <a:t>Full GDPR / HIPAA compliance checklist included in deployment documentation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6745"/>
          </a:xfrm>
        </p:spPr>
        <p:txBody>
          <a:bodyPr>
            <a:normAutofit fontScale="90000"/>
          </a:bodyPr>
          <a:p>
            <a:r>
              <a:rPr lang="en-US" sz="3600" b="1" i="1" dirty="0">
                <a:sym typeface="+mn-ea"/>
              </a:rPr>
              <a:t>Experiments, Results &amp; Discussion</a:t>
            </a:r>
            <a:endParaRPr lang="en-US" sz="36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3640"/>
            <a:ext cx="10515600" cy="4993640"/>
          </a:xfrm>
        </p:spPr>
        <p:txBody>
          <a:bodyPr/>
          <a:p>
            <a:pPr marL="0" indent="0">
              <a:buNone/>
            </a:pPr>
            <a:r>
              <a:rPr lang="en-US" sz="2000" b="1" dirty="0">
                <a:sym typeface="+mn-ea"/>
              </a:rPr>
              <a:t> Key Findings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Reverse engineering confirmed the model learned clinically meaningful patterns without explicit supervision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Production-grade, privacy-preserving suicide risk prediction is achievable on consumer devices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Explainability layer successfully bridges AI predictions and clinical reasoning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ym typeface="+mn-ea"/>
              </a:rPr>
              <a:t> Limitations</a:t>
            </a:r>
            <a:endParaRPr lang="en-US" sz="2000" b="1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Text-only modality — behavioral and physiological signals not yet incorporated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Reddit data may not generalize to all demographics or languages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>
                <a:sym typeface="+mn-ea"/>
              </a:rPr>
              <a:t>Clinical psychologist evaluation limited to n=3; larger-scale validation needed</a:t>
            </a:r>
            <a:endParaRPr lang="en-US" sz="2000" dirty="0"/>
          </a:p>
          <a:p>
            <a:pPr marL="228600" indent="-228600">
              <a:buChar char="•"/>
            </a:pPr>
            <a:r>
              <a:rPr lang="en-US" sz="2000" dirty="0"/>
              <a:t>Privacy problem for users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950"/>
          </a:xfrm>
        </p:spPr>
        <p:txBody>
          <a:bodyPr/>
          <a:lstStyle/>
          <a:p>
            <a:r>
              <a:rPr lang="en-US" sz="3200" b="1" i="1" dirty="0"/>
              <a:t>Conclusion &amp; Future Work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4745"/>
            <a:ext cx="10515600" cy="521271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/>
              <a:t> Conclusion</a:t>
            </a:r>
            <a:endParaRPr lang="en-US" sz="2000" b="1" dirty="0"/>
          </a:p>
          <a:p>
            <a:pPr marL="228600" indent="-228600" algn="just">
              <a:buChar char="•"/>
            </a:pPr>
            <a:r>
              <a:rPr lang="en-US" sz="1600" dirty="0"/>
              <a:t>This paper presents a reverse engineering-driven approach to suicide risk prediction in a production MLOps pipeline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Demonstrates it is technically feasible and ethically responsible to deploy clinical-grade mental health AI on consumer devices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Modern transformer models do learn clinically meaningful representations of suicidal language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SHAP attribution and concept mapping make these representations transparent to clinicians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Strict subject-based cross-validation ensures results are generalizable and not inflated by data leakage</a:t>
            </a:r>
            <a:endParaRPr lang="en-US" sz="1600" dirty="0"/>
          </a:p>
          <a:p>
            <a:pPr marL="0" indent="0" algn="just">
              <a:buNone/>
            </a:pPr>
            <a:r>
              <a:rPr lang="en-US" sz="2000" b="1" dirty="0"/>
              <a:t>Future Work</a:t>
            </a:r>
            <a:endParaRPr lang="en-US" sz="2000" b="1" dirty="0"/>
          </a:p>
          <a:p>
            <a:pPr marL="228600" indent="-228600" algn="just">
              <a:buChar char="•"/>
            </a:pPr>
            <a:r>
              <a:rPr lang="en-US" sz="1600" dirty="0"/>
              <a:t>Multimodal extension: incorporate voice tone, typing cadence, and app usage patterns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Multilingual support — current system limited to English-language text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Larger clinical psychologist evaluation (n=3 is a limitation; scaling needed)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Use mobile (consumer) EEG sensors for physiological signal integration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Apply DeepLIFT and other XAI methods to further increase model interpretability</a:t>
            </a:r>
            <a:endParaRPr lang="en-US" sz="1600" dirty="0"/>
          </a:p>
          <a:p>
            <a:pPr marL="228600" indent="-228600" algn="just">
              <a:buChar char="•"/>
            </a:pPr>
            <a:r>
              <a:rPr lang="en-US" sz="1600" dirty="0"/>
              <a:t>Investigate federated learning for privacy-preserving model updates at scale</a:t>
            </a:r>
            <a:endParaRPr lang="en-US" sz="1600" dirty="0"/>
          </a:p>
          <a:p>
            <a:pPr marL="0" indent="0" algn="just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6950"/>
          </a:xfrm>
        </p:spPr>
        <p:txBody>
          <a:bodyPr/>
          <a:lstStyle/>
          <a:p>
            <a:r>
              <a:rPr lang="en-US" sz="3200" b="1" i="1" dirty="0"/>
              <a:t>Implementation in the OS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4745"/>
            <a:ext cx="4900000" cy="52127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/>
              <a:t>📱 Android (TFLite)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Model: INT8-quantized .tflite via TFLite Kotlin API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GPU delegate + Android ML Kit integration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Target latency: &lt;200ms on mid-range devices</a:t>
            </a:r>
            <a:endParaRPr lang="en-US" sz="1500" dirty="0"/>
          </a:p>
          <a:p>
            <a:pPr marL="0" indent="0">
              <a:buNone/>
            </a:pPr>
            <a:r>
              <a:rPr lang="en-US" sz="1900" b="1" dirty="0"/>
              <a:t>🍎 iOS (Core ML)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Model: .mlmodel converted via coremltools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Neural Engine acceleration via Swift/SwiftUI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Target latency: &lt;150ms on iPhone 12+</a:t>
            </a:r>
            <a:endParaRPr lang="en-US" sz="1500" dirty="0"/>
          </a:p>
          <a:p>
            <a:pPr marL="0" indent="0">
              <a:buNone/>
            </a:pPr>
            <a:r>
              <a:rPr lang="en-US" sz="1900" b="1" dirty="0"/>
              <a:t>💻 Desktop (Win / macOS / Linux)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Runtime: ONNX Runtime or TorchScript (CPU/GPU)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Backend: FastAPI server + Electron.js frontend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Full BERT feasible — higher compute available</a:t>
            </a:r>
            <a:endParaRPr lang="en-US" sz="1500" dirty="0"/>
          </a:p>
        </p:txBody>
      </p:sp>
      <p:sp>
        <p:nvSpPr>
          <p:cNvPr id="4" name="TextBox 3"/>
          <p:cNvSpPr txBox="1"/>
          <p:nvPr/>
        </p:nvSpPr>
        <p:spPr>
          <a:xfrm>
            <a:off x="5900000" y="1134745"/>
            <a:ext cx="5453800" cy="5212715"/>
          </a:xfrm>
          <a:prstGeom prst="rect">
            <a:avLst/>
          </a:prstGeom>
          <a:solidFill>
            <a:srgbClr val="F0F4F8"/>
          </a:solidFill>
        </p:spPr>
        <p:txBody>
          <a:bodyPr wrap="square" lIns="182880" tIns="91440" rIns="182880" bIns="91440"/>
          <a:lstStyle/>
          <a:p>
            <a:pPr marL="0" indent="0">
              <a:buNone/>
            </a:pPr>
            <a:r>
              <a:rPr lang="en-US" sz="1900" b="1" dirty="0"/>
              <a:t>🛡️ Privacy &amp; Security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On-device inference by default — no raw text sent to cloud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Federated learning for model updates preserves user privacy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GDPR / HIPAA compliant deployment pipeline</a:t>
            </a:r>
            <a:endParaRPr lang="en-US" sz="1500" dirty="0"/>
          </a:p>
          <a:p>
            <a:pPr marL="228600" indent="-228600">
              <a:buChar char="•"/>
            </a:pPr>
            <a:endParaRPr lang="en-US" sz="1500" dirty="0"/>
          </a:p>
          <a:p>
            <a:pPr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00" dirty="0"/>
              <a:t> </a:t>
            </a:r>
            <a:endParaRPr lang="en-US" sz="100" dirty="0"/>
          </a:p>
          <a:p>
            <a:pPr marL="0" indent="0">
              <a:buNone/>
            </a:pPr>
            <a:r>
              <a:rPr lang="en-US" sz="1900" b="1" dirty="0"/>
              <a:t>🔔 Alert &amp; Notification System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Risk levels: Green / Yellow / Orange / Red thresholds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In-app push notifications link to crisis helplines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Clinician alerts only with explicit user consent</a:t>
            </a:r>
            <a:endParaRPr lang="en-US" sz="1500" dirty="0"/>
          </a:p>
          <a:p>
            <a:pPr marL="228600" indent="-228600">
              <a:buChar char="•"/>
            </a:pPr>
            <a:endParaRPr lang="en-US" sz="1500" dirty="0"/>
          </a:p>
          <a:p>
            <a:pPr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00" dirty="0"/>
              <a:t> </a:t>
            </a:r>
            <a:endParaRPr lang="en-US" sz="100" dirty="0"/>
          </a:p>
          <a:p>
            <a:pPr marL="0" indent="0">
              <a:buNone/>
            </a:pPr>
            <a:r>
              <a:rPr lang="en-US" sz="1900" b="1" dirty="0"/>
              <a:t>⚙️ CI/CD &amp; Monitoring</a:t>
            </a:r>
            <a:endParaRPr lang="en-US" sz="1900" b="1" dirty="0"/>
          </a:p>
          <a:p>
            <a:pPr marL="228600" indent="-228600">
              <a:buChar char="•"/>
            </a:pPr>
            <a:r>
              <a:rPr lang="en-US" sz="1500" dirty="0"/>
              <a:t>GitHub Actions: auto regression tests on every push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Staged rollout: dev → staging → production</a:t>
            </a:r>
            <a:endParaRPr lang="en-US" sz="1500" dirty="0"/>
          </a:p>
          <a:p>
            <a:pPr marL="228600" indent="-228600">
              <a:buChar char="•"/>
            </a:pPr>
            <a:r>
              <a:rPr lang="en-US" sz="1500" dirty="0"/>
              <a:t>Drift detection via Evidently AI; auto rollback on F1 drop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7060"/>
          </a:xfrm>
        </p:spPr>
        <p:txBody>
          <a:bodyPr>
            <a:noAutofit/>
          </a:bodyPr>
          <a:lstStyle/>
          <a:p>
            <a:r>
              <a:rPr lang="en-US" sz="3200" b="1" i="1" dirty="0"/>
              <a:t>References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8545"/>
            <a:ext cx="10515600" cy="5118735"/>
          </a:xfrm>
        </p:spPr>
        <p:txBody>
          <a:bodyPr>
            <a:normAutofit lnSpcReduction="20000"/>
          </a:bodyPr>
          <a:lstStyle/>
          <a:p>
            <a:pPr marL="0" indent="0" algn="just">
              <a:buNone/>
            </a:pPr>
            <a:r>
              <a:rPr lang="en-US" sz="1600" b="1" dirty="0"/>
              <a:t>Key Papers — Suicide Prediction</a:t>
            </a:r>
            <a:endParaRPr lang="en-US" sz="1600" b="1" dirty="0"/>
          </a:p>
          <a:p>
            <a:pPr marL="228600" indent="-228600" algn="just">
              <a:buChar char="•"/>
            </a:pPr>
            <a:r>
              <a:rPr lang="en-US" sz="1400" dirty="0"/>
              <a:t>Coppersmith, G. et al. (2018). Natural Language Processing of Social Media as Screening for Suicide Risk. Biomedical Informatics Insights.</a:t>
            </a:r>
            <a:endParaRPr lang="en-US" sz="1400" dirty="0"/>
          </a:p>
          <a:p>
            <a:pPr marL="228600" indent="-228600" algn="just">
              <a:buChar char="•"/>
            </a:pPr>
            <a:r>
              <a:rPr lang="en-US" sz="1400" dirty="0"/>
              <a:t>Ji, S. et al. (2021). Suicidal Ideation Detection: A Review of Machine Learning Methods and Applications. IEEE Trans. Computational Social Systems.</a:t>
            </a:r>
            <a:endParaRPr lang="en-US" sz="1400" dirty="0"/>
          </a:p>
          <a:p>
            <a:pPr marL="228600" indent="-228600" algn="just">
              <a:buChar char="•"/>
            </a:pPr>
            <a:r>
              <a:rPr lang="en-US" sz="1400" dirty="0"/>
              <a:t>Tadesse, M. M. et al. (2020). Detection of Suicide Ideation in Social Media Forums Using Deep Learning. Algorithms, 13(1), 7.</a:t>
            </a:r>
            <a:endParaRPr lang="en-US" sz="1400" dirty="0"/>
          </a:p>
          <a:p>
            <a:pPr marL="228600" indent="-228600" algn="just">
              <a:buChar char="•"/>
            </a:pPr>
            <a:r>
              <a:rPr lang="en-US" sz="1400" dirty="0"/>
              <a:t>Gaur, M. et al. (2019). Knowledge-Aware Assessment of Severity of Suicide Risk for Early Intervention. WWW 2019.</a:t>
            </a:r>
            <a:endParaRPr lang="en-US" sz="1400" dirty="0"/>
          </a:p>
          <a:p>
            <a:pPr marL="228600" indent="-228600" algn="just">
              <a:buChar char="•"/>
            </a:pPr>
            <a:r>
              <a:rPr lang="en-US" sz="1400" dirty="0"/>
              <a:t>Ophir, Y. et al. (2020). Deep Neural Networks Detect Suicide Risk from Textual Facebook Posts. Scientific Reports, 10, 16685.\</a:t>
            </a:r>
            <a:endParaRPr lang="en-US" sz="1400" dirty="0"/>
          </a:p>
          <a:p>
            <a:pPr marL="0" indent="0" algn="just">
              <a:buNone/>
            </a:pPr>
            <a:r>
              <a:rPr lang="en-US" sz="1600" b="1" dirty="0"/>
              <a:t>Explainability &amp; MLOps</a:t>
            </a:r>
            <a:endParaRPr lang="en-US" sz="1600" b="1" dirty="0"/>
          </a:p>
          <a:p>
            <a:pPr marL="228600" indent="-228600" algn="just">
              <a:buChar char="•"/>
            </a:pPr>
            <a:r>
              <a:rPr lang="en-US" sz="1400" dirty="0"/>
              <a:t>Lundberg, S. M. &amp; Lee, S.-I. (2017). A Unified Approach to Interpreting Model Predictions. NeurIPS.</a:t>
            </a:r>
            <a:endParaRPr lang="en-US" sz="1400" dirty="0"/>
          </a:p>
          <a:p>
            <a:pPr marL="228600" indent="-228600" algn="just">
              <a:buChar char="•"/>
            </a:pPr>
            <a:r>
              <a:rPr lang="en-US" sz="1400" dirty="0"/>
              <a:t>Ribeiro, M. T. et al. (2016). "Why Should I Trust You?": Explaining the Predictions of Any Classifier. KDD 2016.</a:t>
            </a:r>
            <a:endParaRPr lang="en-US" sz="1400" dirty="0"/>
          </a:p>
          <a:p>
            <a:pPr marL="228600" indent="-228600" algn="just">
              <a:buChar char="•"/>
            </a:pPr>
            <a:r>
              <a:rPr lang="en-US" sz="1400" dirty="0"/>
              <a:t>Sculley, D. et al. (2015). Hidden Technical Debt in Machine Learning Systems. NeurIPS.</a:t>
            </a:r>
            <a:endParaRPr lang="en-US" sz="1400" dirty="0"/>
          </a:p>
          <a:p>
            <a:pPr marL="0" indent="0" algn="just">
              <a:buNone/>
            </a:pPr>
            <a:r>
              <a:rPr lang="en-US" sz="1600" b="1" dirty="0"/>
              <a:t>Related EEG &amp; Depression Detection</a:t>
            </a:r>
            <a:endParaRPr lang="en-US" sz="1600" b="1" dirty="0"/>
          </a:p>
          <a:p>
            <a:pPr marL="228600" indent="-228600" algn="just">
              <a:buChar char="•"/>
            </a:pPr>
            <a:r>
              <a:rPr lang="en-US" sz="1400" dirty="0"/>
              <a:t>Penava, P. &amp; Buettner, R. (2024). Early-Stage Non-Severe Depression Detection Using a Novel CNN Approach Based on Resting-State EEG </a:t>
            </a:r>
            <a:endParaRPr lang="en-US" sz="1400" dirty="0"/>
          </a:p>
          <a:p>
            <a:pPr marL="228600" indent="-228600" algn="just">
              <a:buChar char="•"/>
            </a:pPr>
            <a:r>
              <a:rPr lang="en-US" sz="1400" dirty="0"/>
              <a:t>Data. IEEE Access, 12, 173380–173389.</a:t>
            </a:r>
            <a:endParaRPr lang="en-US" sz="1400" dirty="0"/>
          </a:p>
          <a:p>
            <a:pPr marL="228600" indent="-228600" algn="just">
              <a:buChar char="•"/>
            </a:pPr>
            <a:r>
              <a:rPr lang="en-US" sz="1400" dirty="0"/>
              <a:t>Wu, C.-T. et al. (2021). Resting-State EEG Signal for Major Depressive Disorder Detection. Biosensors, 11(12), 499–524.</a:t>
            </a:r>
            <a:endParaRPr lang="en-US" sz="1400" dirty="0"/>
          </a:p>
          <a:p>
            <a:pPr marL="228600" indent="-228600" algn="just">
              <a:buChar char="•"/>
            </a:pPr>
            <a:r>
              <a:rPr lang="en-US" sz="1400" dirty="0"/>
              <a:t>Thulasi, K. et al. (2023). Detecting Mild Depression from EEG Signal in a Non-Clinical Environment Using Machine Learning. IEEE NBEC 2023.</a:t>
            </a:r>
            <a:endParaRPr lang="en-US" sz="1400" i="1" dirty="0"/>
          </a:p>
        </p:txBody>
      </p:sp>
      <p:sp>
        <p:nvSpPr>
          <p:cNvPr id="4" name="Text Box 3"/>
          <p:cNvSpPr txBox="1"/>
          <p:nvPr/>
        </p:nvSpPr>
        <p:spPr>
          <a:xfrm>
            <a:off x="3521710" y="667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391400" y="7086600"/>
            <a:ext cx="7825740" cy="1325880"/>
          </a:xfrm>
        </p:spPr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286000"/>
            <a:ext cx="10515600" cy="1818640"/>
          </a:xfrm>
        </p:spPr>
        <p:txBody>
          <a:bodyPr>
            <a:normAutofit fontScale="25000"/>
          </a:bodyPr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          </a:t>
            </a:r>
            <a:r>
              <a:rPr lang="en-US" sz="38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8800" b="1" i="1"/>
              <a:t>THANK YOU</a:t>
            </a:r>
            <a:r>
              <a:rPr lang="en-US" sz="38400" b="1" i="1"/>
              <a:t> </a:t>
            </a:r>
            <a:endParaRPr lang="en-US" sz="38400" b="1" i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1E36E6-5217-4E12-971E-AF9D2089B059}">
  <ds:schemaRefs/>
</ds:datastoreItem>
</file>

<file path=customXml/itemProps2.xml><?xml version="1.0" encoding="utf-8"?>
<ds:datastoreItem xmlns:ds="http://schemas.openxmlformats.org/officeDocument/2006/customXml" ds:itemID="{FFB38897-1384-41D0-8D2B-BBB64548DD67}">
  <ds:schemaRefs/>
</ds:datastoreItem>
</file>

<file path=customXml/itemProps3.xml><?xml version="1.0" encoding="utf-8"?>
<ds:datastoreItem xmlns:ds="http://schemas.openxmlformats.org/officeDocument/2006/customXml" ds:itemID="{E4703F4C-A684-46B9-B306-BF2B5B49124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11058</Words>
  <Application>WPS Presentation</Application>
  <PresentationFormat>Widescreen</PresentationFormat>
  <Paragraphs>249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Helvetica</vt:lpstr>
      <vt:lpstr>Times New Roman</vt:lpstr>
      <vt:lpstr>Calibri</vt:lpstr>
      <vt:lpstr>Microsoft YaHei</vt:lpstr>
      <vt:lpstr>Arial Unicode MS</vt:lpstr>
      <vt:lpstr>Calibri Light</vt:lpstr>
      <vt:lpstr>Office Theme</vt:lpstr>
      <vt:lpstr>   </vt:lpstr>
      <vt:lpstr>Reverse Engineering Suicide Prediction Models</vt:lpstr>
      <vt:lpstr>Review of Related work</vt:lpstr>
      <vt:lpstr>Review of Related work</vt:lpstr>
      <vt:lpstr>Theoretical Framework &amp; Methodology</vt:lpstr>
      <vt:lpstr>Reverse Engineering Pipeline</vt:lpstr>
      <vt:lpstr>    Reverse Engineering Pipeline</vt:lpstr>
      <vt:lpstr>MLOps Pipeline Architecture</vt:lpstr>
      <vt:lpstr>MLOps Pipeline Architecture</vt:lpstr>
      <vt:lpstr>Core view</vt:lpstr>
      <vt:lpstr>Experiments, Results &amp; Discussion</vt:lpstr>
      <vt:lpstr>Conclusion &amp; Future Work</vt:lpstr>
      <vt:lpstr>Implementation in the OS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Sri Dhar</cp:lastModifiedBy>
  <cp:revision>156</cp:revision>
  <dcterms:created xsi:type="dcterms:W3CDTF">2006-08-16T00:00:00Z</dcterms:created>
  <dcterms:modified xsi:type="dcterms:W3CDTF">2026-04-15T14:14:36Z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9E8162C5285343BEBF5BA7433043C9BF_13</vt:lpwstr>
  </property>
  <property fmtid="{D5CDD505-2E9C-101B-9397-08002B2CF9AE}" pid="4" name="ContentTypeId">
    <vt:lpwstr>0x01010098F1BCB14E108D43AB233A31F986D556</vt:lpwstr>
  </property>
</Properties>
</file>