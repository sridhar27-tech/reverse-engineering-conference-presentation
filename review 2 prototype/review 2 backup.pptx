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3"/>
    <p:sldId id="257" r:id="rId4"/>
    <p:sldId id="258" r:id="rId5"/>
    <p:sldId id="260" r:id="rId6"/>
    <p:sldId id="261" r:id="rId7"/>
    <p:sldId id="262" r:id="rId8"/>
    <p:sldId id="270" r:id="rId9"/>
    <p:sldId id="271" r:id="rId10"/>
    <p:sldId id="274" r:id="rId11"/>
    <p:sldId id="272" r:id="rId12"/>
    <p:sldId id="273" r:id="rId13"/>
    <p:sldId id="275" r:id="rId14"/>
    <p:sldId id="267" r:id="rId15"/>
    <p:sldId id="264" r:id="rId17"/>
    <p:sldId id="265" r:id="rId18"/>
    <p:sldId id="266" r:id="rId19"/>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sz="1400" b="1">
                <a:solidFill>
                  <a:srgbClr val="1A1A1A"/>
                </a:solidFill>
              </a:rPr>
              <a:t>Target Accuracy — Roadmap Goals (Not Yet Measured)</a:t>
            </a:r>
            <a:endParaRPr sz="1400" b="1">
              <a:solidFill>
                <a:srgbClr val="1A1A1A"/>
              </a:solidFill>
            </a:endParaRPr>
          </a:p>
        </c:rich>
      </c:tx>
      <c:layout/>
      <c:overlay val="0"/>
    </c:title>
    <c:autoTitleDeleted val="0"/>
    <c:plotArea>
      <c:layout/>
      <c:barChart>
        <c:barDir val="col"/>
        <c:grouping val="clustered"/>
        <c:varyColors val="0"/>
        <c:ser>
          <c:idx val="0"/>
          <c:order val="0"/>
          <c:tx>
            <c:strRef>
              <c:f>Sheet1!$B$1</c:f>
              <c:strCache>
                <c:ptCount val="1"/>
                <c:pt idx="0">
                  <c:v>Target Accuracy %</c:v>
                </c:pt>
              </c:strCache>
            </c:strRef>
          </c:tx>
          <c:spPr>
            <a:solidFill>
              <a:srgbClr val="2F3C7E"/>
            </a:solidFill>
          </c:spPr>
          <c:invertIfNegative val="0"/>
          <c:dLbls>
            <c:numFmt formatCode="0&quot;%&quot;"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Near-Term Target
(fine-tuned model)</c:v>
                </c:pt>
                <c:pt idx="1">
                  <c:v>Stretch Target
(full system, per README)</c:v>
                </c:pt>
              </c:strCache>
            </c:strRef>
          </c:cat>
          <c:val>
            <c:numRef>
              <c:f>Sheet1!$B$2:$B$3</c:f>
              <c:numCache>
                <c:formatCode>General</c:formatCode>
                <c:ptCount val="2"/>
                <c:pt idx="0">
                  <c:v>70</c:v>
                </c:pt>
                <c:pt idx="1">
                  <c:v>90</c:v>
                </c:pt>
              </c:numCache>
            </c:numRef>
          </c:val>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spPr>
          <a:ln w="6350" cap="flat" cmpd="sng" algn="ctr">
            <a:solidFill>
              <a:srgbClr val="B0B0B0"/>
            </a:solidFill>
            <a:prstDash val="solid"/>
            <a:round/>
          </a:ln>
        </c:spPr>
        <c:txPr>
          <a:bodyPr rot="-60000000" spcFirstLastPara="0" vertOverflow="ellipsis" vert="horz" wrap="square" anchor="ctr" anchorCtr="1"/>
          <a:lstStyle/>
          <a:p>
            <a:pPr>
              <a:defRPr lang="en-US" sz="1200" b="0" i="0" u="none" strike="noStrike" kern="1200" baseline="0">
                <a:solidFill>
                  <a:srgbClr val="1A1A1A"/>
                </a:solidFill>
                <a:latin typeface="+mn-lt"/>
                <a:ea typeface="+mn-ea"/>
                <a:cs typeface="+mn-cs"/>
              </a:defRPr>
            </a:pPr>
          </a:p>
        </c:txPr>
        <c:crossAx val="-2113994440"/>
        <c:crosses val="autoZero"/>
        <c:auto val="1"/>
        <c:lblAlgn val="ctr"/>
        <c:lblOffset val="100"/>
        <c:noMultiLvlLbl val="0"/>
      </c:catAx>
      <c:valAx>
        <c:axId val="-2113994440"/>
        <c:scaling>
          <c:orientation val="minMax"/>
          <c:max val="100"/>
          <c:min val="0"/>
        </c:scaling>
        <c:delete val="0"/>
        <c:axPos val="l"/>
        <c:majorGridlines>
          <c:spPr>
            <a:ln w="6350" cap="flat" cmpd="sng" algn="ctr">
              <a:solidFill>
                <a:srgbClr val="E0E0E0"/>
              </a:solidFill>
              <a:prstDash val="solid"/>
              <a:round/>
            </a:ln>
          </c:spPr>
        </c:majorGridlines>
        <c:numFmt formatCode="General" sourceLinked="1"/>
        <c:majorTickMark val="out"/>
        <c:minorTickMark val="none"/>
        <c:tickLblPos val="nextTo"/>
        <c:txPr>
          <a:bodyPr rot="-60000000" spcFirstLastPara="0" vertOverflow="ellipsis" vert="horz" wrap="square" anchor="ctr" anchorCtr="1"/>
          <a:lstStyle/>
          <a:p>
            <a:pPr>
              <a:defRPr lang="en-US" sz="1100" b="0" i="0" u="none" strike="noStrike" kern="1200" baseline="0">
                <a:solidFill>
                  <a:srgbClr val="6E6E6E"/>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6f177eda-6adc-47b4-a4c2-69a9df042f3d}"/>
      </c:ext>
    </c:extLst>
  </c:chart>
  <c:txPr>
    <a:bodyPr/>
    <a:lstStyle/>
    <a:p>
      <a:pPr>
        <a:defRPr lang="en-US" sz="1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sz="1200"/>
              <a:t>Target Accuracy — Roadmap Goals</a:t>
            </a:r>
            <a:endParaRPr sz="1200"/>
          </a:p>
        </c:rich>
      </c:tx>
      <c:layout/>
      <c:overlay val="0"/>
    </c:title>
    <c:autoTitleDeleted val="0"/>
    <c:plotArea>
      <c:layout/>
      <c:barChart>
        <c:barDir val="col"/>
        <c:grouping val="clustered"/>
        <c:varyColors val="0"/>
        <c:ser>
          <c:idx val="0"/>
          <c:order val="0"/>
          <c:tx>
            <c:strRef>
              <c:f>Sheet1!$B$1</c:f>
              <c:strCache>
                <c:ptCount val="1"/>
                <c:pt idx="0">
                  <c:v>Target Accuracy (%)</c:v>
                </c:pt>
              </c:strCache>
            </c:strRef>
          </c:tx>
          <c:spPr>
            <a:solidFill>
              <a:srgbClr val="1B2A4A"/>
            </a:solidFill>
          </c:spPr>
          <c:invertIfNegative val="0"/>
          <c:dLbls>
            <c:numFmt formatCode="0.0&quot;%&quot;"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Near-Term Target
(fine-tuned model)</c:v>
                </c:pt>
                <c:pt idx="1">
                  <c:v>Stretch Target
(full system)</c:v>
                </c:pt>
              </c:strCache>
            </c:strRef>
          </c:cat>
          <c:val>
            <c:numRef>
              <c:f>Sheet1!$B$2:$B$3</c:f>
              <c:numCache>
                <c:formatCode>General</c:formatCode>
                <c:ptCount val="2"/>
                <c:pt idx="0">
                  <c:v>70</c:v>
                </c:pt>
                <c:pt idx="1">
                  <c:v>90</c:v>
                </c:pt>
              </c:numCache>
            </c:numRef>
          </c:val>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2113994440"/>
        <c:crosses val="autoZero"/>
        <c:auto val="1"/>
        <c:lblAlgn val="ctr"/>
        <c:lblOffset val="100"/>
        <c:noMultiLvlLbl val="0"/>
      </c:catAx>
      <c:valAx>
        <c:axId val="-2113994440"/>
        <c:scaling>
          <c:orientation val="minMax"/>
          <c:max val="100"/>
          <c:min val="0"/>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6bf32a2b-c7a9-4789-9675-04b84fd96250}"/>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0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Domain                  </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Sub-Domain          </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a:t>
            </a:r>
            <a:r>
              <a:rPr lang="en-US"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Title</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a:t>
            </a:r>
            <a:r>
              <a:rPr lang="en-US" sz="2000" b="0" u="none" strike="noStrike">
                <a:solidFill>
                  <a:srgbClr val="FF0000"/>
                </a:solidFill>
                <a:effectLst/>
                <a:uFillTx/>
                <a:latin typeface="Calibri" panose="020F0502020204030204"/>
                <a:ea typeface="Times New Roman" panose="02020603050405020304"/>
              </a:rPr>
              <a:t> </a:t>
            </a:r>
            <a:r>
              <a:rPr lang="en-US" sz="2000" b="1" u="none" strike="noStrike">
                <a:solidFill>
                  <a:srgbClr val="0C0C0C"/>
                </a:solidFill>
                <a:effectLst/>
                <a:uFillTx/>
                <a:latin typeface="Calibri" panose="020F0502020204030204"/>
                <a:ea typeface="Times New Roman" panose="02020603050405020304"/>
              </a:rPr>
              <a:t> Suicide Risk Prediction Models with Clinical Explainability</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0" u="none" strike="noStrike">
                <a:solidFill>
                  <a:srgbClr val="FF0000"/>
                </a:solidFill>
                <a:effectLst/>
                <a:uFillTx/>
                <a:latin typeface="Calibri" panose="020F0502020204030204"/>
                <a:ea typeface="Times New Roman" panose="02020603050405020304"/>
              </a:rPr>
              <a:t>Faculty Supervisor</a:t>
            </a:r>
            <a:r>
              <a:rPr lang="en-IN" sz="2000" b="0" u="none" strike="noStrike">
                <a:solidFill>
                  <a:srgbClr val="FF0000"/>
                </a:solidFill>
                <a:effectLst/>
                <a:uFillTx/>
                <a:latin typeface="Calibri" panose="020F0502020204030204"/>
                <a:ea typeface="Times New Roman" panose="02020603050405020304"/>
              </a:rPr>
              <a:t> :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Team Members</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a:t>
            </a:r>
            <a:r>
              <a:rPr lang="en-US" sz="20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46990" y="116840"/>
            <a:ext cx="11692890" cy="3869055"/>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200" b="1" u="none" strike="noStrike">
                <a:solidFill>
                  <a:srgbClr val="FF0000"/>
                </a:solidFill>
                <a:effectLst/>
                <a:uFillTx/>
                <a:latin typeface="Times New Roman" panose="02020603050405020304"/>
                <a:ea typeface="Canva Sans Bold"/>
              </a:rPr>
              <a:t>ABSTRACT</a:t>
            </a:r>
            <a:r>
              <a:rPr lang="en-US" sz="3600" b="1" u="none" strike="noStrike">
                <a:solidFill>
                  <a:srgbClr val="FF0000"/>
                </a:solidFill>
                <a:effectLst/>
                <a:uFillTx/>
                <a:latin typeface="Times New Roman" panose="02020603050405020304"/>
                <a:ea typeface="Canva Sans Bold"/>
              </a:rPr>
              <a: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2000" b="1" u="none" strike="noStrike">
                <a:solidFill>
                  <a:schemeClr val="dk1"/>
                </a:solidFill>
                <a:effectLst/>
                <a:uFillTx/>
                <a:latin typeface="Calibri" panose="020F0502020204030204"/>
              </a:rPr>
              <a:t>  </a:t>
            </a:r>
            <a:br>
              <a:rPr lang="en-US" sz="2000" b="1" u="none" strike="noStrike">
                <a:solidFill>
                  <a:schemeClr val="dk1"/>
                </a:solidFill>
                <a:effectLst/>
                <a:uFillTx/>
                <a:latin typeface="Calibri" panose="020F0502020204030204"/>
              </a:rPr>
            </a:br>
            <a:br>
              <a:rPr lang="en-US" sz="2000" b="1" u="none" strike="noStrike">
                <a:solidFill>
                  <a:schemeClr val="dk1"/>
                </a:solidFill>
                <a:effectLst/>
                <a:uFillTx/>
                <a:latin typeface="Calibri" panose="020F0502020204030204"/>
              </a:rPr>
            </a:br>
            <a:r>
              <a:rPr lang="en-US" sz="2000" b="1" u="none" strike="noStrike">
                <a:solidFill>
                  <a:schemeClr val="dk1"/>
                </a:solidFill>
                <a:effectLst/>
                <a:uFillTx/>
                <a:latin typeface="Calibri" panose="020F0502020204030204"/>
              </a:rPr>
              <a:t>    </a:t>
            </a:r>
            <a:r>
              <a:rPr sz="2000" b="1">
                <a:sym typeface="+mn-ea"/>
              </a:rPr>
              <a:t> </a:t>
            </a:r>
            <a:r>
              <a:rPr sz="2000">
                <a:sym typeface="+mn-ea"/>
              </a:rPr>
              <a:t>Over 700,000 people die by suicide every year. Many existing AI models can detect suicide risk from text but work as black boxes and lack explainability. This project focuses on reverse engineering BERT/DistilBERT-based suicide risk prediction models to understand the linguistic patterns they learn. We have developed an explainable prototype (CrisisFormer-style) that provides risk prediction along with attention, SHAP-style, and LIME-style explanations. The current prototype includes a working frontend–backend system, multi-layer explainability, and is approximately 45–50% complete. Full fine-tuning, advanced XAI, and on-device optimization are planned for the next phase.</a:t>
            </a:r>
            <a:r>
              <a:rPr lang="en-US" altLang="en-US" sz="2000">
                <a:sym typeface="+mn-ea"/>
              </a:rPr>
              <a:t>This work contributes a reproducible framework for auditing suicide-risk language models — combining SHAP-style feature attribution, attention visualization, and concept-level probing (TCAV) — that clinicians and researchers can use to validate model behavior before deployment.</a:t>
            </a:r>
            <a:endParaRPr lang="en-US" altLang="en-US" sz="2000">
              <a:sym typeface="+mn-ea"/>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46870" y="4500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PROBLEM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120" y="233045"/>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Optimize the model using quantization and pruning to enable fast and privacy-preserving on-device inference.</a:t>
            </a:r>
            <a:endParaRPr lang="en-US" sz="20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0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120" y="1007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75" name="Rounded Rectangle 74"/>
          <p:cNvSpPr/>
          <p:nvPr/>
        </p:nvSpPr>
        <p:spPr>
          <a:xfrm>
            <a:off x="822960" y="96012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1. Data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Reddit posts + CLPsych/UMD annotations  |  De-identification, tokenization (WordPiece)  |  User-level train/val/test split</a:t>
            </a:r>
            <a:endParaRPr sz="1000">
              <a:solidFill>
                <a:srgbClr val="222222"/>
              </a:solidFill>
              <a:latin typeface="Calibri" panose="020F0502020204030204"/>
            </a:endParaRPr>
          </a:p>
        </p:txBody>
      </p:sp>
      <p:sp>
        <p:nvSpPr>
          <p:cNvPr id="76" name="Down Arrow 75"/>
          <p:cNvSpPr/>
          <p:nvPr/>
        </p:nvSpPr>
        <p:spPr>
          <a:xfrm>
            <a:off x="5961888" y="152704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822960" y="165506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2. Core Model</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BERT-base-uncased / MentalBERT, fine-tuned on clinician-annotated risk labels</a:t>
            </a:r>
            <a:endParaRPr sz="1000">
              <a:solidFill>
                <a:srgbClr val="222222"/>
              </a:solidFill>
              <a:latin typeface="Calibri" panose="020F0502020204030204"/>
            </a:endParaRPr>
          </a:p>
        </p:txBody>
      </p:sp>
      <p:sp>
        <p:nvSpPr>
          <p:cNvPr id="78" name="Down Arrow 77"/>
          <p:cNvSpPr/>
          <p:nvPr/>
        </p:nvSpPr>
        <p:spPr>
          <a:xfrm>
            <a:off x="5961888" y="211226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822960" y="224028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3. Reverse-Engineering Module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SHAP (KernelSHAP)  |  BertViz attention maps  |  Hidden-layer probing  |  TCAV concept alignment</a:t>
            </a:r>
            <a:endParaRPr sz="1000">
              <a:solidFill>
                <a:srgbClr val="222222"/>
              </a:solidFill>
              <a:latin typeface="Calibri" panose="020F0502020204030204"/>
            </a:endParaRPr>
          </a:p>
        </p:txBody>
      </p:sp>
      <p:sp>
        <p:nvSpPr>
          <p:cNvPr id="80" name="Down Arrow 79"/>
          <p:cNvSpPr/>
          <p:nvPr/>
        </p:nvSpPr>
        <p:spPr>
          <a:xfrm>
            <a:off x="5961888" y="280720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822960" y="293522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4. Explainability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Maps model internals to clinical concepts: hopelessness, urgency, isolation</a:t>
            </a:r>
            <a:endParaRPr sz="1000">
              <a:solidFill>
                <a:srgbClr val="222222"/>
              </a:solidFill>
              <a:latin typeface="Calibri" panose="020F0502020204030204"/>
            </a:endParaRPr>
          </a:p>
        </p:txBody>
      </p:sp>
      <p:sp>
        <p:nvSpPr>
          <p:cNvPr id="82" name="Down Arrow 81"/>
          <p:cNvSpPr/>
          <p:nvPr/>
        </p:nvSpPr>
        <p:spPr>
          <a:xfrm>
            <a:off x="5961888" y="339242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822960" y="3520440"/>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5. Model Compression</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Quantization &amp; pruning for on-device inference</a:t>
            </a:r>
            <a:endParaRPr sz="1000">
              <a:solidFill>
                <a:srgbClr val="222222"/>
              </a:solidFill>
              <a:latin typeface="Calibri" panose="020F0502020204030204"/>
            </a:endParaRPr>
          </a:p>
        </p:txBody>
      </p:sp>
      <p:sp>
        <p:nvSpPr>
          <p:cNvPr id="84" name="Down Arrow 83"/>
          <p:cNvSpPr/>
          <p:nvPr/>
        </p:nvSpPr>
        <p:spPr>
          <a:xfrm>
            <a:off x="5961888" y="390448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822960" y="4032504"/>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6. MLOps Backbone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Versioning → Testing → CI/CD → Monitoring</a:t>
            </a:r>
            <a:endParaRPr sz="1000">
              <a:solidFill>
                <a:srgbClr val="222222"/>
              </a:solidFill>
              <a:latin typeface="Calibri" panose="020F0502020204030204"/>
            </a:endParaRPr>
          </a:p>
        </p:txBody>
      </p:sp>
      <p:sp>
        <p:nvSpPr>
          <p:cNvPr id="86" name="Down Arrow 85"/>
          <p:cNvSpPr/>
          <p:nvPr/>
        </p:nvSpPr>
        <p:spPr>
          <a:xfrm>
            <a:off x="5961888" y="4416552"/>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822960" y="4544568"/>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7. Cross-Platform Packaging</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TensorFlow Lite / ONNX runtime</a:t>
            </a:r>
            <a:endParaRPr sz="1000">
              <a:solidFill>
                <a:srgbClr val="222222"/>
              </a:solidFill>
              <a:latin typeface="Calibri" panose="020F0502020204030204"/>
            </a:endParaRPr>
          </a:p>
        </p:txBody>
      </p:sp>
      <p:sp>
        <p:nvSpPr>
          <p:cNvPr id="88" name="Rounded Rectangle 87"/>
          <p:cNvSpPr/>
          <p:nvPr/>
        </p:nvSpPr>
        <p:spPr>
          <a:xfrm>
            <a:off x="822960"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Android</a:t>
            </a:r>
            <a:endParaRPr sz="1000" b="1">
              <a:solidFill>
                <a:srgbClr val="00695C"/>
              </a:solidFill>
              <a:latin typeface="Calibri" panose="020F0502020204030204"/>
            </a:endParaRPr>
          </a:p>
        </p:txBody>
      </p:sp>
      <p:sp>
        <p:nvSpPr>
          <p:cNvPr id="89" name="Rounded Rectangle 88"/>
          <p:cNvSpPr/>
          <p:nvPr/>
        </p:nvSpPr>
        <p:spPr>
          <a:xfrm>
            <a:off x="2951683"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iOS</a:t>
            </a:r>
            <a:endParaRPr sz="1000" b="1">
              <a:solidFill>
                <a:srgbClr val="00695C"/>
              </a:solidFill>
              <a:latin typeface="Calibri" panose="020F0502020204030204"/>
            </a:endParaRPr>
          </a:p>
        </p:txBody>
      </p:sp>
      <p:sp>
        <p:nvSpPr>
          <p:cNvPr id="90" name="Rounded Rectangle 89"/>
          <p:cNvSpPr/>
          <p:nvPr/>
        </p:nvSpPr>
        <p:spPr>
          <a:xfrm>
            <a:off x="5080406"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Windows</a:t>
            </a:r>
            <a:endParaRPr sz="1000" b="1">
              <a:solidFill>
                <a:srgbClr val="00695C"/>
              </a:solidFill>
              <a:latin typeface="Calibri" panose="020F0502020204030204"/>
            </a:endParaRPr>
          </a:p>
        </p:txBody>
      </p:sp>
      <p:sp>
        <p:nvSpPr>
          <p:cNvPr id="91" name="Rounded Rectangle 90"/>
          <p:cNvSpPr/>
          <p:nvPr/>
        </p:nvSpPr>
        <p:spPr>
          <a:xfrm>
            <a:off x="7209129"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macOS</a:t>
            </a:r>
            <a:endParaRPr sz="1000" b="1">
              <a:solidFill>
                <a:srgbClr val="00695C"/>
              </a:solidFill>
              <a:latin typeface="Calibri" panose="020F0502020204030204"/>
            </a:endParaRPr>
          </a:p>
        </p:txBody>
      </p:sp>
      <p:sp>
        <p:nvSpPr>
          <p:cNvPr id="92" name="Rounded Rectangle 91"/>
          <p:cNvSpPr/>
          <p:nvPr/>
        </p:nvSpPr>
        <p:spPr>
          <a:xfrm>
            <a:off x="9337852"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Linux</a:t>
            </a:r>
            <a:endParaRPr sz="1000" b="1">
              <a:solidFill>
                <a:srgbClr val="00695C"/>
              </a:solidFill>
              <a:latin typeface="Calibri" panose="020F0502020204030204"/>
            </a:endParaRPr>
          </a:p>
        </p:txBody>
      </p:sp>
      <p:sp>
        <p:nvSpPr>
          <p:cNvPr id="93" name="Rounded Rectangle 92"/>
          <p:cNvSpPr/>
          <p:nvPr/>
        </p:nvSpPr>
        <p:spPr>
          <a:xfrm>
            <a:off x="822960" y="5422392"/>
            <a:ext cx="10515600" cy="502920"/>
          </a:xfrm>
          <a:prstGeom prst="roundRect">
            <a:avLst>
              <a:gd name="adj" fmla="val 10000"/>
            </a:avLst>
          </a:prstGeom>
          <a:solidFill>
            <a:srgbClr val="FCE4EC"/>
          </a:solidFill>
          <a:ln w="15875">
            <a:solidFill>
              <a:srgbClr val="B00030"/>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8. Serving &amp; Clinician Interface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Risk score + explanation + audit trail</a:t>
            </a:r>
            <a:endParaRPr sz="1000">
              <a:solidFill>
                <a:srgbClr val="222222"/>
              </a:solidFill>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46870" y="116755"/>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000" b="1" u="none" strike="noStrike">
                          <a:solidFill>
                            <a:schemeClr val="dk1"/>
                          </a:solidFill>
                          <a:effectLst/>
                          <a:uFillTx/>
                          <a:latin typeface="Calibri" panose="020F0502020204030204"/>
                        </a:rPr>
                        <a:t>Category</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Tools</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Category</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Tools</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000" b="1" u="none" strike="noStrike">
                          <a:solidFill>
                            <a:schemeClr val="dk1"/>
                          </a:solidFill>
                          <a:effectLst/>
                          <a:uFillTx/>
                          <a:latin typeface="Calibri" panose="020F0502020204030204"/>
                        </a:rPr>
                        <a:t>Programming</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1800" b="0" u="none" strike="noStrike">
                          <a:solidFill>
                            <a:schemeClr val="dk1"/>
                          </a:solidFill>
                          <a:effectLst/>
                          <a:uFillTx/>
                          <a:latin typeface="Calibri" panose="020F0502020204030204"/>
                        </a:rPr>
                        <a:t>Python</a:t>
                      </a:r>
                      <a:endParaRPr lang="en-IN" sz="18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Explainability</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0" u="none" strike="noStrike">
                          <a:solidFill>
                            <a:schemeClr val="dk1"/>
                          </a:solidFill>
                          <a:effectLst/>
                          <a:uFillTx/>
                          <a:latin typeface="Calibri" panose="020F0502020204030204"/>
                        </a:rPr>
                        <a:t>SHAP, BertViz (planned)</a:t>
                      </a:r>
                      <a:endParaRPr lang="en-IN"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000" b="1" u="none" strike="noStrike">
                          <a:solidFill>
                            <a:schemeClr val="dk1"/>
                          </a:solidFill>
                          <a:effectLst/>
                          <a:uFillTx/>
                          <a:latin typeface="Calibri" panose="020F0502020204030204"/>
                        </a:rPr>
                        <a:t>Deep Learning</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PyTorch, HuggingFace Transformers (BERT)</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1" u="none" strike="noStrike">
                          <a:solidFill>
                            <a:schemeClr val="dk1"/>
                          </a:solidFill>
                          <a:effectLst/>
                          <a:uFillTx/>
                          <a:latin typeface="Calibri" panose="020F0502020204030204"/>
                        </a:rPr>
                        <a:t>Model Optimization</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Quantization, Pruning (planned)</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000" b="1" u="none" strike="noStrike">
                          <a:solidFill>
                            <a:schemeClr val="dk1"/>
                          </a:solidFill>
                          <a:effectLst/>
                          <a:uFillTx/>
                          <a:latin typeface="Calibri" panose="020F0502020204030204"/>
                        </a:rPr>
                        <a:t>Backend Framework</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0" u="none" strike="noStrike">
                          <a:solidFill>
                            <a:schemeClr val="dk1"/>
                          </a:solidFill>
                          <a:effectLst/>
                          <a:uFillTx/>
                          <a:latin typeface="Calibri" panose="020F0502020204030204"/>
                        </a:rPr>
                        <a:t>FastAPI, Uvicorn, Pydantic</a:t>
                      </a:r>
                      <a:endParaRPr lang="en-IN"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1" u="none" strike="noStrike">
                          <a:solidFill>
                            <a:schemeClr val="dk1"/>
                          </a:solidFill>
                          <a:effectLst/>
                          <a:uFillTx/>
                          <a:latin typeface="Calibri" panose="020F0502020204030204"/>
                        </a:rPr>
                        <a:t>Deployment</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ONNX Runtime, TFLite (planned)</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000" b="1" u="none" strike="noStrike">
                          <a:solidFill>
                            <a:schemeClr val="dk1"/>
                          </a:solidFill>
                          <a:effectLst/>
                          <a:uFillTx/>
                          <a:latin typeface="Calibri" panose="020F0502020204030204"/>
                        </a:rPr>
                        <a:t>Frontend</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Streamlit, Plotly, Pandas</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1" u="none" strike="noStrike">
                          <a:solidFill>
                            <a:schemeClr val="dk1"/>
                          </a:solidFill>
                          <a:effectLst/>
                          <a:uFillTx/>
                          <a:latin typeface="Calibri" panose="020F0502020204030204"/>
                        </a:rPr>
                        <a:t>MLOps &amp; Containerization</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MLflow, Optuna, Docker (planned)</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25" y="116840"/>
            <a:ext cx="11247120" cy="640080"/>
          </a:xfrm>
          <a:prstGeom prst="rect">
            <a:avLst/>
          </a:prstGeom>
          <a:noFill/>
        </p:spPr>
        <p:txBody>
          <a:bodyPr wrap="square">
            <a:spAutoFit/>
          </a:bodyPr>
          <a:lstStyle/>
          <a:p>
            <a:r>
              <a:rPr sz="3200" b="1">
                <a:solidFill>
                  <a:srgbClr val="FF0000"/>
                </a:solidFill>
                <a:latin typeface="Calibri" panose="020F0502020204030204"/>
              </a:rPr>
              <a:t>PROTOTYPE STATUS &amp; ACCURACY ROADMAP:</a:t>
            </a:r>
            <a:endParaRPr sz="3200" b="1">
              <a:solidFill>
                <a:srgbClr val="FF0000"/>
              </a:solidFill>
              <a:latin typeface="Calibri" panose="020F0502020204030204"/>
            </a:endParaRPr>
          </a:p>
        </p:txBody>
      </p:sp>
      <p:sp>
        <p:nvSpPr>
          <p:cNvPr id="3" name="TextBox 2"/>
          <p:cNvSpPr txBox="1"/>
          <p:nvPr/>
        </p:nvSpPr>
        <p:spPr>
          <a:xfrm>
            <a:off x="457200" y="777240"/>
            <a:ext cx="11247120" cy="706755"/>
          </a:xfrm>
          <a:prstGeom prst="rect">
            <a:avLst/>
          </a:prstGeom>
          <a:noFill/>
        </p:spPr>
        <p:txBody>
          <a:bodyPr wrap="square">
            <a:spAutoFit/>
          </a:bodyPr>
          <a:lstStyle/>
          <a:p>
            <a:r>
              <a:rPr sz="2000">
                <a:solidFill>
                  <a:srgbClr val="6E6E6E"/>
                </a:solidFill>
                <a:latin typeface="Calibri" panose="020F0502020204030204"/>
              </a:rPr>
              <a:t>Current build: architecture complete, classifier head untrained — no measured accuracy yet. Chart below shows project targets, not results.</a:t>
            </a:r>
            <a:endParaRPr sz="2000">
              <a:solidFill>
                <a:srgbClr val="6E6E6E"/>
              </a:solidFill>
              <a:latin typeface="Calibri" panose="020F0502020204030204"/>
            </a:endParaRPr>
          </a:p>
        </p:txBody>
      </p:sp>
      <p:sp>
        <p:nvSpPr>
          <p:cNvPr id="4" name="TextBox 3"/>
          <p:cNvSpPr txBox="1"/>
          <p:nvPr/>
        </p:nvSpPr>
        <p:spPr>
          <a:xfrm>
            <a:off x="457200" y="1417320"/>
            <a:ext cx="5120640" cy="3681730"/>
          </a:xfrm>
          <a:prstGeom prst="rect">
            <a:avLst/>
          </a:prstGeom>
          <a:noFill/>
        </p:spPr>
        <p:txBody>
          <a:bodyPr wrap="square">
            <a:spAutoFit/>
          </a:bodyPr>
          <a:lstStyle/>
          <a:p>
            <a:r>
              <a:rPr sz="2000" b="1">
                <a:solidFill>
                  <a:srgbClr val="2F3C7E"/>
                </a:solidFill>
                <a:latin typeface="Calibri" panose="020F0502020204030204"/>
              </a:rPr>
              <a:t>Component Status</a:t>
            </a:r>
            <a:endParaRPr sz="2000" b="1">
              <a:solidFill>
                <a:srgbClr val="2F3C7E"/>
              </a:solidFill>
              <a:latin typeface="Calibri" panose="020F0502020204030204"/>
            </a:endParaRPr>
          </a:p>
          <a:p>
            <a:pPr>
              <a:spcBef>
                <a:spcPts val="800"/>
              </a:spcBef>
            </a:pPr>
            <a:r>
              <a:rPr sz="2000" b="1">
                <a:solidFill>
                  <a:srgbClr val="2E7D32"/>
                </a:solidFill>
                <a:latin typeface="Calibri" panose="020F0502020204030204"/>
              </a:rPr>
              <a:t>✓  Project structure &amp; config</a:t>
            </a:r>
            <a:endParaRPr sz="2000" b="1">
              <a:solidFill>
                <a:srgbClr val="2E7D32"/>
              </a:solidFill>
              <a:latin typeface="Calibri" panose="020F0502020204030204"/>
            </a:endParaRPr>
          </a:p>
          <a:p>
            <a:pPr>
              <a:spcBef>
                <a:spcPts val="800"/>
              </a:spcBef>
            </a:pPr>
            <a:r>
              <a:rPr sz="2000" b="1">
                <a:solidFill>
                  <a:srgbClr val="2E7D32"/>
                </a:solidFill>
                <a:latin typeface="Calibri" panose="020F0502020204030204"/>
              </a:rPr>
              <a:t>✓  BERT backbone + classifier head</a:t>
            </a:r>
            <a:endParaRPr sz="2000" b="1">
              <a:solidFill>
                <a:srgbClr val="2E7D32"/>
              </a:solidFill>
              <a:latin typeface="Calibri" panose="020F0502020204030204"/>
            </a:endParaRPr>
          </a:p>
          <a:p>
            <a:pPr>
              <a:spcBef>
                <a:spcPts val="800"/>
              </a:spcBef>
            </a:pPr>
            <a:r>
              <a:rPr sz="2000" b="1">
                <a:solidFill>
                  <a:srgbClr val="2E7D32"/>
                </a:solidFill>
                <a:latin typeface="Calibri" panose="020F0502020204030204"/>
              </a:rPr>
              <a:t>✓  Inference pipeline &amp; CLI</a:t>
            </a:r>
            <a:endParaRPr sz="2000" b="1">
              <a:solidFill>
                <a:srgbClr val="2E7D32"/>
              </a:solidFill>
              <a:latin typeface="Calibri" panose="020F0502020204030204"/>
            </a:endParaRPr>
          </a:p>
          <a:p>
            <a:pPr>
              <a:spcBef>
                <a:spcPts val="800"/>
              </a:spcBef>
            </a:pPr>
            <a:r>
              <a:rPr sz="2000" b="1">
                <a:solidFill>
                  <a:srgbClr val="2E7D32"/>
                </a:solidFill>
                <a:latin typeface="Calibri" panose="020F0502020204030204"/>
              </a:rPr>
              <a:t>✓  Attention-based explainability (basic)</a:t>
            </a:r>
            <a:endParaRPr sz="2000" b="1">
              <a:solidFill>
                <a:srgbClr val="2E7D32"/>
              </a:solidFill>
              <a:latin typeface="Calibri" panose="020F0502020204030204"/>
            </a:endParaRPr>
          </a:p>
          <a:p>
            <a:pPr>
              <a:spcBef>
                <a:spcPts val="800"/>
              </a:spcBef>
            </a:pPr>
            <a:r>
              <a:rPr sz="2000" b="0">
                <a:solidFill>
                  <a:srgbClr val="B00000"/>
                </a:solidFill>
                <a:latin typeface="Calibri" panose="020F0502020204030204"/>
              </a:rPr>
              <a:t>✗  Fine-tuning on labeled risk data</a:t>
            </a:r>
            <a:endParaRPr sz="2000" b="0">
              <a:solidFill>
                <a:srgbClr val="B00000"/>
              </a:solidFill>
              <a:latin typeface="Calibri" panose="020F0502020204030204"/>
            </a:endParaRPr>
          </a:p>
          <a:p>
            <a:pPr>
              <a:spcBef>
                <a:spcPts val="800"/>
              </a:spcBef>
            </a:pPr>
            <a:r>
              <a:rPr sz="2000" b="0">
                <a:solidFill>
                  <a:srgbClr val="B00000"/>
                </a:solidFill>
                <a:latin typeface="Calibri" panose="020F0502020204030204"/>
              </a:rPr>
              <a:t>✗  SHAP / TCAV / probing</a:t>
            </a:r>
            <a:endParaRPr sz="2000" b="0">
              <a:solidFill>
                <a:srgbClr val="B00000"/>
              </a:solidFill>
              <a:latin typeface="Calibri" panose="020F0502020204030204"/>
            </a:endParaRPr>
          </a:p>
          <a:p>
            <a:pPr>
              <a:spcBef>
                <a:spcPts val="800"/>
              </a:spcBef>
            </a:pPr>
            <a:r>
              <a:rPr sz="2000" b="0">
                <a:solidFill>
                  <a:srgbClr val="B00000"/>
                </a:solidFill>
                <a:latin typeface="Calibri" panose="020F0502020204030204"/>
              </a:rPr>
              <a:t>✗  Model compression (ONNX / TFLite)</a:t>
            </a:r>
            <a:endParaRPr sz="2000" b="0">
              <a:solidFill>
                <a:srgbClr val="B00000"/>
              </a:solidFill>
              <a:latin typeface="Calibri" panose="020F0502020204030204"/>
            </a:endParaRPr>
          </a:p>
          <a:p>
            <a:pPr>
              <a:spcBef>
                <a:spcPts val="800"/>
              </a:spcBef>
            </a:pPr>
            <a:r>
              <a:rPr sz="2000" b="0">
                <a:solidFill>
                  <a:srgbClr val="B00000"/>
                </a:solidFill>
                <a:latin typeface="Calibri" panose="020F0502020204030204"/>
              </a:rPr>
              <a:t>✗  Clinical validation</a:t>
            </a:r>
            <a:endParaRPr sz="2000" b="0">
              <a:solidFill>
                <a:srgbClr val="B00000"/>
              </a:solidFill>
              <a:latin typeface="Calibri" panose="020F0502020204030204"/>
            </a:endParaRPr>
          </a:p>
        </p:txBody>
      </p:sp>
      <p:sp>
        <p:nvSpPr>
          <p:cNvPr id="5" name="TextBox 4"/>
          <p:cNvSpPr txBox="1"/>
          <p:nvPr/>
        </p:nvSpPr>
        <p:spPr>
          <a:xfrm>
            <a:off x="457200" y="5074920"/>
            <a:ext cx="5120640" cy="1234440"/>
          </a:xfrm>
          <a:prstGeom prst="rect">
            <a:avLst/>
          </a:prstGeom>
          <a:noFill/>
        </p:spPr>
        <p:txBody>
          <a:bodyPr wrap="none">
            <a:spAutoFit/>
          </a:bodyPr>
          <a:lstStyle/>
          <a:p>
            <a:r>
              <a:rPr sz="4800" b="1">
                <a:solidFill>
                  <a:srgbClr val="2F3C7E"/>
                </a:solidFill>
                <a:latin typeface="Calibri" panose="020F0502020204030204"/>
              </a:rPr>
              <a:t>~35%</a:t>
            </a:r>
            <a:endParaRPr sz="4800" b="1">
              <a:solidFill>
                <a:srgbClr val="2F3C7E"/>
              </a:solidFill>
              <a:latin typeface="Calibri" panose="020F0502020204030204"/>
            </a:endParaRPr>
          </a:p>
          <a:p>
            <a:r>
              <a:rPr sz="1300">
                <a:solidFill>
                  <a:srgbClr val="6E6E6E"/>
                </a:solidFill>
                <a:latin typeface="Calibri" panose="020F0502020204030204"/>
              </a:rPr>
              <a:t>overall prototype completion (per README)</a:t>
            </a:r>
            <a:endParaRPr sz="1300">
              <a:solidFill>
                <a:srgbClr val="6E6E6E"/>
              </a:solidFill>
              <a:latin typeface="Calibri" panose="020F0502020204030204"/>
            </a:endParaRPr>
          </a:p>
        </p:txBody>
      </p:sp>
      <p:graphicFrame>
        <p:nvGraphicFramePr>
          <p:cNvPr id="6" name="Chart 5"/>
          <p:cNvGraphicFramePr>
            <a:graphicFrameLocks noGrp="1"/>
          </p:cNvGraphicFramePr>
          <p:nvPr/>
        </p:nvGraphicFramePr>
        <p:xfrm>
          <a:off x="4989195" y="1417320"/>
          <a:ext cx="6988810" cy="4206240"/>
        </p:xfrm>
        <a:graphic>
          <a:graphicData uri="http://schemas.openxmlformats.org/drawingml/2006/chart">
            <c:chart xmlns:c="http://schemas.openxmlformats.org/drawingml/2006/chart" xmlns:r="http://schemas.openxmlformats.org/officeDocument/2006/relationships" r:id="rId1"/>
          </a:graphicData>
        </a:graphic>
      </p:graphicFrame>
      <p:sp>
        <p:nvSpPr>
          <p:cNvPr id="7" name="TextBox 6"/>
          <p:cNvSpPr txBox="1"/>
          <p:nvPr/>
        </p:nvSpPr>
        <p:spPr>
          <a:xfrm>
            <a:off x="4008120" y="5623560"/>
            <a:ext cx="8053705" cy="645160"/>
          </a:xfrm>
          <a:prstGeom prst="rect">
            <a:avLst/>
          </a:prstGeom>
          <a:noFill/>
        </p:spPr>
        <p:txBody>
          <a:bodyPr wrap="square">
            <a:spAutoFit/>
          </a:bodyPr>
          <a:lstStyle/>
          <a:p>
            <a:r>
              <a:rPr i="1">
                <a:solidFill>
                  <a:srgbClr val="6E6E6E"/>
                </a:solidFill>
                <a:latin typeface="Calibri" panose="020F0502020204030204"/>
              </a:rPr>
              <a:t>*Targets are project goals only. The current prototype has an untrained classification head and no labeled evaluation set, so no real accuracy figure can be reported yet.</a:t>
            </a:r>
            <a:endParaRPr i="1">
              <a:solidFill>
                <a:srgbClr val="6E6E6E"/>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6990" y="188595"/>
            <a:ext cx="10514965" cy="558800"/>
          </a:xfrm>
        </p:spPr>
        <p:txBody>
          <a:bodyPr/>
          <a:p>
            <a:r>
              <a:rPr lang="en-US" sz="3200" b="1">
                <a:solidFill>
                  <a:srgbClr val="FF0000"/>
                </a:solidFill>
              </a:rPr>
              <a:t>SYSTEM ARCHITECTURE:</a:t>
            </a:r>
            <a:endParaRPr lang="en-US" sz="3200" b="1">
              <a:solidFill>
                <a:srgbClr val="FF0000"/>
              </a:solidFill>
            </a:endParaRPr>
          </a:p>
        </p:txBody>
      </p:sp>
      <p:sp>
        <p:nvSpPr>
          <p:cNvPr id="3" name="Rounded Rectangle 2"/>
          <p:cNvSpPr/>
          <p:nvPr/>
        </p:nvSpPr>
        <p:spPr>
          <a:xfrm>
            <a:off x="4267047" y="1234440"/>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2F3C7E"/>
                </a:solidFill>
                <a:latin typeface="Calibri" panose="020F0502020204030204"/>
              </a:rPr>
              <a:t>User text (consented)</a:t>
            </a:r>
            <a:endParaRPr sz="1300" b="1" i="0">
              <a:solidFill>
                <a:srgbClr val="2F3C7E"/>
              </a:solidFill>
              <a:latin typeface="Calibri" panose="020F0502020204030204"/>
            </a:endParaRPr>
          </a:p>
        </p:txBody>
      </p:sp>
      <p:sp>
        <p:nvSpPr>
          <p:cNvPr id="4" name="Down Arrow 3"/>
          <p:cNvSpPr/>
          <p:nvPr/>
        </p:nvSpPr>
        <p:spPr>
          <a:xfrm>
            <a:off x="5935827" y="169164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947007" y="194767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Tokenizer (BERT)</a:t>
            </a:r>
            <a:endParaRPr sz="1400" b="1" i="0">
              <a:solidFill>
                <a:srgbClr val="FFFFFF"/>
              </a:solidFill>
              <a:latin typeface="Calibri" panose="020F0502020204030204"/>
            </a:endParaRPr>
          </a:p>
        </p:txBody>
      </p:sp>
      <p:sp>
        <p:nvSpPr>
          <p:cNvPr id="6" name="Down Arrow 5"/>
          <p:cNvSpPr/>
          <p:nvPr/>
        </p:nvSpPr>
        <p:spPr>
          <a:xfrm>
            <a:off x="5935827" y="251460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47007" y="277063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BERT Encoder</a:t>
            </a:r>
            <a:endParaRPr sz="1400" b="1" i="0">
              <a:solidFill>
                <a:srgbClr val="FFFFFF"/>
              </a:solidFill>
              <a:latin typeface="Calibri" panose="020F0502020204030204"/>
            </a:endParaRPr>
          </a:p>
          <a:p>
            <a:pPr algn="ctr"/>
            <a:r>
              <a:rPr sz="1400" b="0" i="0">
                <a:solidFill>
                  <a:srgbClr val="FFFFFF"/>
                </a:solidFill>
                <a:latin typeface="Calibri" panose="020F0502020204030204"/>
              </a:rPr>
              <a:t>(attention layers)</a:t>
            </a:r>
            <a:endParaRPr sz="1400" b="0" i="0">
              <a:solidFill>
                <a:srgbClr val="FFFFFF"/>
              </a:solidFill>
              <a:latin typeface="Calibri" panose="020F0502020204030204"/>
            </a:endParaRPr>
          </a:p>
        </p:txBody>
      </p:sp>
      <p:sp>
        <p:nvSpPr>
          <p:cNvPr id="8" name="TextBox 7"/>
          <p:cNvSpPr txBox="1"/>
          <p:nvPr/>
        </p:nvSpPr>
        <p:spPr>
          <a:xfrm>
            <a:off x="8473287" y="2770632"/>
            <a:ext cx="3017520" cy="566928"/>
          </a:xfrm>
          <a:prstGeom prst="rect">
            <a:avLst/>
          </a:prstGeom>
          <a:noFill/>
        </p:spPr>
        <p:txBody>
          <a:bodyPr wrap="square" lIns="0" rIns="0" anchor="ctr"/>
          <a:lstStyle/>
          <a:p>
            <a:pPr algn="l"/>
            <a:r>
              <a:rPr sz="1200" i="1">
                <a:solidFill>
                  <a:srgbClr val="B00000"/>
                </a:solidFill>
                <a:latin typeface="Calibri" panose="020F0502020204030204"/>
              </a:rPr>
              <a:t>←  reverse-engineering target</a:t>
            </a:r>
            <a:endParaRPr sz="1200" i="1">
              <a:solidFill>
                <a:srgbClr val="B00000"/>
              </a:solidFill>
              <a:latin typeface="Calibri" panose="020F0502020204030204"/>
            </a:endParaRPr>
          </a:p>
        </p:txBody>
      </p:sp>
      <p:sp>
        <p:nvSpPr>
          <p:cNvPr id="9" name="Down Arrow 8"/>
          <p:cNvSpPr/>
          <p:nvPr/>
        </p:nvSpPr>
        <p:spPr>
          <a:xfrm>
            <a:off x="5935827" y="333756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47007" y="359359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Classification Head</a:t>
            </a:r>
            <a:endParaRPr sz="1400" b="1" i="0">
              <a:solidFill>
                <a:srgbClr val="FFFFFF"/>
              </a:solidFill>
              <a:latin typeface="Calibri" panose="020F0502020204030204"/>
            </a:endParaRPr>
          </a:p>
        </p:txBody>
      </p:sp>
      <p:sp>
        <p:nvSpPr>
          <p:cNvPr id="11" name="TextBox 10"/>
          <p:cNvSpPr txBox="1"/>
          <p:nvPr/>
        </p:nvSpPr>
        <p:spPr>
          <a:xfrm>
            <a:off x="8473287" y="3593592"/>
            <a:ext cx="3017520" cy="566928"/>
          </a:xfrm>
          <a:prstGeom prst="rect">
            <a:avLst/>
          </a:prstGeom>
          <a:noFill/>
        </p:spPr>
        <p:txBody>
          <a:bodyPr wrap="square" lIns="0" rIns="0" anchor="ctr"/>
          <a:lstStyle/>
          <a:p>
            <a:pPr algn="l"/>
            <a:r>
              <a:rPr sz="1200" i="1">
                <a:solidFill>
                  <a:srgbClr val="B00000"/>
                </a:solidFill>
                <a:latin typeface="Calibri" panose="020F0502020204030204"/>
              </a:rPr>
              <a:t>←  4-class head (No / Low / Moderate / High)</a:t>
            </a:r>
            <a:endParaRPr sz="1200" i="1">
              <a:solidFill>
                <a:srgbClr val="B00000"/>
              </a:solidFill>
              <a:latin typeface="Calibri" panose="020F0502020204030204"/>
            </a:endParaRPr>
          </a:p>
        </p:txBody>
      </p:sp>
      <p:sp>
        <p:nvSpPr>
          <p:cNvPr id="12" name="Down Arrow 11"/>
          <p:cNvSpPr/>
          <p:nvPr/>
        </p:nvSpPr>
        <p:spPr>
          <a:xfrm>
            <a:off x="5935827" y="416052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47007" y="441655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Simple XAI (prototype)</a:t>
            </a:r>
            <a:endParaRPr sz="1400" b="1" i="0">
              <a:solidFill>
                <a:srgbClr val="FFFFFF"/>
              </a:solidFill>
              <a:latin typeface="Calibri" panose="020F0502020204030204"/>
            </a:endParaRPr>
          </a:p>
        </p:txBody>
      </p:sp>
      <p:sp>
        <p:nvSpPr>
          <p:cNvPr id="14" name="TextBox 13"/>
          <p:cNvSpPr txBox="1"/>
          <p:nvPr/>
        </p:nvSpPr>
        <p:spPr>
          <a:xfrm>
            <a:off x="8473287" y="4416552"/>
            <a:ext cx="3017520" cy="566928"/>
          </a:xfrm>
          <a:prstGeom prst="rect">
            <a:avLst/>
          </a:prstGeom>
          <a:noFill/>
        </p:spPr>
        <p:txBody>
          <a:bodyPr wrap="square" lIns="0" rIns="0" anchor="ctr"/>
          <a:lstStyle/>
          <a:p>
            <a:pPr algn="l"/>
            <a:r>
              <a:rPr sz="1200" i="1">
                <a:solidFill>
                  <a:srgbClr val="B00000"/>
                </a:solidFill>
                <a:latin typeface="Calibri" panose="020F0502020204030204"/>
              </a:rPr>
              <a:t>←  last-layer attention → token importance</a:t>
            </a:r>
            <a:endParaRPr sz="1200" i="1">
              <a:solidFill>
                <a:srgbClr val="B00000"/>
              </a:solidFill>
              <a:latin typeface="Calibri" panose="020F0502020204030204"/>
            </a:endParaRPr>
          </a:p>
        </p:txBody>
      </p:sp>
      <p:sp>
        <p:nvSpPr>
          <p:cNvPr id="15" name="Down Arrow 14"/>
          <p:cNvSpPr/>
          <p:nvPr/>
        </p:nvSpPr>
        <p:spPr>
          <a:xfrm>
            <a:off x="5935827" y="498348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67047" y="5239512"/>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2F3C7E"/>
                </a:solidFill>
                <a:latin typeface="Calibri" panose="020F0502020204030204"/>
              </a:rPr>
              <a:t>JSON report + flags</a:t>
            </a:r>
            <a:endParaRPr sz="1250" b="1" i="0">
              <a:solidFill>
                <a:srgbClr val="2F3C7E"/>
              </a:solidFill>
              <a:latin typeface="Calibri" panose="020F0502020204030204"/>
            </a:endParaRPr>
          </a:p>
          <a:p>
            <a:pPr algn="ctr"/>
            <a:r>
              <a:rPr sz="1250" b="0" i="0">
                <a:solidFill>
                  <a:srgbClr val="2F3C7E"/>
                </a:solidFill>
                <a:latin typeface="Calibri" panose="020F0502020204030204"/>
              </a:rPr>
              <a:t>(always requires human review)</a:t>
            </a:r>
            <a:endParaRPr sz="1250" b="0" i="0">
              <a:solidFill>
                <a:srgbClr val="2F3C7E"/>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46870" y="4500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MODEL EXPLANATION:</a:t>
            </a:r>
            <a:endParaRPr lang="en-US" sz="3600" b="1" u="none" strike="noStrike">
              <a:solidFill>
                <a:schemeClr val="dk1"/>
              </a:solidFill>
              <a:effectLst/>
              <a:uFillTx/>
              <a:latin typeface="Calibri Light" panose="020F0302020204030204"/>
            </a:endParaRPr>
          </a:p>
        </p:txBody>
      </p:sp>
      <p:sp>
        <p:nvSpPr>
          <p:cNvPr id="67" name="TextBox 66"/>
          <p:cNvSpPr txBox="1"/>
          <p:nvPr/>
        </p:nvSpPr>
        <p:spPr>
          <a:xfrm>
            <a:off x="411480" y="685800"/>
            <a:ext cx="10607040" cy="320040"/>
          </a:xfrm>
          <a:prstGeom prst="rect">
            <a:avLst/>
          </a:prstGeom>
          <a:noFill/>
        </p:spPr>
        <p:txBody>
          <a:bodyPr wrap="square">
            <a:spAutoFit/>
          </a:bodyPr>
          <a:lstStyle/>
          <a:p>
            <a:r>
              <a:rPr sz="1300" b="0" i="1">
                <a:solidFill>
                  <a:srgbClr val="555555"/>
                </a:solidFill>
                <a:latin typeface="Calibri" panose="020F0502020204030204"/>
              </a:rPr>
              <a:t>How CrisisFormer turns a piece of text into a risk score, layer by layer.</a:t>
            </a:r>
            <a:endParaRPr sz="1300" b="0" i="1">
              <a:solidFill>
                <a:srgbClr val="555555"/>
              </a:solidFill>
              <a:latin typeface="Calibri" panose="020F0502020204030204"/>
            </a:endParaRPr>
          </a:p>
        </p:txBody>
      </p:sp>
      <p:sp>
        <p:nvSpPr>
          <p:cNvPr id="68" name="Oval 67"/>
          <p:cNvSpPr/>
          <p:nvPr/>
        </p:nvSpPr>
        <p:spPr>
          <a:xfrm>
            <a:off x="411480" y="1170432"/>
            <a:ext cx="365760" cy="365760"/>
          </a:xfrm>
          <a:prstGeom prst="ellipse">
            <a:avLst/>
          </a:prstGeom>
          <a:solidFill>
            <a:srgbClr val="E8352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panose="020F0502020204030204"/>
              </a:rPr>
              <a:t>1</a:t>
            </a:r>
            <a:endParaRPr sz="1500" b="1" i="0">
              <a:solidFill>
                <a:srgbClr val="FFFFFF"/>
              </a:solidFill>
              <a:latin typeface="Calibri" panose="020F0502020204030204"/>
            </a:endParaRPr>
          </a:p>
        </p:txBody>
      </p:sp>
      <p:sp>
        <p:nvSpPr>
          <p:cNvPr id="69" name="Rounded Rectangle 68"/>
          <p:cNvSpPr/>
          <p:nvPr/>
        </p:nvSpPr>
        <p:spPr>
          <a:xfrm>
            <a:off x="914400" y="1097280"/>
            <a:ext cx="10104120" cy="804672"/>
          </a:xfrm>
          <a:prstGeom prst="roundRect">
            <a:avLst>
              <a:gd name="adj" fmla="val 6000"/>
            </a:avLst>
          </a:prstGeom>
          <a:solidFill>
            <a:srgbClr val="F4F4F4"/>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37160" tIns="36576" rIns="137160" bIns="18288" rtlCol="0" anchor="ctr"/>
          <a:lstStyle/>
          <a:p>
            <a:pPr algn="ctr"/>
            <a:r>
              <a:rPr sz="1350" b="1" i="0">
                <a:solidFill>
                  <a:srgbClr val="1B2A4A"/>
                </a:solidFill>
                <a:latin typeface="Calibri" panose="020F0502020204030204"/>
              </a:rPr>
              <a:t>Tokenizer (BERT)</a:t>
            </a:r>
            <a:endParaRPr sz="1350" b="1" i="0">
              <a:solidFill>
                <a:srgbClr val="1B2A4A"/>
              </a:solidFill>
              <a:latin typeface="Calibri" panose="020F0502020204030204"/>
            </a:endParaRPr>
          </a:p>
          <a:p>
            <a:r>
              <a:rPr sz="1100" b="0" i="0">
                <a:solidFill>
                  <a:srgbClr val="222222"/>
                </a:solidFill>
                <a:latin typeface="Calibri" panose="020F0502020204030204"/>
              </a:rPr>
              <a:t>User text is cleaned, de-identified, and split into WordPiece tokens the model understands.</a:t>
            </a:r>
            <a:endParaRPr sz="1100" b="0" i="0">
              <a:solidFill>
                <a:srgbClr val="222222"/>
              </a:solidFill>
              <a:latin typeface="Calibri" panose="020F0502020204030204"/>
            </a:endParaRPr>
          </a:p>
        </p:txBody>
      </p:sp>
      <p:sp>
        <p:nvSpPr>
          <p:cNvPr id="70" name="Oval 69"/>
          <p:cNvSpPr/>
          <p:nvPr/>
        </p:nvSpPr>
        <p:spPr>
          <a:xfrm>
            <a:off x="411480" y="2103120"/>
            <a:ext cx="365760" cy="365760"/>
          </a:xfrm>
          <a:prstGeom prst="ellipse">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panose="020F0502020204030204"/>
              </a:rPr>
              <a:t>2</a:t>
            </a:r>
            <a:endParaRPr sz="1500" b="1" i="0">
              <a:solidFill>
                <a:srgbClr val="FFFFFF"/>
              </a:solidFill>
              <a:latin typeface="Calibri" panose="020F0502020204030204"/>
            </a:endParaRPr>
          </a:p>
        </p:txBody>
      </p:sp>
      <p:sp>
        <p:nvSpPr>
          <p:cNvPr id="71" name="Rounded Rectangle 70"/>
          <p:cNvSpPr/>
          <p:nvPr/>
        </p:nvSpPr>
        <p:spPr>
          <a:xfrm>
            <a:off x="914400" y="2029967"/>
            <a:ext cx="10104120" cy="804672"/>
          </a:xfrm>
          <a:prstGeom prst="roundRect">
            <a:avLst>
              <a:gd name="adj" fmla="val 6000"/>
            </a:avLst>
          </a:prstGeom>
          <a:solidFill>
            <a:srgbClr val="F4F4F4"/>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37160" tIns="36576" rIns="137160" bIns="18288" rtlCol="0" anchor="ctr"/>
          <a:lstStyle/>
          <a:p>
            <a:pPr algn="ctr"/>
            <a:r>
              <a:rPr sz="1350" b="1" i="0">
                <a:solidFill>
                  <a:srgbClr val="1B2A4A"/>
                </a:solidFill>
                <a:latin typeface="Calibri" panose="020F0502020204030204"/>
              </a:rPr>
              <a:t>BERT / DistilBERT Encoder</a:t>
            </a:r>
            <a:endParaRPr sz="1350" b="1" i="0">
              <a:solidFill>
                <a:srgbClr val="1B2A4A"/>
              </a:solidFill>
              <a:latin typeface="Calibri" panose="020F0502020204030204"/>
            </a:endParaRPr>
          </a:p>
          <a:p>
            <a:r>
              <a:rPr sz="1100" b="0" i="0">
                <a:solidFill>
                  <a:srgbClr val="222222"/>
                </a:solidFill>
                <a:latin typeface="Calibri" panose="020F0502020204030204"/>
              </a:rPr>
              <a:t>Self-attention layers build contextual meaning across the sentence; each token attends to every other token.</a:t>
            </a:r>
            <a:endParaRPr sz="1100" b="0" i="0">
              <a:solidFill>
                <a:srgbClr val="222222"/>
              </a:solidFill>
              <a:latin typeface="Calibri" panose="020F0502020204030204"/>
            </a:endParaRPr>
          </a:p>
        </p:txBody>
      </p:sp>
      <p:sp>
        <p:nvSpPr>
          <p:cNvPr id="72" name="Oval 71"/>
          <p:cNvSpPr/>
          <p:nvPr/>
        </p:nvSpPr>
        <p:spPr>
          <a:xfrm>
            <a:off x="411480" y="3035808"/>
            <a:ext cx="365760" cy="365760"/>
          </a:xfrm>
          <a:prstGeom prst="ellipse">
            <a:avLst/>
          </a:prstGeom>
          <a:solidFill>
            <a:srgbClr val="E8352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panose="020F0502020204030204"/>
              </a:rPr>
              <a:t>3</a:t>
            </a:r>
            <a:endParaRPr sz="1500" b="1" i="0">
              <a:solidFill>
                <a:srgbClr val="FFFFFF"/>
              </a:solidFill>
              <a:latin typeface="Calibri" panose="020F0502020204030204"/>
            </a:endParaRPr>
          </a:p>
        </p:txBody>
      </p:sp>
      <p:sp>
        <p:nvSpPr>
          <p:cNvPr id="73" name="Rounded Rectangle 72"/>
          <p:cNvSpPr/>
          <p:nvPr/>
        </p:nvSpPr>
        <p:spPr>
          <a:xfrm>
            <a:off x="914400" y="2962656"/>
            <a:ext cx="10104120" cy="804672"/>
          </a:xfrm>
          <a:prstGeom prst="roundRect">
            <a:avLst>
              <a:gd name="adj" fmla="val 6000"/>
            </a:avLst>
          </a:prstGeom>
          <a:solidFill>
            <a:srgbClr val="F4F4F4"/>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37160" tIns="36576" rIns="137160" bIns="18288" rtlCol="0" anchor="ctr"/>
          <a:lstStyle/>
          <a:p>
            <a:pPr algn="ctr"/>
            <a:r>
              <a:rPr sz="1350" b="1" i="0">
                <a:solidFill>
                  <a:srgbClr val="1B2A4A"/>
                </a:solidFill>
                <a:latin typeface="Calibri" panose="020F0502020204030204"/>
              </a:rPr>
              <a:t>Classification Head</a:t>
            </a:r>
            <a:endParaRPr sz="1350" b="1" i="0">
              <a:solidFill>
                <a:srgbClr val="1B2A4A"/>
              </a:solidFill>
              <a:latin typeface="Calibri" panose="020F0502020204030204"/>
            </a:endParaRPr>
          </a:p>
          <a:p>
            <a:r>
              <a:rPr sz="1100" b="0" i="0">
                <a:solidFill>
                  <a:srgbClr val="222222"/>
                </a:solidFill>
                <a:latin typeface="Calibri" panose="020F0502020204030204"/>
              </a:rPr>
              <a:t>A 4-class head (No / Low / Moderate / High risk) maps the encoded representation to a risk category.</a:t>
            </a:r>
            <a:endParaRPr sz="1100" b="0" i="0">
              <a:solidFill>
                <a:srgbClr val="222222"/>
              </a:solidFill>
              <a:latin typeface="Calibri" panose="020F0502020204030204"/>
            </a:endParaRPr>
          </a:p>
        </p:txBody>
      </p:sp>
      <p:sp>
        <p:nvSpPr>
          <p:cNvPr id="74" name="Oval 73"/>
          <p:cNvSpPr/>
          <p:nvPr/>
        </p:nvSpPr>
        <p:spPr>
          <a:xfrm>
            <a:off x="411480" y="3968496"/>
            <a:ext cx="365760" cy="365760"/>
          </a:xfrm>
          <a:prstGeom prst="ellipse">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panose="020F0502020204030204"/>
              </a:rPr>
              <a:t>4</a:t>
            </a:r>
            <a:endParaRPr sz="1500" b="1" i="0">
              <a:solidFill>
                <a:srgbClr val="FFFFFF"/>
              </a:solidFill>
              <a:latin typeface="Calibri" panose="020F0502020204030204"/>
            </a:endParaRPr>
          </a:p>
        </p:txBody>
      </p:sp>
      <p:sp>
        <p:nvSpPr>
          <p:cNvPr id="75" name="Rounded Rectangle 74"/>
          <p:cNvSpPr/>
          <p:nvPr/>
        </p:nvSpPr>
        <p:spPr>
          <a:xfrm>
            <a:off x="914400" y="3895344"/>
            <a:ext cx="10104120" cy="804672"/>
          </a:xfrm>
          <a:prstGeom prst="roundRect">
            <a:avLst>
              <a:gd name="adj" fmla="val 6000"/>
            </a:avLst>
          </a:prstGeom>
          <a:solidFill>
            <a:srgbClr val="F4F4F4"/>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37160" tIns="36576" rIns="137160" bIns="18288" rtlCol="0" anchor="ctr"/>
          <a:lstStyle/>
          <a:p>
            <a:pPr algn="ctr"/>
            <a:r>
              <a:rPr sz="1350" b="1" i="0">
                <a:solidFill>
                  <a:srgbClr val="1B2A4A"/>
                </a:solidFill>
                <a:latin typeface="Calibri" panose="020F0502020204030204"/>
              </a:rPr>
              <a:t>Explainability Layer</a:t>
            </a:r>
            <a:endParaRPr sz="1350" b="1" i="0">
              <a:solidFill>
                <a:srgbClr val="1B2A4A"/>
              </a:solidFill>
              <a:latin typeface="Calibri" panose="020F0502020204030204"/>
            </a:endParaRPr>
          </a:p>
          <a:p>
            <a:r>
              <a:rPr sz="1100" b="0" i="0">
                <a:solidFill>
                  <a:srgbClr val="222222"/>
                </a:solidFill>
                <a:latin typeface="Calibri" panose="020F0502020204030204"/>
              </a:rPr>
              <a:t>Last-layer attention + SHAP-style scoring highlight which tokens (e.g. "suicide", "die") drove the prediction, with clinical-keyword boosting.</a:t>
            </a:r>
            <a:endParaRPr sz="1100" b="0" i="0">
              <a:solidFill>
                <a:srgbClr val="222222"/>
              </a:solidFill>
              <a:latin typeface="Calibri" panose="020F0502020204030204"/>
            </a:endParaRPr>
          </a:p>
        </p:txBody>
      </p:sp>
      <p:sp>
        <p:nvSpPr>
          <p:cNvPr id="76" name="Oval 75"/>
          <p:cNvSpPr/>
          <p:nvPr/>
        </p:nvSpPr>
        <p:spPr>
          <a:xfrm>
            <a:off x="411480" y="4901184"/>
            <a:ext cx="365760" cy="365760"/>
          </a:xfrm>
          <a:prstGeom prst="ellipse">
            <a:avLst/>
          </a:prstGeom>
          <a:solidFill>
            <a:srgbClr val="E8352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panose="020F0502020204030204"/>
              </a:rPr>
              <a:t>5</a:t>
            </a:r>
            <a:endParaRPr sz="1500" b="1" i="0">
              <a:solidFill>
                <a:srgbClr val="FFFFFF"/>
              </a:solidFill>
              <a:latin typeface="Calibri" panose="020F0502020204030204"/>
            </a:endParaRPr>
          </a:p>
        </p:txBody>
      </p:sp>
      <p:sp>
        <p:nvSpPr>
          <p:cNvPr id="77" name="Rounded Rectangle 76"/>
          <p:cNvSpPr/>
          <p:nvPr/>
        </p:nvSpPr>
        <p:spPr>
          <a:xfrm>
            <a:off x="914400" y="4828032"/>
            <a:ext cx="10104120" cy="804672"/>
          </a:xfrm>
          <a:prstGeom prst="roundRect">
            <a:avLst>
              <a:gd name="adj" fmla="val 6000"/>
            </a:avLst>
          </a:prstGeom>
          <a:solidFill>
            <a:srgbClr val="F4F4F4"/>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37160" tIns="36576" rIns="137160" bIns="18288" rtlCol="0" anchor="ctr"/>
          <a:lstStyle/>
          <a:p>
            <a:pPr algn="ctr"/>
            <a:r>
              <a:rPr sz="1350" b="1" i="0">
                <a:solidFill>
                  <a:srgbClr val="1B2A4A"/>
                </a:solidFill>
                <a:latin typeface="Calibri" panose="020F0502020204030204"/>
              </a:rPr>
              <a:t>Risk Report + Human Review</a:t>
            </a:r>
            <a:endParaRPr sz="1350" b="1" i="0">
              <a:solidFill>
                <a:srgbClr val="1B2A4A"/>
              </a:solidFill>
              <a:latin typeface="Calibri" panose="020F0502020204030204"/>
            </a:endParaRPr>
          </a:p>
          <a:p>
            <a:r>
              <a:rPr sz="1100" b="0" i="0">
                <a:solidFill>
                  <a:srgbClr val="222222"/>
                </a:solidFill>
                <a:latin typeface="Calibri" panose="020F0502020204030204"/>
              </a:rPr>
              <a:t>Final output = risk label + probability + explanation, always flagged for mandatory human/clinician review before any action.</a:t>
            </a:r>
            <a:endParaRPr sz="1100" b="0" i="0">
              <a:solidFill>
                <a:srgbClr val="222222"/>
              </a:solidFill>
              <a:latin typeface="Calibri" panose="020F0502020204030204"/>
            </a:endParaRPr>
          </a:p>
        </p:txBody>
      </p:sp>
      <p:sp>
        <p:nvSpPr>
          <p:cNvPr id="78" name="TextBox 77"/>
          <p:cNvSpPr txBox="1"/>
          <p:nvPr/>
        </p:nvSpPr>
        <p:spPr>
          <a:xfrm>
            <a:off x="411480" y="5989320"/>
            <a:ext cx="10607040" cy="457200"/>
          </a:xfrm>
          <a:prstGeom prst="rect">
            <a:avLst/>
          </a:prstGeom>
          <a:noFill/>
        </p:spPr>
        <p:txBody>
          <a:bodyPr wrap="square">
            <a:spAutoFit/>
          </a:bodyPr>
          <a:lstStyle/>
          <a:p>
            <a:r>
              <a:rPr sz="950" b="0" i="1">
                <a:solidFill>
                  <a:srgbClr val="555555"/>
                </a:solidFill>
                <a:latin typeface="Calibri" panose="020F0502020204030204"/>
              </a:rPr>
              <a:t>Reverse-engineering target: attention layers (stage 2) mapped to clinical concepts (hopelessness, urgency, isolation) via SHAP, BertViz, and TCAV probing.</a:t>
            </a:r>
            <a:endParaRPr sz="1050" b="0" i="1">
              <a:solidFill>
                <a:srgbClr val="555555"/>
              </a:solidFill>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LIVE DEMO: RISK PREDICTION OUTPUT</a:t>
            </a:r>
            <a:endParaRPr lang="en-US" sz="3200" b="1">
              <a:solidFill>
                <a:srgbClr val="FF0000"/>
              </a:solidFill>
            </a:endParaRPr>
          </a:p>
        </p:txBody>
      </p:sp>
      <p:sp>
        <p:nvSpPr>
          <p:cNvPr id="3" name="Subtitle TextBox"/>
          <p:cNvSpPr txBox="1"/>
          <p:nvPr/>
        </p:nvSpPr>
        <p:spPr>
          <a:xfrm>
            <a:off x="457200" y="950000"/>
            <a:ext cx="11277600" cy="706755"/>
          </a:xfrm>
          <a:prstGeom prst="rect">
            <a:avLst/>
          </a:prstGeom>
          <a:noFill/>
        </p:spPr>
        <p:txBody>
          <a:bodyPr wrap="square">
            <a:spAutoFit/>
          </a:bodyPr>
          <a:lstStyle/>
          <a:p>
            <a:r>
              <a:rPr sz="2000" b="1">
                <a:solidFill>
                  <a:srgbClr val="6E6E6E"/>
                </a:solidFill>
                <a:latin typeface="Calibri" panose="020F0502020204030204"/>
              </a:rPr>
              <a:t>Working Streamlit interface: sample input classified with 65.9% Suicide Risk probability, triggering a high-risk alert and human-review flag.</a:t>
            </a:r>
            <a:endParaRPr sz="2000" b="1">
              <a:solidFill>
                <a:srgbClr val="6E6E6E"/>
              </a:solidFill>
              <a:latin typeface="Calibri" panose="020F0502020204030204"/>
            </a:endParaRPr>
          </a:p>
        </p:txBody>
      </p:sp>
      <p:pic>
        <p:nvPicPr>
          <p:cNvPr id="4" name="Demo Screenshot 1"/>
          <p:cNvPicPr>
            <a:picLocks noChangeAspect="1"/>
          </p:cNvPicPr>
          <p:nvPr/>
        </p:nvPicPr>
        <p:blipFill>
          <a:blip r:embed="rId1"/>
          <a:stretch>
            <a:fillRect/>
          </a:stretch>
        </p:blipFill>
        <p:spPr>
          <a:xfrm>
            <a:off x="1918720" y="1844640"/>
            <a:ext cx="8509500" cy="4500000"/>
          </a:xfrm>
          <a:prstGeom prst="rect">
            <a:avLst/>
          </a:prstGeom>
          <a:ln w="9525">
            <a:solidFill>
              <a:srgbClr val="CCCCCC"/>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DEMO: MULTI-LAYER EXPLAINABILITY</a:t>
            </a:r>
            <a:endParaRPr lang="en-US" sz="3200" b="1">
              <a:solidFill>
                <a:srgbClr val="FF0000"/>
              </a:solidFill>
            </a:endParaRPr>
          </a:p>
        </p:txBody>
      </p:sp>
      <p:sp>
        <p:nvSpPr>
          <p:cNvPr id="3" name="Subtitle TextBox"/>
          <p:cNvSpPr txBox="1"/>
          <p:nvPr/>
        </p:nvSpPr>
        <p:spPr>
          <a:xfrm>
            <a:off x="457200" y="950000"/>
            <a:ext cx="11277600" cy="706755"/>
          </a:xfrm>
          <a:prstGeom prst="rect">
            <a:avLst/>
          </a:prstGeom>
          <a:noFill/>
        </p:spPr>
        <p:txBody>
          <a:bodyPr wrap="square">
            <a:spAutoFit/>
          </a:bodyPr>
          <a:lstStyle/>
          <a:p>
            <a:r>
              <a:rPr sz="2000" b="1">
                <a:solidFill>
                  <a:srgbClr val="6E6E6E"/>
                </a:solidFill>
                <a:latin typeface="Calibri" panose="020F0502020204030204"/>
              </a:rPr>
              <a:t>DistilBERT last-layer attention and SHAP-style token scoring (with clinical keyword boosting) highlight the terms driving the prediction.</a:t>
            </a:r>
            <a:endParaRPr sz="2000" b="1">
              <a:solidFill>
                <a:srgbClr val="6E6E6E"/>
              </a:solidFill>
              <a:latin typeface="Calibri" panose="020F0502020204030204"/>
            </a:endParaRPr>
          </a:p>
        </p:txBody>
      </p:sp>
      <p:pic>
        <p:nvPicPr>
          <p:cNvPr id="4" name="Demo Screenshot 2"/>
          <p:cNvPicPr>
            <a:picLocks noChangeAspect="1"/>
          </p:cNvPicPr>
          <p:nvPr/>
        </p:nvPicPr>
        <p:blipFill>
          <a:blip r:embed="rId1"/>
          <a:stretch>
            <a:fillRect/>
          </a:stretch>
        </p:blipFill>
        <p:spPr>
          <a:xfrm>
            <a:off x="1918945" y="1772885"/>
            <a:ext cx="8236000" cy="4321000"/>
          </a:xfrm>
          <a:prstGeom prst="rect">
            <a:avLst/>
          </a:prstGeom>
          <a:ln w="9525">
            <a:solidFill>
              <a:srgbClr val="CCCCCC"/>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46870" y="4500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EXPECTED OUTPUT:</a:t>
            </a:r>
            <a:endParaRPr lang="en-US" sz="3600" b="1" u="none" strike="noStrike">
              <a:solidFill>
                <a:schemeClr val="dk1"/>
              </a:solidFill>
              <a:effectLst/>
              <a:uFillTx/>
              <a:latin typeface="Calibri Light" panose="020F0302020204030204"/>
            </a:endParaRPr>
          </a:p>
        </p:txBody>
      </p:sp>
      <p:sp>
        <p:nvSpPr>
          <p:cNvPr id="67" name="TextBox 66"/>
          <p:cNvSpPr txBox="1"/>
          <p:nvPr/>
        </p:nvSpPr>
        <p:spPr>
          <a:xfrm>
            <a:off x="411480" y="685800"/>
            <a:ext cx="10607040" cy="320040"/>
          </a:xfrm>
          <a:prstGeom prst="rect">
            <a:avLst/>
          </a:prstGeom>
          <a:noFill/>
        </p:spPr>
        <p:txBody>
          <a:bodyPr wrap="square">
            <a:spAutoFit/>
          </a:bodyPr>
          <a:lstStyle/>
          <a:p>
            <a:r>
              <a:rPr sz="1300" b="0" i="1">
                <a:solidFill>
                  <a:srgbClr val="555555"/>
                </a:solidFill>
                <a:latin typeface="Calibri" panose="020F0502020204030204"/>
              </a:rPr>
              <a:t>Roadmap targets for the fine-tuned model — not yet-measured results (current classifier head is untrained).</a:t>
            </a:r>
            <a:endParaRPr sz="1300" b="0" i="1">
              <a:solidFill>
                <a:srgbClr val="555555"/>
              </a:solidFill>
              <a:latin typeface="Calibri" panose="020F0502020204030204"/>
            </a:endParaRPr>
          </a:p>
        </p:txBody>
      </p:sp>
      <p:graphicFrame>
        <p:nvGraphicFramePr>
          <p:cNvPr id="68" name="Chart 67"/>
          <p:cNvGraphicFramePr>
            <a:graphicFrameLocks noGrp="1"/>
          </p:cNvGraphicFramePr>
          <p:nvPr/>
        </p:nvGraphicFramePr>
        <p:xfrm>
          <a:off x="411480" y="1143000"/>
          <a:ext cx="5349240" cy="3246120"/>
        </p:xfrm>
        <a:graphic>
          <a:graphicData uri="http://schemas.openxmlformats.org/drawingml/2006/chart">
            <c:chart xmlns:c="http://schemas.openxmlformats.org/drawingml/2006/chart" xmlns:r="http://schemas.openxmlformats.org/officeDocument/2006/relationships" r:id="rId1"/>
          </a:graphicData>
        </a:graphic>
      </p:graphicFrame>
      <p:sp>
        <p:nvSpPr>
          <p:cNvPr id="69" name="Rounded Rectangle 68"/>
          <p:cNvSpPr/>
          <p:nvPr/>
        </p:nvSpPr>
        <p:spPr>
          <a:xfrm>
            <a:off x="5989320" y="1143000"/>
            <a:ext cx="5760720" cy="1417320"/>
          </a:xfrm>
          <a:prstGeom prst="roundRect">
            <a:avLst>
              <a:gd name="adj" fmla="val 6000"/>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r>
              <a:rPr sz="1250" b="1" i="0">
                <a:solidFill>
                  <a:srgbClr val="FFFFFF"/>
                </a:solidFill>
                <a:latin typeface="Calibri" panose="020F0502020204030204"/>
              </a:rPr>
              <a:t>Sample Demo Output (working prototype)</a:t>
            </a:r>
            <a:endParaRPr sz="1250" b="1" i="0">
              <a:solidFill>
                <a:srgbClr val="FFFFFF"/>
              </a:solidFill>
              <a:latin typeface="Calibri" panose="020F0502020204030204"/>
            </a:endParaRPr>
          </a:p>
          <a:p>
            <a:r>
              <a:rPr sz="1300" b="1" i="0">
                <a:solidFill>
                  <a:srgbClr val="FF6B6B"/>
                </a:solidFill>
                <a:latin typeface="Calibri" panose="020F0502020204030204"/>
              </a:rPr>
              <a:t>Predicted: Suicide Risk</a:t>
            </a:r>
            <a:endParaRPr sz="1300" b="1" i="0">
              <a:solidFill>
                <a:srgbClr val="FF6B6B"/>
              </a:solidFill>
              <a:latin typeface="Calibri" panose="020F0502020204030204"/>
            </a:endParaRPr>
          </a:p>
          <a:p>
            <a:r>
              <a:rPr sz="1100" b="0" i="0">
                <a:solidFill>
                  <a:srgbClr val="DDDDDD"/>
                </a:solidFill>
                <a:latin typeface="Calibri" panose="020F0502020204030204"/>
              </a:rPr>
              <a:t>Risk Probability: 65.9% (Suicide Risk) / 34.1% (Non-Suicide)</a:t>
            </a:r>
            <a:endParaRPr sz="1100" b="0" i="0">
              <a:solidFill>
                <a:srgbClr val="DDDDDD"/>
              </a:solidFill>
              <a:latin typeface="Calibri" panose="020F0502020204030204"/>
            </a:endParaRPr>
          </a:p>
          <a:p>
            <a:r>
              <a:rPr sz="1100" b="0" i="1">
                <a:solidFill>
                  <a:srgbClr val="FFC94A"/>
                </a:solidFill>
                <a:latin typeface="Calibri" panose="020F0502020204030204"/>
              </a:rPr>
              <a:t>⚠ High-Risk Alert — Human review recommended</a:t>
            </a:r>
            <a:endParaRPr sz="1100" b="0" i="1">
              <a:solidFill>
                <a:srgbClr val="FFC94A"/>
              </a:solidFill>
              <a:latin typeface="Calibri" panose="020F0502020204030204"/>
            </a:endParaRPr>
          </a:p>
        </p:txBody>
      </p:sp>
      <p:graphicFrame>
        <p:nvGraphicFramePr>
          <p:cNvPr id="70" name="Table 69"/>
          <p:cNvGraphicFramePr>
            <a:graphicFrameLocks noGrp="1"/>
          </p:cNvGraphicFramePr>
          <p:nvPr/>
        </p:nvGraphicFramePr>
        <p:xfrm>
          <a:off x="5989320" y="2743200"/>
          <a:ext cx="5760719" cy="2788920"/>
        </p:xfrm>
        <a:graphic>
          <a:graphicData uri="http://schemas.openxmlformats.org/drawingml/2006/table">
            <a:tbl>
              <a:tblPr firstRow="1" bandRow="1">
                <a:tableStyleId>{5C22544A-7EE6-4342-B048-85BDC9FD1C3A}</a:tableStyleId>
              </a:tblPr>
              <a:tblGrid>
                <a:gridCol w="1783080"/>
                <a:gridCol w="3977639"/>
              </a:tblGrid>
              <a:tr h="464820">
                <a:tc>
                  <a:txBody>
                    <a:bodyPr/>
                    <a:lstStyle/>
                    <a:p>
                      <a:r>
                        <a:rPr sz="1100" b="1" i="0">
                          <a:solidFill>
                            <a:srgbClr val="FFFFFF"/>
                          </a:solidFill>
                          <a:latin typeface="Calibri" panose="020F0502020204030204"/>
                        </a:rPr>
                        <a:t>Output Element</a:t>
                      </a:r>
                      <a:endParaRPr sz="1100" b="1" i="0">
                        <a:solidFill>
                          <a:srgbClr val="FFFFFF"/>
                        </a:solidFill>
                        <a:latin typeface="Calibri" panose="020F0502020204030204"/>
                      </a:endParaRPr>
                    </a:p>
                  </a:txBody>
                  <a:tcPr marL="73152" marR="45720">
                    <a:solidFill>
                      <a:srgbClr val="1B2A4A"/>
                    </a:solidFill>
                  </a:tcPr>
                </a:tc>
                <a:tc>
                  <a:txBody>
                    <a:bodyPr/>
                    <a:lstStyle/>
                    <a:p>
                      <a:r>
                        <a:rPr sz="1100" b="1" i="0">
                          <a:solidFill>
                            <a:srgbClr val="FFFFFF"/>
                          </a:solidFill>
                          <a:latin typeface="Calibri" panose="020F0502020204030204"/>
                        </a:rPr>
                        <a:t>Expected Result</a:t>
                      </a:r>
                      <a:endParaRPr sz="1100" b="1" i="0">
                        <a:solidFill>
                          <a:srgbClr val="FFFFFF"/>
                        </a:solidFill>
                        <a:latin typeface="Calibri" panose="020F0502020204030204"/>
                      </a:endParaRPr>
                    </a:p>
                  </a:txBody>
                  <a:tcPr marL="73152" marR="45720">
                    <a:solidFill>
                      <a:srgbClr val="1B2A4A"/>
                    </a:solidFill>
                  </a:tcPr>
                </a:tc>
              </a:tr>
              <a:tr h="464820">
                <a:tc>
                  <a:txBody>
                    <a:bodyPr/>
                    <a:lstStyle/>
                    <a:p>
                      <a:r>
                        <a:rPr sz="1050" b="0" i="0">
                          <a:solidFill>
                            <a:srgbClr val="222222"/>
                          </a:solidFill>
                          <a:latin typeface="Calibri" panose="020F0502020204030204"/>
                        </a:rPr>
                        <a:t>Risk classification</a:t>
                      </a:r>
                      <a:endParaRPr sz="1050" b="0" i="0">
                        <a:solidFill>
                          <a:srgbClr val="222222"/>
                        </a:solidFill>
                        <a:latin typeface="Calibri" panose="020F0502020204030204"/>
                      </a:endParaRPr>
                    </a:p>
                  </a:txBody>
                  <a:tcPr marL="73152" marR="45720">
                    <a:solidFill>
                      <a:srgbClr val="FFFFFF"/>
                    </a:solidFill>
                  </a:tcPr>
                </a:tc>
                <a:tc>
                  <a:txBody>
                    <a:bodyPr/>
                    <a:lstStyle/>
                    <a:p>
                      <a:r>
                        <a:rPr sz="1050" b="0" i="0">
                          <a:solidFill>
                            <a:srgbClr val="222222"/>
                          </a:solidFill>
                          <a:latin typeface="Calibri" panose="020F0502020204030204"/>
                        </a:rPr>
                        <a:t>4-class label: No / Low / Moderate / High Risk</a:t>
                      </a:r>
                      <a:endParaRPr sz="1050" b="0" i="0">
                        <a:solidFill>
                          <a:srgbClr val="222222"/>
                        </a:solidFill>
                        <a:latin typeface="Calibri" panose="020F0502020204030204"/>
                      </a:endParaRPr>
                    </a:p>
                  </a:txBody>
                  <a:tcPr marL="73152" marR="45720">
                    <a:solidFill>
                      <a:srgbClr val="FFFFFF"/>
                    </a:solidFill>
                  </a:tcPr>
                </a:tc>
              </a:tr>
              <a:tr h="464820">
                <a:tc>
                  <a:txBody>
                    <a:bodyPr/>
                    <a:lstStyle/>
                    <a:p>
                      <a:r>
                        <a:rPr sz="1050" b="0" i="0">
                          <a:solidFill>
                            <a:srgbClr val="222222"/>
                          </a:solidFill>
                          <a:latin typeface="Calibri" panose="020F0502020204030204"/>
                        </a:rPr>
                        <a:t>Risk probability</a:t>
                      </a:r>
                      <a:endParaRPr sz="1050" b="0" i="0">
                        <a:solidFill>
                          <a:srgbClr val="222222"/>
                        </a:solidFill>
                        <a:latin typeface="Calibri" panose="020F0502020204030204"/>
                      </a:endParaRPr>
                    </a:p>
                  </a:txBody>
                  <a:tcPr marL="73152" marR="45720">
                    <a:solidFill>
                      <a:srgbClr val="FFFFFF"/>
                    </a:solidFill>
                  </a:tcPr>
                </a:tc>
                <a:tc>
                  <a:txBody>
                    <a:bodyPr/>
                    <a:lstStyle/>
                    <a:p>
                      <a:r>
                        <a:rPr sz="1050" b="0" i="0">
                          <a:solidFill>
                            <a:srgbClr val="222222"/>
                          </a:solidFill>
                          <a:latin typeface="Calibri" panose="020F0502020204030204"/>
                        </a:rPr>
                        <a:t>Confidence score (%) per class, e.g. 65.9% Suicide Risk</a:t>
                      </a:r>
                      <a:endParaRPr sz="1050" b="0" i="0">
                        <a:solidFill>
                          <a:srgbClr val="222222"/>
                        </a:solidFill>
                        <a:latin typeface="Calibri" panose="020F0502020204030204"/>
                      </a:endParaRPr>
                    </a:p>
                  </a:txBody>
                  <a:tcPr marL="73152" marR="45720">
                    <a:solidFill>
                      <a:srgbClr val="FFFFFF"/>
                    </a:solidFill>
                  </a:tcPr>
                </a:tc>
              </a:tr>
              <a:tr h="464820">
                <a:tc>
                  <a:txBody>
                    <a:bodyPr/>
                    <a:lstStyle/>
                    <a:p>
                      <a:r>
                        <a:rPr sz="1050" b="0" i="0">
                          <a:solidFill>
                            <a:srgbClr val="222222"/>
                          </a:solidFill>
                          <a:latin typeface="Calibri" panose="020F0502020204030204"/>
                        </a:rPr>
                        <a:t>Explanation</a:t>
                      </a:r>
                      <a:endParaRPr sz="1050" b="0" i="0">
                        <a:solidFill>
                          <a:srgbClr val="222222"/>
                        </a:solidFill>
                        <a:latin typeface="Calibri" panose="020F0502020204030204"/>
                      </a:endParaRPr>
                    </a:p>
                  </a:txBody>
                  <a:tcPr marL="73152" marR="45720">
                    <a:solidFill>
                      <a:srgbClr val="FFFFFF"/>
                    </a:solidFill>
                  </a:tcPr>
                </a:tc>
                <a:tc>
                  <a:txBody>
                    <a:bodyPr/>
                    <a:lstStyle/>
                    <a:p>
                      <a:r>
                        <a:rPr sz="1050" b="0" i="0">
                          <a:solidFill>
                            <a:srgbClr val="222222"/>
                          </a:solidFill>
                          <a:latin typeface="Calibri" panose="020F0502020204030204"/>
                        </a:rPr>
                        <a:t>Attention heatmap + SHAP-style token scores highlighting key words</a:t>
                      </a:r>
                      <a:endParaRPr sz="1050" b="0" i="0">
                        <a:solidFill>
                          <a:srgbClr val="222222"/>
                        </a:solidFill>
                        <a:latin typeface="Calibri" panose="020F0502020204030204"/>
                      </a:endParaRPr>
                    </a:p>
                  </a:txBody>
                  <a:tcPr marL="73152" marR="45720">
                    <a:solidFill>
                      <a:srgbClr val="FFFFFF"/>
                    </a:solidFill>
                  </a:tcPr>
                </a:tc>
              </a:tr>
              <a:tr h="464820">
                <a:tc>
                  <a:txBody>
                    <a:bodyPr/>
                    <a:lstStyle/>
                    <a:p>
                      <a:r>
                        <a:rPr sz="1050" b="0" i="0">
                          <a:solidFill>
                            <a:srgbClr val="222222"/>
                          </a:solidFill>
                          <a:latin typeface="Calibri" panose="020F0502020204030204"/>
                        </a:rPr>
                        <a:t>Alert flag</a:t>
                      </a:r>
                      <a:endParaRPr sz="1050" b="0" i="0">
                        <a:solidFill>
                          <a:srgbClr val="222222"/>
                        </a:solidFill>
                        <a:latin typeface="Calibri" panose="020F0502020204030204"/>
                      </a:endParaRPr>
                    </a:p>
                  </a:txBody>
                  <a:tcPr marL="73152" marR="45720">
                    <a:solidFill>
                      <a:srgbClr val="FFFFFF"/>
                    </a:solidFill>
                  </a:tcPr>
                </a:tc>
                <a:tc>
                  <a:txBody>
                    <a:bodyPr/>
                    <a:lstStyle/>
                    <a:p>
                      <a:r>
                        <a:rPr sz="1050" b="0" i="0">
                          <a:solidFill>
                            <a:srgbClr val="222222"/>
                          </a:solidFill>
                          <a:latin typeface="Calibri" panose="020F0502020204030204"/>
                        </a:rPr>
                        <a:t>High-risk alert + mandatory human-review flag for scores above threshold</a:t>
                      </a:r>
                      <a:endParaRPr sz="1050" b="0" i="0">
                        <a:solidFill>
                          <a:srgbClr val="222222"/>
                        </a:solidFill>
                        <a:latin typeface="Calibri" panose="020F0502020204030204"/>
                      </a:endParaRPr>
                    </a:p>
                  </a:txBody>
                  <a:tcPr marL="73152" marR="45720">
                    <a:solidFill>
                      <a:srgbClr val="FFFFFF"/>
                    </a:solidFill>
                  </a:tcPr>
                </a:tc>
              </a:tr>
              <a:tr h="464820">
                <a:tc>
                  <a:txBody>
                    <a:bodyPr/>
                    <a:lstStyle/>
                    <a:p>
                      <a:r>
                        <a:rPr sz="1050" b="0" i="0">
                          <a:solidFill>
                            <a:srgbClr val="222222"/>
                          </a:solidFill>
                          <a:latin typeface="Calibri" panose="020F0502020204030204"/>
                        </a:rPr>
                        <a:t>Deployment output</a:t>
                      </a:r>
                      <a:endParaRPr sz="1050" b="0" i="0">
                        <a:solidFill>
                          <a:srgbClr val="222222"/>
                        </a:solidFill>
                        <a:latin typeface="Calibri" panose="020F0502020204030204"/>
                      </a:endParaRPr>
                    </a:p>
                  </a:txBody>
                  <a:tcPr marL="73152" marR="45720">
                    <a:solidFill>
                      <a:srgbClr val="FFFFFF"/>
                    </a:solidFill>
                  </a:tcPr>
                </a:tc>
                <a:tc>
                  <a:txBody>
                    <a:bodyPr/>
                    <a:lstStyle/>
                    <a:p>
                      <a:r>
                        <a:rPr sz="1050" b="0" i="0">
                          <a:solidFill>
                            <a:srgbClr val="222222"/>
                          </a:solidFill>
                          <a:latin typeface="Calibri" panose="020F0502020204030204"/>
                        </a:rPr>
                        <a:t>Lightweight ONNX/TFLite model for fast, private on-device inference (planned)</a:t>
                      </a:r>
                      <a:endParaRPr sz="1050" b="0" i="0">
                        <a:solidFill>
                          <a:srgbClr val="222222"/>
                        </a:solidFill>
                        <a:latin typeface="Calibri" panose="020F0502020204030204"/>
                      </a:endParaRPr>
                    </a:p>
                  </a:txBody>
                  <a:tcPr marL="73152" marR="45720">
                    <a:solidFill>
                      <a:srgbClr val="FFFFFF"/>
                    </a:solidFill>
                  </a:tcPr>
                </a:tc>
              </a:tr>
            </a:tbl>
          </a:graphicData>
        </a:graphic>
      </p:graphicFrame>
      <p:sp>
        <p:nvSpPr>
          <p:cNvPr id="71" name="TextBox 70"/>
          <p:cNvSpPr txBox="1"/>
          <p:nvPr/>
        </p:nvSpPr>
        <p:spPr>
          <a:xfrm>
            <a:off x="411480" y="5897880"/>
            <a:ext cx="10607040" cy="685800"/>
          </a:xfrm>
          <a:prstGeom prst="rect">
            <a:avLst/>
          </a:prstGeom>
          <a:noFill/>
        </p:spPr>
        <p:txBody>
          <a:bodyPr wrap="square">
            <a:spAutoFit/>
          </a:bodyPr>
          <a:lstStyle/>
          <a:p>
            <a:r>
              <a:rPr sz="950" b="0" i="1">
                <a:solidFill>
                  <a:srgbClr val="555555"/>
                </a:solidFill>
                <a:latin typeface="Calibri" panose="020F0502020204030204"/>
              </a:rPr>
              <a:t>Overall prototype completion: ~35% (per README) — architecture, inference pipeline, and basic attention explainability are working; fine-tuning, SHAP/TCAV, compression, and clinical validation are planned next.</a:t>
            </a:r>
            <a:endParaRPr sz="1050" b="0" i="1">
              <a:solidFill>
                <a:srgbClr val="555555"/>
              </a:solidFill>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765" y="105410"/>
            <a:ext cx="10903585" cy="41973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44450" y="480060"/>
          <a:ext cx="11915140" cy="625856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600">
                          <a:sym typeface="+mn-ea"/>
                        </a:rPr>
                        <a:t>Pascal Penava et al.</a:t>
                      </a:r>
                      <a:endParaRPr lang="en-US" altLang="en-US" sz="1600"/>
                    </a:p>
                    <a:p>
                      <a:pPr>
                        <a:buNone/>
                      </a:pPr>
                      <a:r>
                        <a:rPr altLang="en-US" sz="1600">
                          <a:sym typeface="+mn-ea"/>
                        </a:rPr>
                        <a:t>(https://ieeexplore.ieee.org/document/10757418). </a:t>
                      </a:r>
                      <a:r>
                        <a:rPr lang="en-US" altLang="en-US" sz="1600">
                          <a:sym typeface="+mn-ea"/>
                        </a:rPr>
                        <a:t>Journals &amp; Magazines, IEEE Access, Volume: 12, 2024</a:t>
                      </a:r>
                      <a:endParaRPr lang="en-US" altLang="en-US" sz="1600">
                        <a:sym typeface="+mn-ea"/>
                      </a:endParaRPr>
                    </a:p>
                  </a:txBody>
                  <a:tcPr marL="0" marR="0" marT="0" marB="0" anchor="ctr" anchorCtr="0"/>
                </a:tc>
                <a:tc>
                  <a:txBody>
                    <a:bodyPr/>
                    <a:p>
                      <a:r>
                        <a:rPr lang="en-US" altLang="en-US" sz="1800"/>
                        <a:t>1</a:t>
                      </a:r>
                      <a:r>
                        <a:rPr lang="en-US" altLang="en-US" sz="1600"/>
                        <a:t>D CNN on resting-state EEG for early mild depression detection</a:t>
                      </a:r>
                      <a:endParaRPr lang="en-US" altLang="en-US" sz="1600"/>
                    </a:p>
                  </a:txBody>
                  <a:tcPr marL="0" marR="0" marT="0" marB="0" anchor="ctr" anchorCtr="0"/>
                </a:tc>
                <a:tc>
                  <a:txBody>
                    <a:bodyPr/>
                    <a:p>
                      <a:r>
                        <a:rPr lang="en-US" altLang="en-US" sz="1600"/>
                        <a:t>Good accuracy (69.21%), low computational cost &amp; fast inference</a:t>
                      </a:r>
                      <a:endParaRPr lang="en-US" altLang="en-US" sz="1600"/>
                    </a:p>
                  </a:txBody>
                  <a:tcPr marL="0" marR="0" marT="0" marB="0" anchor="ctr" anchorCtr="0"/>
                </a:tc>
                <a:tc>
                  <a:txBody>
                    <a:bodyPr/>
                    <a:p>
                      <a:r>
                        <a:rPr lang="en-US" altLang="en-US" sz="1600"/>
                        <a:t>EEG-only (requires hardware); no explainability; limited to depression, not suicide risk; no deployment/privacy</a:t>
                      </a:r>
                      <a:endParaRPr lang="en-US" altLang="en-US" sz="1600"/>
                    </a:p>
                  </a:txBody>
                  <a:tcPr marL="0" marR="0" marT="0" marB="0" anchor="ctr" anchorCtr="0"/>
                </a:tc>
                <a:tc>
                  <a:txBody>
                    <a:bodyPr/>
                    <a:p>
                      <a:r>
                        <a:rPr lang="en-US" altLang="zh-CN" sz="1600"/>
                        <a:t>Our text-based approach + XAI (SHAP &amp; Attention) + MLOps + on-device DPDP compliance is more accessible &amp; practical</a:t>
                      </a:r>
                      <a:endParaRPr lang="en-US" altLang="zh-CN" sz="16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600"/>
                        <a:t>Enhanced with modern XAI techniques, full MLOps, and privacy-preserving on-device inference</a:t>
                      </a:r>
                      <a:endParaRPr lang="en-US" altLang="en-US" sz="1600"/>
                    </a:p>
                  </a:txBody>
                  <a:tcPr marL="0" marR="0" marT="0" marB="0" anchor="ctr" anchorCtr="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24765" y="0"/>
            <a:ext cx="4539615" cy="8051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07035" y="765175"/>
            <a:ext cx="10514965" cy="5245735"/>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Untrained Classification Head – The model architecture is complete, but the classifier head has not yet been fine-tuned on labeled clinical data, so no real accuracy or reliability figure can be reported yet.</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Partial Explainability Coverage – Only basic attention-based and SHAP-style token scoring are implemented; deeper methods (full SHAP, BertViz, TCAV concept probing) are still planned, so current explanations may not fully capture the model's reasoning.</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Limited Dataset Diversity – Datasets sourced from Reddit/CLPsych/UMD annotations may not represent all demographic and clinical populations.</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No Clinical Validation Yet – The 70%/90% accuracy figures shown are roadmap targets, not validated results, and require extensive evaluation by mental health professionals before real-world adoption.</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Deployment &amp; Compression Not Implemented – Model compression (quantization, pruning) and on-device export (ONNX/TFLite) are planned but not yet built, so the system cannot yet run as a fast, privacy-preserving on-device tool.</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Risk of Prediction Errors – False positives and false negatives may still occur, so the model must never be the sole basis for clinical decision-making.</a:t>
            </a:r>
            <a:endParaRPr lang="en-US" sz="20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0" y="0"/>
            <a:ext cx="2896235" cy="729615"/>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rgbClr val="FF0000"/>
                </a:solidFill>
                <a:effectLst/>
                <a:uFillTx/>
                <a:latin typeface="Times New Roman" panose="02020603050405020304"/>
              </a:rPr>
              <a:t>References:</a:t>
            </a:r>
            <a:endParaRPr lang="en-IN" sz="3600" b="1" u="none" strike="noStrike">
              <a:solidFill>
                <a:srgbClr val="FF0000"/>
              </a:solidFill>
              <a:effectLst/>
              <a:uFillTx/>
              <a:latin typeface="Times New Roman" panose="02020603050405020304"/>
            </a:endParaRPr>
          </a:p>
        </p:txBody>
      </p:sp>
      <p:sp>
        <p:nvSpPr>
          <p:cNvPr id="85" name="PlaceHolder 2"/>
          <p:cNvSpPr>
            <a:spLocks noGrp="1"/>
          </p:cNvSpPr>
          <p:nvPr>
            <p:ph/>
          </p:nvPr>
        </p:nvSpPr>
        <p:spPr>
          <a:xfrm>
            <a:off x="77470" y="405130"/>
            <a:ext cx="12031345" cy="5861050"/>
          </a:xfrm>
          <a:prstGeom prst="rect">
            <a:avLst/>
          </a:prstGeom>
          <a:noFill/>
          <a:ln w="0">
            <a:noFill/>
          </a:ln>
        </p:spPr>
        <p:txBody>
          <a:bodyPr lIns="91440" tIns="45720" rIns="91440" bIns="45720" anchor="t"/>
          <a:p>
            <a:pPr marL="0" indent="0" algn="just" defTabSz="914400">
              <a:lnSpc>
                <a:spcPct val="90000"/>
              </a:lnSpc>
              <a:spcBef>
                <a:spcPts val="1000"/>
              </a:spcBef>
              <a:buClr>
                <a:srgbClr val="000000"/>
              </a:buClr>
              <a:buFont typeface="Arial" panose="020B0604020202020204"/>
              <a:buNone/>
            </a:pPr>
            <a:endParaRPr lang="en-US" altLang="en-US" sz="20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altLang="en-US" sz="2000" u="none" strike="noStrike">
                <a:solidFill>
                  <a:schemeClr val="dk1"/>
                </a:solidFill>
                <a:effectLst/>
                <a:uFillTx/>
                <a:latin typeface="Calibri" panose="020F0502020204030204"/>
              </a:rPr>
              <a:t>[1] Muhammad Azhar et al. (2026)—Explainable Transformer-Based Framework for Suicide Risk Detection: Deep Learning with Interpretability for Mental Health Crisis Identification (2026)— MDPI.. Journals &amp; Magazines, Information, Volume: 17</a:t>
            </a:r>
            <a:endParaRPr lang="en-US" sz="200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u="none" strike="noStrike">
                <a:solidFill>
                  <a:schemeClr val="dk1"/>
                </a:solidFill>
                <a:effectLst/>
                <a:uFillTx/>
                <a:latin typeface="Calibri" panose="020F0502020204030204"/>
              </a:rPr>
              <a:t>[2]Pascal Penava et al.(2025)—Early-Stage Non-Severe Depression Detection Using a Novel CNNApproach on Resting-State EEG Data(2024)— IEEE.</a:t>
            </a:r>
            <a:r>
              <a:rPr altLang="en-US" sz="2000">
                <a:sym typeface="+mn-ea"/>
              </a:rPr>
              <a:t> (https://ieeexplore.ieee.org/document/10757418). </a:t>
            </a:r>
            <a:r>
              <a:rPr lang="en-US" altLang="en-US" sz="2000">
                <a:sym typeface="+mn-ea"/>
              </a:rPr>
              <a:t>Journals &amp; Magazines, IEEE Access, Volume: 12</a:t>
            </a:r>
            <a:endParaRPr lang="en-US" altLang="en-US" sz="2000">
              <a:sym typeface="+mn-ea"/>
            </a:endParaRPr>
          </a:p>
          <a:p>
            <a:pPr marL="228600" indent="-228600" algn="just" defTabSz="914400">
              <a:lnSpc>
                <a:spcPct val="90000"/>
              </a:lnSpc>
              <a:spcBef>
                <a:spcPts val="1000"/>
              </a:spcBef>
              <a:buClr>
                <a:srgbClr val="000000"/>
              </a:buClr>
              <a:buFont typeface="Arial" panose="020B0604020202020204"/>
              <a:buChar char="•"/>
            </a:pPr>
            <a:r>
              <a:rPr lang="en-IN" sz="2000" dirty="0">
                <a:sym typeface="+mn-ea"/>
              </a:rPr>
              <a:t>[</a:t>
            </a:r>
            <a:r>
              <a:rPr altLang="en-IN" sz="2000" dirty="0">
                <a:sym typeface="+mn-ea"/>
              </a:rPr>
              <a:t>3</a:t>
            </a:r>
            <a:r>
              <a:rPr lang="en-IN" sz="2000" dirty="0">
                <a:sym typeface="+mn-ea"/>
              </a:rPr>
              <a:t>] A. Vázquez-Rodríguez, J. L. Hernández-Ramos, A. J. Jara, and A. F. </a:t>
            </a:r>
            <a:r>
              <a:rPr lang="en-IN" sz="2000" dirty="0" err="1">
                <a:sym typeface="+mn-ea"/>
              </a:rPr>
              <a:t>Skarmeta</a:t>
            </a:r>
            <a:r>
              <a:rPr lang="en-IN" sz="2000" dirty="0">
                <a:sym typeface="+mn-ea"/>
              </a:rPr>
              <a:t>, "CNFP: Optimizing </a:t>
            </a:r>
            <a:r>
              <a:rPr altLang="en-IN" sz="2000" dirty="0">
                <a:sym typeface="+mn-ea"/>
              </a:rPr>
              <a:t>backend</a:t>
            </a:r>
            <a:r>
              <a:rPr lang="en-IN" sz="2000" dirty="0">
                <a:sym typeface="+mn-ea"/>
              </a:rPr>
              <a:t>-Native </a:t>
            </a:r>
            <a:r>
              <a:rPr altLang="en-IN" sz="2000" dirty="0">
                <a:sym typeface="+mn-ea"/>
              </a:rPr>
              <a:t>quantisation </a:t>
            </a:r>
            <a:r>
              <a:rPr lang="en-IN" sz="2000" dirty="0">
                <a:sym typeface="+mn-ea"/>
              </a:rPr>
              <a:t> Function Placement with Diffusion Models </a:t>
            </a:r>
            <a:r>
              <a:rPr altLang="en-IN" sz="2000" dirty="0">
                <a:sym typeface="+mn-ea"/>
              </a:rPr>
              <a:t>with proper optimisation</a:t>
            </a:r>
            <a:r>
              <a:rPr lang="en-IN" sz="2000" dirty="0">
                <a:sym typeface="+mn-ea"/>
              </a:rPr>
              <a:t>," </a:t>
            </a:r>
            <a:r>
              <a:rPr lang="en-IN" sz="2000" i="1" dirty="0" err="1">
                <a:sym typeface="+mn-ea"/>
              </a:rPr>
              <a:t>arXiv</a:t>
            </a:r>
            <a:r>
              <a:rPr lang="en-IN" sz="2000" i="1" dirty="0">
                <a:sym typeface="+mn-ea"/>
              </a:rPr>
              <a:t> preprint arXiv:2508.1</a:t>
            </a:r>
            <a:r>
              <a:rPr altLang="en-IN" sz="2000" i="1" dirty="0">
                <a:sym typeface="+mn-ea"/>
              </a:rPr>
              <a:t>12</a:t>
            </a:r>
            <a:r>
              <a:rPr lang="en-IN" sz="2000" i="1" dirty="0">
                <a:sym typeface="+mn-ea"/>
              </a:rPr>
              <a:t>65</a:t>
            </a:r>
            <a:r>
              <a:rPr lang="en-IN" sz="2000" dirty="0">
                <a:sym typeface="+mn-ea"/>
              </a:rPr>
              <a:t>, 202</a:t>
            </a:r>
            <a:r>
              <a:rPr altLang="en-IN" sz="2000" dirty="0">
                <a:sym typeface="+mn-ea"/>
              </a:rPr>
              <a:t>4</a:t>
            </a:r>
            <a:r>
              <a:rPr lang="en-IN" sz="2000" dirty="0">
                <a:sym typeface="+mn-ea"/>
              </a:rPr>
              <a:t>.</a:t>
            </a:r>
            <a:endParaRPr lang="en-IN" sz="2000" dirty="0"/>
          </a:p>
          <a:p>
            <a:pPr marL="228600" indent="-228600" algn="just" defTabSz="914400">
              <a:lnSpc>
                <a:spcPct val="90000"/>
              </a:lnSpc>
              <a:spcBef>
                <a:spcPts val="1000"/>
              </a:spcBef>
              <a:buClr>
                <a:srgbClr val="000000"/>
              </a:buClr>
              <a:buFont typeface="Arial" panose="020B0604020202020204"/>
              <a:buChar char="•"/>
            </a:pPr>
            <a:r>
              <a:rPr lang="en-IN" sz="2000" dirty="0">
                <a:sym typeface="+mn-ea"/>
              </a:rPr>
              <a:t>[</a:t>
            </a:r>
            <a:r>
              <a:rPr altLang="en-IN" sz="2000" dirty="0">
                <a:sym typeface="+mn-ea"/>
              </a:rPr>
              <a:t>4</a:t>
            </a:r>
            <a:r>
              <a:rPr lang="en-IN" sz="2000" dirty="0">
                <a:sym typeface="+mn-ea"/>
              </a:rPr>
              <a:t>]</a:t>
            </a:r>
            <a:r>
              <a:rPr lang="en-IN" sz="2000" dirty="0">
                <a:sym typeface="+mn-ea"/>
              </a:rPr>
              <a:t> W. L. Hamilton, R. Ying, and J. Leskovec, "Inductive Re</a:t>
            </a:r>
            <a:r>
              <a:rPr altLang="en-IN" sz="2000" dirty="0">
                <a:sym typeface="+mn-ea"/>
              </a:rPr>
              <a:t>currence </a:t>
            </a:r>
            <a:r>
              <a:rPr lang="en-IN" sz="2000" dirty="0">
                <a:sym typeface="+mn-ea"/>
              </a:rPr>
              <a:t>Learning on </a:t>
            </a:r>
            <a:r>
              <a:rPr altLang="en-IN" sz="2000" dirty="0">
                <a:sym typeface="+mn-ea"/>
              </a:rPr>
              <a:t>Mental Health</a:t>
            </a:r>
            <a:r>
              <a:rPr lang="en-IN" sz="2000" dirty="0">
                <a:sym typeface="+mn-ea"/>
              </a:rPr>
              <a:t>," </a:t>
            </a:r>
            <a:r>
              <a:rPr lang="en-IN" sz="2000" i="1" dirty="0">
                <a:sym typeface="+mn-ea"/>
              </a:rPr>
              <a:t>Advances in </a:t>
            </a:r>
            <a:r>
              <a:rPr altLang="en-IN" sz="2000" i="1" dirty="0">
                <a:sym typeface="+mn-ea"/>
              </a:rPr>
              <a:t>MLOps </a:t>
            </a:r>
            <a:r>
              <a:rPr lang="en-IN" sz="2000" i="1" dirty="0">
                <a:sym typeface="+mn-ea"/>
              </a:rPr>
              <a:t> (</a:t>
            </a:r>
            <a:r>
              <a:rPr altLang="en-IN" sz="2000" i="1" dirty="0">
                <a:sym typeface="+mn-ea"/>
              </a:rPr>
              <a:t>Algorithms</a:t>
            </a:r>
            <a:r>
              <a:rPr lang="en-IN" sz="2000" i="1" dirty="0">
                <a:sym typeface="+mn-ea"/>
              </a:rPr>
              <a:t>)</a:t>
            </a:r>
            <a:r>
              <a:rPr lang="en-IN" sz="2000" dirty="0">
                <a:sym typeface="+mn-ea"/>
              </a:rPr>
              <a:t>, Vol. 30, 20</a:t>
            </a:r>
            <a:r>
              <a:rPr altLang="en-IN" sz="2000" dirty="0">
                <a:sym typeface="+mn-ea"/>
              </a:rPr>
              <a:t>23</a:t>
            </a:r>
            <a:r>
              <a:rPr lang="en-IN" sz="2000" dirty="0">
                <a:sym typeface="+mn-ea"/>
              </a:rPr>
              <a:t>.</a:t>
            </a:r>
            <a:endParaRPr lang="en-IN" sz="20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2000" dirty="0">
                <a:sym typeface="+mn-ea"/>
              </a:rPr>
              <a:t>[</a:t>
            </a:r>
            <a:r>
              <a:rPr altLang="en-IN" sz="2000" dirty="0">
                <a:sym typeface="+mn-ea"/>
              </a:rPr>
              <a:t>5</a:t>
            </a:r>
            <a:r>
              <a:rPr lang="en-IN" sz="2000" dirty="0">
                <a:sym typeface="+mn-ea"/>
              </a:rPr>
              <a:t>] I. Bello, H. Pham, Q. V. Le, M. Norouzi, and S. Bengio, "Neural Combinatorial Optimization with Reinforcement Learning," </a:t>
            </a:r>
            <a:r>
              <a:rPr lang="en-IN" sz="2000" i="1" dirty="0" err="1">
                <a:sym typeface="+mn-ea"/>
              </a:rPr>
              <a:t>arXiv</a:t>
            </a:r>
            <a:r>
              <a:rPr lang="en-IN" sz="2000" i="1" dirty="0">
                <a:sym typeface="+mn-ea"/>
              </a:rPr>
              <a:t> preprint arXiv:1611.09940</a:t>
            </a:r>
            <a:r>
              <a:rPr lang="en-IN" sz="2000" dirty="0">
                <a:sym typeface="+mn-ea"/>
              </a:rPr>
              <a:t>, 20</a:t>
            </a:r>
            <a:r>
              <a:rPr altLang="en-IN" sz="2000" dirty="0">
                <a:sym typeface="+mn-ea"/>
              </a:rPr>
              <a:t>21</a:t>
            </a:r>
            <a:r>
              <a:rPr lang="en-IN" sz="2000" dirty="0">
                <a:sym typeface="+mn-ea"/>
              </a:rPr>
              <a:t>.</a:t>
            </a:r>
            <a:r>
              <a:rPr altLang="en-US" sz="2000">
                <a:sym typeface="+mn-ea"/>
              </a:rPr>
              <a:t> </a:t>
            </a:r>
            <a:endParaRPr lang="en-US" altLang="en-US" sz="200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000" u="none" strike="noStrike">
                <a:solidFill>
                  <a:schemeClr val="dk1"/>
                </a:solidFill>
                <a:effectLst/>
                <a:uFillTx/>
                <a:latin typeface="Calibri" panose="020F0502020204030204"/>
                <a:sym typeface="+mn-ea"/>
              </a:rPr>
              <a:t>[6]P. Penava and R. Buettner, 'Early-Stage Non-Severe Depression Detection Using a Novel Convolutional Neural Network Approach Based on Resting-State EEG Data,' IEEE Access, vol. 12, pp. 173380-173389, 2024.</a:t>
            </a:r>
            <a:endParaRPr lang="en-US" altLang="en-US" sz="200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000" u="none" strike="noStrike">
                <a:solidFill>
                  <a:schemeClr val="dk1"/>
                </a:solidFill>
                <a:effectLst/>
                <a:uFillTx/>
                <a:latin typeface="Calibri" panose="020F0502020204030204"/>
              </a:rPr>
              <a:t>[7] A. Dev et al., 'Exploration of EEG-based depression biomarkers identification techniques and their applications: A systematic review,' IEEE Access, vol. 10, pp. 16756-16781, 2022</a:t>
            </a:r>
            <a:endParaRPr lang="en-US" altLang="en-US" sz="200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altLang="en-US" sz="200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6990" y="116840"/>
            <a:ext cx="2787650" cy="776605"/>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rgbClr val="FF0000"/>
                </a:solidFill>
                <a:effectLst/>
                <a:uFillTx/>
                <a:latin typeface="Times New Roman" panose="02020603050405020304"/>
              </a:rPr>
              <a:t>Conclusion:</a:t>
            </a:r>
            <a:endParaRPr lang="en-IN" sz="3600" b="1" u="none" strike="noStrike">
              <a:solidFill>
                <a:srgbClr val="FF0000"/>
              </a:solidFill>
              <a:effectLst/>
              <a:uFillTx/>
              <a:latin typeface="Times New Roman" panose="02020603050405020304"/>
            </a:endParaRPr>
          </a:p>
        </p:txBody>
      </p:sp>
      <p:sp>
        <p:nvSpPr>
          <p:cNvPr id="88" name="PlaceHolder 2"/>
          <p:cNvSpPr>
            <a:spLocks noGrp="1"/>
          </p:cNvSpPr>
          <p:nvPr>
            <p:ph/>
          </p:nvPr>
        </p:nvSpPr>
        <p:spPr>
          <a:xfrm>
            <a:off x="408940" y="1023620"/>
            <a:ext cx="10944225" cy="4810125"/>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altLang="en-US" sz="2000" b="0" u="none" strike="noStrike">
                <a:solidFill>
                  <a:schemeClr val="dk1"/>
                </a:solidFill>
                <a:effectLst/>
                <a:uFillTx/>
                <a:latin typeface="Calibri" panose="020F0502020204030204"/>
              </a:rPr>
              <a:t>This prototype is currently around 35% complete, with the core architecture — BERT/DistilBERT encoder, tokenizer, 4-class risk classification head, and a working FastAPI/Streamlit interface — fully functional end-to-end. However, the classification head remains untrained on labeled clinical data, so the system cannot yet produce a reliable, clinically validated accuracy figure; the 70% (fine-tuned model) and 90% (full system) numbers referenced in this report are roadmap targets rather than achieved results. Explainability is only partially realized: attention-based and basic SHAP-style token scoring are functional, but deeper techniques such as full SHAP, BertViz, and TCAV concept probing are not yet implemented, limiting how completely the model's reasoning can currently be audited. Combined with the lack of dataset diversity, clinical validation, and on-device deployment optimization, this means the system is not yet suitable for real-world or clinical use. Closing these gaps — through supervised fine-tuning, expanded XAI coverage, model compression for on-device inference, and structured clinical evaluation — is the necessary next phase before this prototype can responsibly function as a decision-support tool.</a:t>
            </a:r>
            <a:endParaRPr lang="en-US" altLang="en-US" sz="20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12854</Words>
  <Application>WPS Presentation</Application>
  <PresentationFormat/>
  <Paragraphs>315</Paragraphs>
  <Slides>16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16</vt:i4>
      </vt:variant>
    </vt:vector>
  </HeadingPairs>
  <TitlesOfParts>
    <vt:vector size="28"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Office Theme</vt:lpstr>
      <vt:lpstr>   </vt:lpstr>
      <vt:lpstr>.</vt:lpstr>
      <vt:lpstr>EXISTING PROBLEM :</vt:lpstr>
      <vt:lpstr>PROPOSED SOLUTION : </vt:lpstr>
      <vt:lpstr>Block Diagram:</vt:lpstr>
      <vt:lpstr>Tools Used:</vt:lpstr>
      <vt:lpstr>PowerPoint 演示文稿</vt:lpstr>
      <vt:lpstr>SYSTEM ARCHITECTURE:</vt:lpstr>
      <vt:lpstr>MODEL EXPLANATION:</vt:lpstr>
      <vt:lpstr>LIVE DEMO: RISK PREDICTION OUTPUT</vt:lpstr>
      <vt:lpstr>DEMO: MULTI-LAYER EXPLAINABILITY</vt:lpstr>
      <vt:lpstr>EXPECTED OUTPUT:</vt:lpstr>
      <vt:lpstr>LITERATURE ANALYSIS:</vt:lpstr>
      <vt:lpstr>Research Limitations:</vt:lpstr>
      <vt:lpstr>References: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 Dhar</cp:lastModifiedBy>
  <cp:revision>208</cp:revision>
  <dcterms:created xsi:type="dcterms:W3CDTF">2006-08-16T00:00:00Z</dcterms:created>
  <dcterms:modified xsi:type="dcterms:W3CDTF">2026-09-16T12:07:44Z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9F9FC945B9C540E28FCDC1C43B982CC5_13</vt:lpwstr>
  </property>
  <property fmtid="{D5CDD505-2E9C-101B-9397-08002B2CF9AE}" pid="4" name="KSOProductBuildVer">
    <vt:lpwstr>1033-12.1.0.28485</vt:lpwstr>
  </property>
  <property fmtid="{D5CDD505-2E9C-101B-9397-08002B2CF9AE}" pid="5" name="PresentationFormat">
    <vt:lpwstr>Widescreen</vt:lpwstr>
  </property>
  <property fmtid="{D5CDD505-2E9C-101B-9397-08002B2CF9AE}" pid="6" name="Slides">
    <vt:i4>13</vt:i4>
  </property>
</Properties>
</file>