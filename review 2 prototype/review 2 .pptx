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7" r:id="rId4"/>
    <p:sldId id="258" r:id="rId5"/>
    <p:sldId id="260" r:id="rId6"/>
    <p:sldId id="261" r:id="rId7"/>
    <p:sldId id="262" r:id="rId8"/>
    <p:sldId id="270" r:id="rId9"/>
    <p:sldId id="271" r:id="rId10"/>
    <p:sldId id="274" r:id="rId11"/>
    <p:sldId id="272" r:id="rId12"/>
    <p:sldId id="273" r:id="rId13"/>
    <p:sldId id="275" r:id="rId14"/>
    <p:sldId id="267" r:id="rId15"/>
    <p:sldId id="264" r:id="rId17"/>
    <p:sldId id="265" r:id="rId18"/>
    <p:sldId id="266" r:id="rId19"/>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200"/>
              <a:t>Target Accuracy — Roadmap Goals</a:t>
            </a:r>
            <a:endParaRPr sz="1200"/>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1B2A4A"/>
            </a:solidFill>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bf32a2b-c7a9-4789-9675-04b84fd96250}"/>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0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Sub-Domain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Title</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rgbClr val="0C0C0C"/>
                </a:solidFill>
                <a:effectLst/>
                <a:uFillTx/>
                <a:latin typeface="Calibri" panose="020F0502020204030204"/>
                <a:ea typeface="Times New Roman" panose="02020603050405020304"/>
              </a:rPr>
              <a:t> Suicide Risk Prediction Models with Clinical Explainability</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0" u="none" strike="noStrike">
                <a:solidFill>
                  <a:srgbClr val="FF0000"/>
                </a:solidFill>
                <a:effectLst/>
                <a:uFillTx/>
                <a:latin typeface="Calibri" panose="020F0502020204030204"/>
                <a:ea typeface="Times New Roman" panose="02020603050405020304"/>
              </a:rPr>
              <a:t>Faculty Supervisor</a:t>
            </a:r>
            <a:r>
              <a:rPr lang="en-IN" sz="2000" b="0" u="none" strike="noStrike">
                <a:solidFill>
                  <a:srgbClr val="FF0000"/>
                </a:solidFill>
                <a:effectLst/>
                <a:uFillTx/>
                <a:latin typeface="Calibri" panose="020F0502020204030204"/>
                <a:ea typeface="Times New Roman" panose="02020603050405020304"/>
              </a:rPr>
              <a:t> :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Team Members</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46990" y="116840"/>
            <a:ext cx="11692890" cy="3869055"/>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200" b="1" u="none" strike="noStrike">
                <a:solidFill>
                  <a:srgbClr val="FF0000"/>
                </a:solidFill>
                <a:effectLst/>
                <a:uFillTx/>
                <a:latin typeface="Times New Roman" panose="02020603050405020304"/>
                <a:ea typeface="Canva Sans Bold"/>
              </a:rPr>
              <a:t>ABSTRACT</a:t>
            </a:r>
            <a:r>
              <a:rPr lang="en-US" sz="3600" b="1" u="none" strike="noStrike">
                <a:solidFill>
                  <a:srgbClr val="FF0000"/>
                </a:solidFill>
                <a:effectLst/>
                <a:uFillTx/>
                <a:latin typeface="Times New Roman" panose="02020603050405020304"/>
                <a:ea typeface="Canva Sans Bold"/>
              </a:rPr>
              <a: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2000" b="1" u="none" strike="noStrike">
                <a:solidFill>
                  <a:schemeClr val="dk1"/>
                </a:solidFill>
                <a:effectLst/>
                <a:uFillTx/>
                <a:latin typeface="Calibri" panose="020F0502020204030204"/>
              </a:rPr>
              <a:t>  </a:t>
            </a:r>
            <a:br>
              <a:rPr lang="en-US" sz="2000" b="1" u="none" strike="noStrike">
                <a:solidFill>
                  <a:schemeClr val="dk1"/>
                </a:solidFill>
                <a:effectLst/>
                <a:uFillTx/>
                <a:latin typeface="Calibri" panose="020F0502020204030204"/>
              </a:rPr>
            </a:br>
            <a:br>
              <a:rPr lang="en-US" sz="2000" b="1" u="none" strike="noStrike">
                <a:solidFill>
                  <a:schemeClr val="dk1"/>
                </a:solidFill>
                <a:effectLst/>
                <a:uFillTx/>
                <a:latin typeface="Calibri" panose="020F0502020204030204"/>
              </a:rPr>
            </a:br>
            <a:r>
              <a:rPr lang="en-US" sz="2000" b="1" u="none" strike="noStrike">
                <a:solidFill>
                  <a:schemeClr val="dk1"/>
                </a:solidFill>
                <a:effectLst/>
                <a:uFillTx/>
                <a:latin typeface="Calibri" panose="020F0502020204030204"/>
              </a:rPr>
              <a:t>    </a:t>
            </a:r>
            <a:r>
              <a:rPr sz="2000" b="1">
                <a:sym typeface="+mn-ea"/>
              </a:rPr>
              <a:t> </a:t>
            </a:r>
            <a:r>
              <a:rPr sz="20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r>
              <a:rPr lang="en-US" altLang="en-US" sz="2000">
                <a:sym typeface="+mn-ea"/>
              </a:rPr>
              <a:t>This work contributes a reproducible framework for auditing suicide-risk language models — combining SHAP-style feature attribution, attention visualization, and concept-level probing (TCAV) — that clinicians and researchers can use to validate model behavior before deployment.</a:t>
            </a:r>
            <a:endParaRPr lang="en-US" altLang="en-US" sz="2000">
              <a:sym typeface="+mn-ea"/>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20" y="233045"/>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Optimize the model using quantization and pruning to enable fast and privacy-preserving on-device inference.</a:t>
            </a:r>
            <a:endParaRPr lang="en-US" sz="20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0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20" y="1007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870" y="116755"/>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000" b="1" u="none" strike="noStrike">
                          <a:solidFill>
                            <a:schemeClr val="dk1"/>
                          </a:solidFill>
                          <a:effectLst/>
                          <a:uFillTx/>
                          <a:latin typeface="Calibri" panose="020F0502020204030204"/>
                        </a:rPr>
                        <a:t>Programming</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1800" b="0" u="none" strike="noStrike">
                          <a:solidFill>
                            <a:schemeClr val="dk1"/>
                          </a:solidFill>
                          <a:effectLst/>
                          <a:uFillTx/>
                          <a:latin typeface="Calibri" panose="020F0502020204030204"/>
                        </a:rPr>
                        <a:t>Python</a:t>
                      </a:r>
                      <a:endParaRPr lang="en-IN" sz="18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Explainability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SHAP, BertViz (planned)</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000" b="1" u="none" strike="noStrike">
                          <a:solidFill>
                            <a:schemeClr val="dk1"/>
                          </a:solidFill>
                          <a:effectLst/>
                          <a:uFillTx/>
                          <a:latin typeface="Calibri" panose="020F0502020204030204"/>
                        </a:rPr>
                        <a:t>Deep Learning</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PyTorch, HuggingFace Transformers (BERT)</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Model Optimization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Quantization, Pruning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000" b="1" u="none" strike="noStrike">
                          <a:solidFill>
                            <a:schemeClr val="dk1"/>
                          </a:solidFill>
                          <a:effectLst/>
                          <a:uFillTx/>
                          <a:latin typeface="Calibri" panose="020F0502020204030204"/>
                        </a:rPr>
                        <a:t>Backend Framework</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FastAPI, Uvicorn, Pydantic</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Deployment</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ONNX Runtime, TFLite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000" b="1" u="none" strike="noStrike">
                          <a:solidFill>
                            <a:schemeClr val="dk1"/>
                          </a:solidFill>
                          <a:effectLst/>
                          <a:uFillTx/>
                          <a:latin typeface="Calibri" panose="020F0502020204030204"/>
                        </a:rPr>
                        <a:t>Frontend</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Streamlit, Plotly, Pandas</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MLOps &amp; Containerization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MLflow, Optuna, Docker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25" y="11684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706755"/>
          </a:xfrm>
          <a:prstGeom prst="rect">
            <a:avLst/>
          </a:prstGeom>
          <a:noFill/>
        </p:spPr>
        <p:txBody>
          <a:bodyPr wrap="square">
            <a:spAutoFit/>
          </a:bodyPr>
          <a:lstStyle/>
          <a:p>
            <a:r>
              <a:rPr sz="2000">
                <a:solidFill>
                  <a:srgbClr val="6E6E6E"/>
                </a:solidFill>
                <a:latin typeface="Calibri" panose="020F0502020204030204"/>
              </a:rPr>
              <a:t>Current build: architecture complete, classifier head untrained — no measured accuracy yet. Chart below shows project targets, not results.</a:t>
            </a:r>
            <a:endParaRPr sz="2000">
              <a:solidFill>
                <a:srgbClr val="6E6E6E"/>
              </a:solidFill>
              <a:latin typeface="Calibri" panose="020F0502020204030204"/>
            </a:endParaRPr>
          </a:p>
        </p:txBody>
      </p:sp>
      <p:sp>
        <p:nvSpPr>
          <p:cNvPr id="4" name="TextBox 3"/>
          <p:cNvSpPr txBox="1"/>
          <p:nvPr/>
        </p:nvSpPr>
        <p:spPr>
          <a:xfrm>
            <a:off x="457200" y="1417320"/>
            <a:ext cx="5120640" cy="368173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2000" b="1">
                <a:solidFill>
                  <a:srgbClr val="2E7D32"/>
                </a:solidFill>
                <a:latin typeface="Calibri" panose="020F0502020204030204"/>
              </a:rPr>
              <a:t>✓  Project structure &amp; config</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BERT backbone + classifier head</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Inference pipeline &amp; CLI</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Attention-based explainability (basic)</a:t>
            </a:r>
            <a:endParaRPr sz="2000" b="1">
              <a:solidFill>
                <a:srgbClr val="2E7D32"/>
              </a:solidFill>
              <a:latin typeface="Calibri" panose="020F0502020204030204"/>
            </a:endParaRPr>
          </a:p>
          <a:p>
            <a:pPr>
              <a:spcBef>
                <a:spcPts val="800"/>
              </a:spcBef>
            </a:pPr>
            <a:r>
              <a:rPr sz="2000" b="0">
                <a:solidFill>
                  <a:srgbClr val="B00000"/>
                </a:solidFill>
                <a:latin typeface="Calibri" panose="020F0502020204030204"/>
              </a:rPr>
              <a:t>✗  Fine-tuning on labeled risk data</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SHAP / TCAV / probing</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Model compression (ONNX / TFLite)</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Clinical validation</a:t>
            </a:r>
            <a:endParaRPr sz="20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4989195" y="1417320"/>
          <a:ext cx="698881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4008120" y="5623560"/>
            <a:ext cx="8053705" cy="645160"/>
          </a:xfrm>
          <a:prstGeom prst="rect">
            <a:avLst/>
          </a:prstGeom>
          <a:noFill/>
        </p:spPr>
        <p:txBody>
          <a:bodyPr wrap="square">
            <a:spAutoFit/>
          </a:bodyPr>
          <a:lstStyle/>
          <a:p>
            <a:r>
              <a:rPr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990" y="188595"/>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MODEL EXPLANATION:</a:t>
            </a:r>
            <a:endParaRPr lang="en-US" sz="3600" b="1" u="none" strike="noStrike">
              <a:solidFill>
                <a:schemeClr val="dk1"/>
              </a:solidFill>
              <a:effectLst/>
              <a:uFillTx/>
              <a:latin typeface="Calibri Light" panose="020F0302020204030204"/>
            </a:endParaRPr>
          </a:p>
        </p:txBody>
      </p:sp>
      <p:sp>
        <p:nvSpPr>
          <p:cNvPr id="67" name="TextBox 66"/>
          <p:cNvSpPr txBox="1"/>
          <p:nvPr/>
        </p:nvSpPr>
        <p:spPr>
          <a:xfrm>
            <a:off x="411480" y="685800"/>
            <a:ext cx="10607040" cy="320040"/>
          </a:xfrm>
          <a:prstGeom prst="rect">
            <a:avLst/>
          </a:prstGeom>
          <a:noFill/>
        </p:spPr>
        <p:txBody>
          <a:bodyPr wrap="square">
            <a:spAutoFit/>
          </a:bodyPr>
          <a:lstStyle/>
          <a:p>
            <a:r>
              <a:rPr sz="1300" b="0" i="1">
                <a:solidFill>
                  <a:srgbClr val="555555"/>
                </a:solidFill>
                <a:latin typeface="Calibri" panose="020F0502020204030204"/>
              </a:rPr>
              <a:t>How CrisisFormer turns a piece of text into a risk score, layer by layer.</a:t>
            </a:r>
            <a:endParaRPr sz="1300" b="0" i="1">
              <a:solidFill>
                <a:srgbClr val="555555"/>
              </a:solidFill>
              <a:latin typeface="Calibri" panose="020F0502020204030204"/>
            </a:endParaRPr>
          </a:p>
        </p:txBody>
      </p:sp>
      <p:sp>
        <p:nvSpPr>
          <p:cNvPr id="68" name="Oval 67"/>
          <p:cNvSpPr/>
          <p:nvPr/>
        </p:nvSpPr>
        <p:spPr>
          <a:xfrm>
            <a:off x="411480" y="1170432"/>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1</a:t>
            </a:r>
            <a:endParaRPr sz="1500" b="1" i="0">
              <a:solidFill>
                <a:srgbClr val="FFFFFF"/>
              </a:solidFill>
              <a:latin typeface="Calibri" panose="020F0502020204030204"/>
            </a:endParaRPr>
          </a:p>
        </p:txBody>
      </p:sp>
      <p:sp>
        <p:nvSpPr>
          <p:cNvPr id="69" name="Rounded Rectangle 68"/>
          <p:cNvSpPr/>
          <p:nvPr/>
        </p:nvSpPr>
        <p:spPr>
          <a:xfrm>
            <a:off x="914400" y="1097280"/>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Tokenizer (BERT)</a:t>
            </a:r>
            <a:endParaRPr sz="1350" b="1" i="0">
              <a:solidFill>
                <a:srgbClr val="1B2A4A"/>
              </a:solidFill>
              <a:latin typeface="Calibri" panose="020F0502020204030204"/>
            </a:endParaRPr>
          </a:p>
          <a:p>
            <a:r>
              <a:rPr sz="1100" b="0" i="0">
                <a:solidFill>
                  <a:srgbClr val="222222"/>
                </a:solidFill>
                <a:latin typeface="Calibri" panose="020F0502020204030204"/>
              </a:rPr>
              <a:t>User text is cleaned, de-identified, and split into WordPiece tokens the model understands.</a:t>
            </a:r>
            <a:endParaRPr sz="1100" b="0" i="0">
              <a:solidFill>
                <a:srgbClr val="222222"/>
              </a:solidFill>
              <a:latin typeface="Calibri" panose="020F0502020204030204"/>
            </a:endParaRPr>
          </a:p>
        </p:txBody>
      </p:sp>
      <p:sp>
        <p:nvSpPr>
          <p:cNvPr id="70" name="Oval 69"/>
          <p:cNvSpPr/>
          <p:nvPr/>
        </p:nvSpPr>
        <p:spPr>
          <a:xfrm>
            <a:off x="411480" y="2103120"/>
            <a:ext cx="365760" cy="365760"/>
          </a:xfrm>
          <a:prstGeom prst="ellipse">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2</a:t>
            </a:r>
            <a:endParaRPr sz="1500" b="1" i="0">
              <a:solidFill>
                <a:srgbClr val="FFFFFF"/>
              </a:solidFill>
              <a:latin typeface="Calibri" panose="020F0502020204030204"/>
            </a:endParaRPr>
          </a:p>
        </p:txBody>
      </p:sp>
      <p:sp>
        <p:nvSpPr>
          <p:cNvPr id="71" name="Rounded Rectangle 70"/>
          <p:cNvSpPr/>
          <p:nvPr/>
        </p:nvSpPr>
        <p:spPr>
          <a:xfrm>
            <a:off x="914400" y="2029967"/>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BERT / DistilBERT Encoder</a:t>
            </a:r>
            <a:endParaRPr sz="1350" b="1" i="0">
              <a:solidFill>
                <a:srgbClr val="1B2A4A"/>
              </a:solidFill>
              <a:latin typeface="Calibri" panose="020F0502020204030204"/>
            </a:endParaRPr>
          </a:p>
          <a:p>
            <a:r>
              <a:rPr sz="1100" b="0" i="0">
                <a:solidFill>
                  <a:srgbClr val="222222"/>
                </a:solidFill>
                <a:latin typeface="Calibri" panose="020F0502020204030204"/>
              </a:rPr>
              <a:t>Self-attention layers build contextual meaning across the sentence; each token attends to every other token.</a:t>
            </a:r>
            <a:endParaRPr sz="1100" b="0" i="0">
              <a:solidFill>
                <a:srgbClr val="222222"/>
              </a:solidFill>
              <a:latin typeface="Calibri" panose="020F0502020204030204"/>
            </a:endParaRPr>
          </a:p>
        </p:txBody>
      </p:sp>
      <p:sp>
        <p:nvSpPr>
          <p:cNvPr id="72" name="Oval 71"/>
          <p:cNvSpPr/>
          <p:nvPr/>
        </p:nvSpPr>
        <p:spPr>
          <a:xfrm>
            <a:off x="411480" y="3035808"/>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3</a:t>
            </a:r>
            <a:endParaRPr sz="1500" b="1" i="0">
              <a:solidFill>
                <a:srgbClr val="FFFFFF"/>
              </a:solidFill>
              <a:latin typeface="Calibri" panose="020F0502020204030204"/>
            </a:endParaRPr>
          </a:p>
        </p:txBody>
      </p:sp>
      <p:sp>
        <p:nvSpPr>
          <p:cNvPr id="73" name="Rounded Rectangle 72"/>
          <p:cNvSpPr/>
          <p:nvPr/>
        </p:nvSpPr>
        <p:spPr>
          <a:xfrm>
            <a:off x="914400" y="2962656"/>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Classification Head</a:t>
            </a:r>
            <a:endParaRPr sz="1350" b="1" i="0">
              <a:solidFill>
                <a:srgbClr val="1B2A4A"/>
              </a:solidFill>
              <a:latin typeface="Calibri" panose="020F0502020204030204"/>
            </a:endParaRPr>
          </a:p>
          <a:p>
            <a:r>
              <a:rPr sz="1100" b="0" i="0">
                <a:solidFill>
                  <a:srgbClr val="222222"/>
                </a:solidFill>
                <a:latin typeface="Calibri" panose="020F0502020204030204"/>
              </a:rPr>
              <a:t>A 4-class head (No / Low / Moderate / High risk) maps the encoded representation to a risk category.</a:t>
            </a:r>
            <a:endParaRPr sz="1100" b="0" i="0">
              <a:solidFill>
                <a:srgbClr val="222222"/>
              </a:solidFill>
              <a:latin typeface="Calibri" panose="020F0502020204030204"/>
            </a:endParaRPr>
          </a:p>
        </p:txBody>
      </p:sp>
      <p:sp>
        <p:nvSpPr>
          <p:cNvPr id="74" name="Oval 73"/>
          <p:cNvSpPr/>
          <p:nvPr/>
        </p:nvSpPr>
        <p:spPr>
          <a:xfrm>
            <a:off x="411480" y="3968496"/>
            <a:ext cx="365760" cy="365760"/>
          </a:xfrm>
          <a:prstGeom prst="ellipse">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4</a:t>
            </a:r>
            <a:endParaRPr sz="1500" b="1" i="0">
              <a:solidFill>
                <a:srgbClr val="FFFFFF"/>
              </a:solidFill>
              <a:latin typeface="Calibri" panose="020F0502020204030204"/>
            </a:endParaRPr>
          </a:p>
        </p:txBody>
      </p:sp>
      <p:sp>
        <p:nvSpPr>
          <p:cNvPr id="75" name="Rounded Rectangle 74"/>
          <p:cNvSpPr/>
          <p:nvPr/>
        </p:nvSpPr>
        <p:spPr>
          <a:xfrm>
            <a:off x="914400" y="3895344"/>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Explainability Layer</a:t>
            </a:r>
            <a:endParaRPr sz="1350" b="1" i="0">
              <a:solidFill>
                <a:srgbClr val="1B2A4A"/>
              </a:solidFill>
              <a:latin typeface="Calibri" panose="020F0502020204030204"/>
            </a:endParaRPr>
          </a:p>
          <a:p>
            <a:r>
              <a:rPr sz="1100" b="0" i="0">
                <a:solidFill>
                  <a:srgbClr val="222222"/>
                </a:solidFill>
                <a:latin typeface="Calibri" panose="020F0502020204030204"/>
              </a:rPr>
              <a:t>Last-layer attention + SHAP-style scoring highlight which tokens (e.g. "suicide", "die") drove the prediction, with clinical-keyword boosting.</a:t>
            </a:r>
            <a:endParaRPr sz="1100" b="0" i="0">
              <a:solidFill>
                <a:srgbClr val="222222"/>
              </a:solidFill>
              <a:latin typeface="Calibri" panose="020F0502020204030204"/>
            </a:endParaRPr>
          </a:p>
        </p:txBody>
      </p:sp>
      <p:sp>
        <p:nvSpPr>
          <p:cNvPr id="76" name="Oval 75"/>
          <p:cNvSpPr/>
          <p:nvPr/>
        </p:nvSpPr>
        <p:spPr>
          <a:xfrm>
            <a:off x="411480" y="4901184"/>
            <a:ext cx="365760" cy="365760"/>
          </a:xfrm>
          <a:prstGeom prst="ellipse">
            <a:avLst/>
          </a:prstGeom>
          <a:solidFill>
            <a:srgbClr val="E835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i="0">
                <a:solidFill>
                  <a:srgbClr val="FFFFFF"/>
                </a:solidFill>
                <a:latin typeface="Calibri" panose="020F0502020204030204"/>
              </a:rPr>
              <a:t>5</a:t>
            </a:r>
            <a:endParaRPr sz="1500" b="1" i="0">
              <a:solidFill>
                <a:srgbClr val="FFFFFF"/>
              </a:solidFill>
              <a:latin typeface="Calibri" panose="020F0502020204030204"/>
            </a:endParaRPr>
          </a:p>
        </p:txBody>
      </p:sp>
      <p:sp>
        <p:nvSpPr>
          <p:cNvPr id="77" name="Rounded Rectangle 76"/>
          <p:cNvSpPr/>
          <p:nvPr/>
        </p:nvSpPr>
        <p:spPr>
          <a:xfrm>
            <a:off x="914400" y="4828032"/>
            <a:ext cx="10104120" cy="804672"/>
          </a:xfrm>
          <a:prstGeom prst="roundRect">
            <a:avLst>
              <a:gd name="adj" fmla="val 6000"/>
            </a:avLst>
          </a:prstGeom>
          <a:solidFill>
            <a:srgbClr val="F4F4F4"/>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37160" tIns="36576" rIns="137160" bIns="18288" rtlCol="0" anchor="ctr"/>
          <a:lstStyle/>
          <a:p>
            <a:pPr algn="ctr"/>
            <a:r>
              <a:rPr sz="1350" b="1" i="0">
                <a:solidFill>
                  <a:srgbClr val="1B2A4A"/>
                </a:solidFill>
                <a:latin typeface="Calibri" panose="020F0502020204030204"/>
              </a:rPr>
              <a:t>Risk Report + Human Review</a:t>
            </a:r>
            <a:endParaRPr sz="1350" b="1" i="0">
              <a:solidFill>
                <a:srgbClr val="1B2A4A"/>
              </a:solidFill>
              <a:latin typeface="Calibri" panose="020F0502020204030204"/>
            </a:endParaRPr>
          </a:p>
          <a:p>
            <a:r>
              <a:rPr sz="1100" b="0" i="0">
                <a:solidFill>
                  <a:srgbClr val="222222"/>
                </a:solidFill>
                <a:latin typeface="Calibri" panose="020F0502020204030204"/>
              </a:rPr>
              <a:t>Final output = risk label + probability + explanation, always flagged for mandatory human/clinician review before any action.</a:t>
            </a:r>
            <a:endParaRPr sz="1100" b="0" i="0">
              <a:solidFill>
                <a:srgbClr val="222222"/>
              </a:solidFill>
              <a:latin typeface="Calibri" panose="020F0502020204030204"/>
            </a:endParaRPr>
          </a:p>
        </p:txBody>
      </p:sp>
      <p:sp>
        <p:nvSpPr>
          <p:cNvPr id="78" name="TextBox 77"/>
          <p:cNvSpPr txBox="1"/>
          <p:nvPr/>
        </p:nvSpPr>
        <p:spPr>
          <a:xfrm>
            <a:off x="411480" y="6355080"/>
            <a:ext cx="10607040" cy="320040"/>
          </a:xfrm>
          <a:prstGeom prst="rect">
            <a:avLst/>
          </a:prstGeom>
          <a:noFill/>
        </p:spPr>
        <p:txBody>
          <a:bodyPr wrap="square">
            <a:spAutoFit/>
          </a:bodyPr>
          <a:lstStyle/>
          <a:p>
            <a:r>
              <a:rPr sz="1050" b="0" i="1">
                <a:solidFill>
                  <a:srgbClr val="555555"/>
                </a:solidFill>
                <a:latin typeface="Calibri" panose="020F0502020204030204"/>
              </a:rPr>
              <a:t>Reverse-engineering target: attention layers (stage 2) mapped to clinical concepts (hopelessness, urgency, isolation) via SHAP, BertViz, and TCAV probing.</a:t>
            </a:r>
            <a:endParaRPr sz="1050" b="0" i="1">
              <a:solidFill>
                <a:srgbClr val="555555"/>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Working Streamlit interface: sample input classified with 65.9% Suicide Risk probability, triggering a high-risk alert and human-review flag.</a:t>
            </a:r>
            <a:endParaRPr sz="2000" b="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918720" y="1844640"/>
            <a:ext cx="8509500" cy="4500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DistilBERT last-layer attention and SHAP-style token scoring (with clinical keyword boosting) highlight the terms driving the prediction.</a:t>
            </a:r>
            <a:endParaRPr sz="2000" b="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18945" y="1772885"/>
            <a:ext cx="8236000" cy="4321000"/>
          </a:xfrm>
          <a:prstGeom prst="rect">
            <a:avLst/>
          </a:prstGeom>
          <a:ln w="9525">
            <a:solidFill>
              <a:srgbClr val="CCCCCC"/>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6870" y="4500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EXPECTED OUTPUT:</a:t>
            </a:r>
            <a:endParaRPr lang="en-US" sz="3600" b="1" u="none" strike="noStrike">
              <a:solidFill>
                <a:schemeClr val="dk1"/>
              </a:solidFill>
              <a:effectLst/>
              <a:uFillTx/>
              <a:latin typeface="Calibri Light" panose="020F0302020204030204"/>
            </a:endParaRPr>
          </a:p>
        </p:txBody>
      </p:sp>
      <p:sp>
        <p:nvSpPr>
          <p:cNvPr id="67" name="TextBox 66"/>
          <p:cNvSpPr txBox="1"/>
          <p:nvPr/>
        </p:nvSpPr>
        <p:spPr>
          <a:xfrm>
            <a:off x="411480" y="685800"/>
            <a:ext cx="10607040" cy="320040"/>
          </a:xfrm>
          <a:prstGeom prst="rect">
            <a:avLst/>
          </a:prstGeom>
          <a:noFill/>
        </p:spPr>
        <p:txBody>
          <a:bodyPr wrap="square">
            <a:spAutoFit/>
          </a:bodyPr>
          <a:lstStyle/>
          <a:p>
            <a:r>
              <a:rPr sz="1300" b="0" i="1">
                <a:solidFill>
                  <a:srgbClr val="555555"/>
                </a:solidFill>
                <a:latin typeface="Calibri" panose="020F0502020204030204"/>
              </a:rPr>
              <a:t>Roadmap targets for the fine-tuned model — not yet-measured results (current classifier head is untrained).</a:t>
            </a:r>
            <a:endParaRPr sz="1300" b="0" i="1">
              <a:solidFill>
                <a:srgbClr val="555555"/>
              </a:solidFill>
              <a:latin typeface="Calibri" panose="020F0502020204030204"/>
            </a:endParaRPr>
          </a:p>
        </p:txBody>
      </p:sp>
      <p:graphicFrame>
        <p:nvGraphicFramePr>
          <p:cNvPr id="68" name="Chart 67"/>
          <p:cNvGraphicFramePr>
            <a:graphicFrameLocks noGrp="1"/>
          </p:cNvGraphicFramePr>
          <p:nvPr/>
        </p:nvGraphicFramePr>
        <p:xfrm>
          <a:off x="411480" y="1143000"/>
          <a:ext cx="534924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69" name="Rounded Rectangle 68"/>
          <p:cNvSpPr/>
          <p:nvPr/>
        </p:nvSpPr>
        <p:spPr>
          <a:xfrm>
            <a:off x="5989320" y="1143000"/>
            <a:ext cx="5760720" cy="1417320"/>
          </a:xfrm>
          <a:prstGeom prst="roundRect">
            <a:avLst>
              <a:gd name="adj" fmla="val 6000"/>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sz="1250" b="1" i="0">
                <a:solidFill>
                  <a:srgbClr val="FFFFFF"/>
                </a:solidFill>
                <a:latin typeface="Calibri" panose="020F0502020204030204"/>
              </a:rPr>
              <a:t>Sample Demo Output (working prototype)</a:t>
            </a:r>
            <a:endParaRPr sz="1250" b="1" i="0">
              <a:solidFill>
                <a:srgbClr val="FFFFFF"/>
              </a:solidFill>
              <a:latin typeface="Calibri" panose="020F0502020204030204"/>
            </a:endParaRPr>
          </a:p>
          <a:p>
            <a:r>
              <a:rPr sz="1300" b="1" i="0">
                <a:solidFill>
                  <a:srgbClr val="FF6B6B"/>
                </a:solidFill>
                <a:latin typeface="Calibri" panose="020F0502020204030204"/>
              </a:rPr>
              <a:t>Predicted: Suicide Risk</a:t>
            </a:r>
            <a:endParaRPr sz="1300" b="1" i="0">
              <a:solidFill>
                <a:srgbClr val="FF6B6B"/>
              </a:solidFill>
              <a:latin typeface="Calibri" panose="020F0502020204030204"/>
            </a:endParaRPr>
          </a:p>
          <a:p>
            <a:r>
              <a:rPr sz="1100" b="0" i="0">
                <a:solidFill>
                  <a:srgbClr val="DDDDDD"/>
                </a:solidFill>
                <a:latin typeface="Calibri" panose="020F0502020204030204"/>
              </a:rPr>
              <a:t>Risk Probability: 65.9% (Suicide Risk) / 34.1% (Non-Suicide)</a:t>
            </a:r>
            <a:endParaRPr sz="1100" b="0" i="0">
              <a:solidFill>
                <a:srgbClr val="DDDDDD"/>
              </a:solidFill>
              <a:latin typeface="Calibri" panose="020F0502020204030204"/>
            </a:endParaRPr>
          </a:p>
          <a:p>
            <a:r>
              <a:rPr sz="1100" b="0" i="1">
                <a:solidFill>
                  <a:srgbClr val="FFC94A"/>
                </a:solidFill>
                <a:latin typeface="Calibri" panose="020F0502020204030204"/>
              </a:rPr>
              <a:t>⚠ High-Risk Alert — Human review recommended</a:t>
            </a:r>
            <a:endParaRPr sz="1100" b="0" i="1">
              <a:solidFill>
                <a:srgbClr val="FFC94A"/>
              </a:solidFill>
              <a:latin typeface="Calibri" panose="020F0502020204030204"/>
            </a:endParaRPr>
          </a:p>
        </p:txBody>
      </p:sp>
      <p:graphicFrame>
        <p:nvGraphicFramePr>
          <p:cNvPr id="70" name="Table 69"/>
          <p:cNvGraphicFramePr>
            <a:graphicFrameLocks noGrp="1"/>
          </p:cNvGraphicFramePr>
          <p:nvPr/>
        </p:nvGraphicFramePr>
        <p:xfrm>
          <a:off x="5989320" y="2743200"/>
          <a:ext cx="5760719" cy="2788920"/>
        </p:xfrm>
        <a:graphic>
          <a:graphicData uri="http://schemas.openxmlformats.org/drawingml/2006/table">
            <a:tbl>
              <a:tblPr firstRow="1" bandRow="1">
                <a:tableStyleId>{5C22544A-7EE6-4342-B048-85BDC9FD1C3A}</a:tableStyleId>
              </a:tblPr>
              <a:tblGrid>
                <a:gridCol w="1783080"/>
                <a:gridCol w="3977639"/>
              </a:tblGrid>
              <a:tr h="464820">
                <a:tc>
                  <a:txBody>
                    <a:bodyPr/>
                    <a:lstStyle/>
                    <a:p>
                      <a:r>
                        <a:rPr sz="1100" b="1" i="0">
                          <a:solidFill>
                            <a:srgbClr val="FFFFFF"/>
                          </a:solidFill>
                          <a:latin typeface="Calibri" panose="020F0502020204030204"/>
                        </a:rPr>
                        <a:t>Output Element</a:t>
                      </a:r>
                      <a:endParaRPr sz="1100" b="1" i="0">
                        <a:solidFill>
                          <a:srgbClr val="FFFFFF"/>
                        </a:solidFill>
                        <a:latin typeface="Calibri" panose="020F0502020204030204"/>
                      </a:endParaRPr>
                    </a:p>
                  </a:txBody>
                  <a:tcPr marL="73152" marR="45720">
                    <a:solidFill>
                      <a:srgbClr val="1B2A4A"/>
                    </a:solidFill>
                  </a:tcPr>
                </a:tc>
                <a:tc>
                  <a:txBody>
                    <a:bodyPr/>
                    <a:lstStyle/>
                    <a:p>
                      <a:r>
                        <a:rPr sz="1100" b="1" i="0">
                          <a:solidFill>
                            <a:srgbClr val="FFFFFF"/>
                          </a:solidFill>
                          <a:latin typeface="Calibri" panose="020F0502020204030204"/>
                        </a:rPr>
                        <a:t>Expected Result</a:t>
                      </a:r>
                      <a:endParaRPr sz="1100" b="1" i="0">
                        <a:solidFill>
                          <a:srgbClr val="FFFFFF"/>
                        </a:solidFill>
                        <a:latin typeface="Calibri" panose="020F0502020204030204"/>
                      </a:endParaRPr>
                    </a:p>
                  </a:txBody>
                  <a:tcPr marL="73152" marR="45720">
                    <a:solidFill>
                      <a:srgbClr val="1B2A4A"/>
                    </a:solidFill>
                  </a:tcPr>
                </a:tc>
              </a:tr>
              <a:tr h="464820">
                <a:tc>
                  <a:txBody>
                    <a:bodyPr/>
                    <a:lstStyle/>
                    <a:p>
                      <a:r>
                        <a:rPr sz="1050" b="0" i="0">
                          <a:solidFill>
                            <a:srgbClr val="222222"/>
                          </a:solidFill>
                          <a:latin typeface="Calibri" panose="020F0502020204030204"/>
                        </a:rPr>
                        <a:t>Risk classification</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4-class label: No / Low / Moderate / High Risk</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Risk probability</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Confidence score (%) per class, e.g. 65.9% Suicide Risk</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Explanation</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Attention heatmap + SHAP-style token scores highlighting key words</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Alert flag</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High-risk alert + mandatory human-review flag for scores above threshold</a:t>
                      </a:r>
                      <a:endParaRPr sz="1050" b="0" i="0">
                        <a:solidFill>
                          <a:srgbClr val="222222"/>
                        </a:solidFill>
                        <a:latin typeface="Calibri" panose="020F0502020204030204"/>
                      </a:endParaRPr>
                    </a:p>
                  </a:txBody>
                  <a:tcPr marL="73152" marR="45720">
                    <a:solidFill>
                      <a:srgbClr val="FFFFFF"/>
                    </a:solidFill>
                  </a:tcPr>
                </a:tc>
              </a:tr>
              <a:tr h="464820">
                <a:tc>
                  <a:txBody>
                    <a:bodyPr/>
                    <a:lstStyle/>
                    <a:p>
                      <a:r>
                        <a:rPr sz="1050" b="0" i="0">
                          <a:solidFill>
                            <a:srgbClr val="222222"/>
                          </a:solidFill>
                          <a:latin typeface="Calibri" panose="020F0502020204030204"/>
                        </a:rPr>
                        <a:t>Deployment output</a:t>
                      </a:r>
                      <a:endParaRPr sz="1050" b="0" i="0">
                        <a:solidFill>
                          <a:srgbClr val="222222"/>
                        </a:solidFill>
                        <a:latin typeface="Calibri" panose="020F0502020204030204"/>
                      </a:endParaRPr>
                    </a:p>
                  </a:txBody>
                  <a:tcPr marL="73152" marR="45720">
                    <a:solidFill>
                      <a:srgbClr val="FFFFFF"/>
                    </a:solidFill>
                  </a:tcPr>
                </a:tc>
                <a:tc>
                  <a:txBody>
                    <a:bodyPr/>
                    <a:lstStyle/>
                    <a:p>
                      <a:r>
                        <a:rPr sz="1050" b="0" i="0">
                          <a:solidFill>
                            <a:srgbClr val="222222"/>
                          </a:solidFill>
                          <a:latin typeface="Calibri" panose="020F0502020204030204"/>
                        </a:rPr>
                        <a:t>Lightweight ONNX/TFLite model for fast, private on-device inference (planned)</a:t>
                      </a:r>
                      <a:endParaRPr sz="1050" b="0" i="0">
                        <a:solidFill>
                          <a:srgbClr val="222222"/>
                        </a:solidFill>
                        <a:latin typeface="Calibri" panose="020F0502020204030204"/>
                      </a:endParaRPr>
                    </a:p>
                  </a:txBody>
                  <a:tcPr marL="73152" marR="45720">
                    <a:solidFill>
                      <a:srgbClr val="FFFFFF"/>
                    </a:solidFill>
                  </a:tcPr>
                </a:tc>
              </a:tr>
            </a:tbl>
          </a:graphicData>
        </a:graphic>
      </p:graphicFrame>
      <p:sp>
        <p:nvSpPr>
          <p:cNvPr id="71" name="TextBox 70"/>
          <p:cNvSpPr txBox="1"/>
          <p:nvPr/>
        </p:nvSpPr>
        <p:spPr>
          <a:xfrm>
            <a:off x="411480" y="6126480"/>
            <a:ext cx="10607040" cy="502920"/>
          </a:xfrm>
          <a:prstGeom prst="rect">
            <a:avLst/>
          </a:prstGeom>
          <a:noFill/>
        </p:spPr>
        <p:txBody>
          <a:bodyPr wrap="square">
            <a:spAutoFit/>
          </a:bodyPr>
          <a:lstStyle/>
          <a:p>
            <a:r>
              <a:rPr sz="1050" b="0" i="1">
                <a:solidFill>
                  <a:srgbClr val="555555"/>
                </a:solidFill>
                <a:latin typeface="Calibri" panose="020F0502020204030204"/>
              </a:rPr>
              <a:t>Overall prototype completion: ~35% (per README) — architecture, inference pipeline, and basic attention explainability are working; fine-tuning, SHAP/TCAV, compression, and clinical validation are planned next.</a:t>
            </a:r>
            <a:endParaRPr sz="1050" b="0" i="1">
              <a:solidFill>
                <a:srgbClr val="555555"/>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765"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44450" y="480060"/>
          <a:ext cx="11915140" cy="625856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600">
                          <a:sym typeface="+mn-ea"/>
                        </a:rPr>
                        <a:t>Pascal Penava et al.</a:t>
                      </a:r>
                      <a:endParaRPr lang="en-US" altLang="en-US" sz="1600"/>
                    </a:p>
                    <a:p>
                      <a:pPr>
                        <a:buNone/>
                      </a:pPr>
                      <a:r>
                        <a:rPr altLang="en-US" sz="1600">
                          <a:sym typeface="+mn-ea"/>
                        </a:rPr>
                        <a:t>(https://ieeexplore.ieee.org/document/10757418). </a:t>
                      </a:r>
                      <a:r>
                        <a:rPr lang="en-US" altLang="en-US" sz="1600">
                          <a:sym typeface="+mn-ea"/>
                        </a:rPr>
                        <a:t>Journals &amp; Magazines, IEEE Access, Volume: 12, 2024</a:t>
                      </a:r>
                      <a:endParaRPr lang="en-US" altLang="en-US" sz="1600">
                        <a:sym typeface="+mn-ea"/>
                      </a:endParaRPr>
                    </a:p>
                  </a:txBody>
                  <a:tcPr marL="0" marR="0" marT="0" marB="0" anchor="ctr" anchorCtr="0"/>
                </a:tc>
                <a:tc>
                  <a:txBody>
                    <a:bodyPr/>
                    <a:p>
                      <a:r>
                        <a:rPr lang="en-US" altLang="en-US" sz="1800"/>
                        <a:t>1</a:t>
                      </a:r>
                      <a:r>
                        <a:rPr lang="en-US" altLang="en-US" sz="1600"/>
                        <a:t>D CNN on resting-state EEG for early mild depression detection</a:t>
                      </a:r>
                      <a:endParaRPr lang="en-US" altLang="en-US" sz="1600"/>
                    </a:p>
                  </a:txBody>
                  <a:tcPr marL="0" marR="0" marT="0" marB="0" anchor="ctr" anchorCtr="0"/>
                </a:tc>
                <a:tc>
                  <a:txBody>
                    <a:bodyPr/>
                    <a:p>
                      <a:r>
                        <a:rPr lang="en-US" altLang="en-US" sz="1600"/>
                        <a:t>Good accuracy (69.21%), low computational cost &amp; fast inference</a:t>
                      </a:r>
                      <a:endParaRPr lang="en-US" altLang="en-US" sz="1600"/>
                    </a:p>
                  </a:txBody>
                  <a:tcPr marL="0" marR="0" marT="0" marB="0" anchor="ctr" anchorCtr="0"/>
                </a:tc>
                <a:tc>
                  <a:txBody>
                    <a:bodyPr/>
                    <a:p>
                      <a:r>
                        <a:rPr lang="en-US" altLang="en-US" sz="1600"/>
                        <a:t>EEG-only (requires hardware); no explainability; limited to depression, not suicide risk; no deployment/privacy</a:t>
                      </a:r>
                      <a:endParaRPr lang="en-US" altLang="en-US" sz="1600"/>
                    </a:p>
                  </a:txBody>
                  <a:tcPr marL="0" marR="0" marT="0" marB="0" anchor="ctr" anchorCtr="0"/>
                </a:tc>
                <a:tc>
                  <a:txBody>
                    <a:bodyPr/>
                    <a:p>
                      <a:r>
                        <a:rPr lang="en-US" altLang="zh-CN" sz="1600"/>
                        <a:t>Our text-based approach + XAI (SHAP &amp; Attention) + MLOps + on-device DPDP compliance is more accessible &amp; practical</a:t>
                      </a:r>
                      <a:endParaRPr lang="en-US" altLang="zh-CN" sz="16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600"/>
                        <a:t>Enhanced with modern XAI techniques, full MLOps, and privacy-preserving on-device inference</a:t>
                      </a:r>
                      <a:endParaRPr lang="en-US" altLang="en-US" sz="1600"/>
                    </a:p>
                  </a:txBody>
                  <a:tcPr marL="0" marR="0" marT="0" marB="0" anchor="ctr" anchorCtr="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4765" y="0"/>
            <a:ext cx="4539615" cy="8051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07035" y="765175"/>
            <a:ext cx="10514965" cy="5245735"/>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Untrained Classification Head – The model architecture is complete, but the classifier head has not yet been fine-tuned on labeled clinical data, so no real accuracy or reliability figure can be reported yet.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Partial Explainability Coverage – Only basic attention-based and SHAP-style token scoring are implemented; deeper methods (full SHAP, BertViz, TCAV concept probing) are still planned, so current explanations may not fully capture the model's reasoning.</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Dataset Diversity – Datasets sourced from Reddit/CLPsych/UMD annotations may not represent all demographic and clinical populations.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No Clinical Validation Yet – The 70%/90% accuracy figures shown are roadmap targets, not validated results, and require extensive evaluation by mental health professionals before real-world adoption.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Deployment &amp; Compression Not Implemented – Model compression (quantization, pruning) and on-device export (ONNX/TFLite) are planned but not yet built, so the system cannot yet run as a fast, privacy-preserving on-device tool.</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Risk of Prediction Errors – False positives and false negatives may still occur, so the model must never be the sole basis for clinical decision-making.</a:t>
            </a:r>
            <a:endParaRPr lang="en-US" sz="20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2896235" cy="72961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References:</a:t>
            </a:r>
            <a:endParaRPr lang="en-IN" sz="3600" b="1" u="none" strike="noStrike">
              <a:solidFill>
                <a:srgbClr val="FF0000"/>
              </a:solidFill>
              <a:effectLst/>
              <a:uFillTx/>
              <a:latin typeface="Times New Roman" panose="02020603050405020304"/>
            </a:endParaRPr>
          </a:p>
        </p:txBody>
      </p:sp>
      <p:sp>
        <p:nvSpPr>
          <p:cNvPr id="85" name="PlaceHolder 2"/>
          <p:cNvSpPr>
            <a:spLocks noGrp="1"/>
          </p:cNvSpPr>
          <p:nvPr>
            <p:ph/>
          </p:nvPr>
        </p:nvSpPr>
        <p:spPr>
          <a:xfrm>
            <a:off x="77470" y="405130"/>
            <a:ext cx="12031345" cy="5861050"/>
          </a:xfrm>
          <a:prstGeom prst="rect">
            <a:avLst/>
          </a:prstGeom>
          <a:noFill/>
          <a:ln w="0">
            <a:noFill/>
          </a:ln>
        </p:spPr>
        <p:txBody>
          <a:bodyPr lIns="91440" tIns="45720" rIns="91440" bIns="45720" anchor="t"/>
          <a:p>
            <a:pPr marL="0" indent="0" algn="just" defTabSz="914400">
              <a:lnSpc>
                <a:spcPct val="90000"/>
              </a:lnSpc>
              <a:spcBef>
                <a:spcPts val="1000"/>
              </a:spcBef>
              <a:buClr>
                <a:srgbClr val="000000"/>
              </a:buClr>
              <a:buFont typeface="Arial" panose="020B0604020202020204"/>
              <a:buNone/>
            </a:pPr>
            <a:endParaRPr lang="en-US" altLang="en-US" sz="20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200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u="none" strike="noStrike">
                <a:solidFill>
                  <a:schemeClr val="dk1"/>
                </a:solidFill>
                <a:effectLst/>
                <a:uFillTx/>
                <a:latin typeface="Calibri" panose="020F0502020204030204"/>
              </a:rPr>
              <a:t>[2]Pascal Penava et al.(2025)—Early-Stage Non-Severe Depression Detection Using a Novel CNNApproach on Resting-State EEG Data(2024)— IEEE.</a:t>
            </a:r>
            <a:r>
              <a:rPr altLang="en-US" sz="2000">
                <a:sym typeface="+mn-ea"/>
              </a:rPr>
              <a:t> (https://ieeexplore.ieee.org/document/10757418). </a:t>
            </a:r>
            <a:r>
              <a:rPr lang="en-US" altLang="en-US" sz="2000">
                <a:sym typeface="+mn-ea"/>
              </a:rPr>
              <a:t>Journals &amp; Magazines, IEEE Access, Volume: 12</a:t>
            </a:r>
            <a:endParaRPr lang="en-US" altLang="en-US" sz="200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3</a:t>
            </a:r>
            <a:r>
              <a:rPr lang="en-IN" sz="2000" dirty="0">
                <a:sym typeface="+mn-ea"/>
              </a:rPr>
              <a:t>] A. Vázquez-Rodríguez, J. L. Hernández-Ramos, A. J. Jara, and A. F. </a:t>
            </a:r>
            <a:r>
              <a:rPr lang="en-IN" sz="2000" dirty="0" err="1">
                <a:sym typeface="+mn-ea"/>
              </a:rPr>
              <a:t>Skarmeta</a:t>
            </a:r>
            <a:r>
              <a:rPr lang="en-IN" sz="2000" dirty="0">
                <a:sym typeface="+mn-ea"/>
              </a:rPr>
              <a:t>, "CNFP: Optimizing </a:t>
            </a:r>
            <a:r>
              <a:rPr altLang="en-IN" sz="2000" dirty="0">
                <a:sym typeface="+mn-ea"/>
              </a:rPr>
              <a:t>backend</a:t>
            </a:r>
            <a:r>
              <a:rPr lang="en-IN" sz="2000" dirty="0">
                <a:sym typeface="+mn-ea"/>
              </a:rPr>
              <a:t>-Native </a:t>
            </a:r>
            <a:r>
              <a:rPr altLang="en-IN" sz="2000" dirty="0">
                <a:sym typeface="+mn-ea"/>
              </a:rPr>
              <a:t>quantisation </a:t>
            </a:r>
            <a:r>
              <a:rPr lang="en-IN" sz="2000" dirty="0">
                <a:sym typeface="+mn-ea"/>
              </a:rPr>
              <a:t> Function Placement with Diffusion Models </a:t>
            </a:r>
            <a:r>
              <a:rPr altLang="en-IN" sz="2000" dirty="0">
                <a:sym typeface="+mn-ea"/>
              </a:rPr>
              <a:t>with proper optimisation</a:t>
            </a:r>
            <a:r>
              <a:rPr lang="en-IN" sz="2000" dirty="0">
                <a:sym typeface="+mn-ea"/>
              </a:rPr>
              <a:t>," </a:t>
            </a:r>
            <a:r>
              <a:rPr lang="en-IN" sz="2000" i="1" dirty="0" err="1">
                <a:sym typeface="+mn-ea"/>
              </a:rPr>
              <a:t>arXiv</a:t>
            </a:r>
            <a:r>
              <a:rPr lang="en-IN" sz="2000" i="1" dirty="0">
                <a:sym typeface="+mn-ea"/>
              </a:rPr>
              <a:t> preprint arXiv:2508.1</a:t>
            </a:r>
            <a:r>
              <a:rPr altLang="en-IN" sz="2000" i="1" dirty="0">
                <a:sym typeface="+mn-ea"/>
              </a:rPr>
              <a:t>12</a:t>
            </a:r>
            <a:r>
              <a:rPr lang="en-IN" sz="2000" i="1" dirty="0">
                <a:sym typeface="+mn-ea"/>
              </a:rPr>
              <a:t>65</a:t>
            </a:r>
            <a:r>
              <a:rPr lang="en-IN" sz="2000" dirty="0">
                <a:sym typeface="+mn-ea"/>
              </a:rPr>
              <a:t>, 202</a:t>
            </a:r>
            <a:r>
              <a:rPr altLang="en-IN" sz="2000" dirty="0">
                <a:sym typeface="+mn-ea"/>
              </a:rPr>
              <a:t>4</a:t>
            </a:r>
            <a:r>
              <a:rPr lang="en-IN" sz="2000" dirty="0">
                <a:sym typeface="+mn-ea"/>
              </a:rPr>
              <a:t>.</a:t>
            </a:r>
            <a:endParaRPr lang="en-IN" sz="2000" dirty="0"/>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4</a:t>
            </a:r>
            <a:r>
              <a:rPr lang="en-IN" sz="2000" dirty="0">
                <a:sym typeface="+mn-ea"/>
              </a:rPr>
              <a:t>]</a:t>
            </a:r>
            <a:r>
              <a:rPr lang="en-IN" sz="2000" dirty="0">
                <a:sym typeface="+mn-ea"/>
              </a:rPr>
              <a:t> W. L. Hamilton, R. Ying, and J. Leskovec, "Inductive Re</a:t>
            </a:r>
            <a:r>
              <a:rPr altLang="en-IN" sz="2000" dirty="0">
                <a:sym typeface="+mn-ea"/>
              </a:rPr>
              <a:t>currence </a:t>
            </a:r>
            <a:r>
              <a:rPr lang="en-IN" sz="2000" dirty="0">
                <a:sym typeface="+mn-ea"/>
              </a:rPr>
              <a:t>Learning on </a:t>
            </a:r>
            <a:r>
              <a:rPr altLang="en-IN" sz="2000" dirty="0">
                <a:sym typeface="+mn-ea"/>
              </a:rPr>
              <a:t>Mental Health</a:t>
            </a:r>
            <a:r>
              <a:rPr lang="en-IN" sz="2000" dirty="0">
                <a:sym typeface="+mn-ea"/>
              </a:rPr>
              <a:t>," </a:t>
            </a:r>
            <a:r>
              <a:rPr lang="en-IN" sz="2000" i="1" dirty="0">
                <a:sym typeface="+mn-ea"/>
              </a:rPr>
              <a:t>Advances in </a:t>
            </a:r>
            <a:r>
              <a:rPr altLang="en-IN" sz="2000" i="1" dirty="0">
                <a:sym typeface="+mn-ea"/>
              </a:rPr>
              <a:t>MLOps </a:t>
            </a:r>
            <a:r>
              <a:rPr lang="en-IN" sz="2000" i="1" dirty="0">
                <a:sym typeface="+mn-ea"/>
              </a:rPr>
              <a:t> (</a:t>
            </a:r>
            <a:r>
              <a:rPr altLang="en-IN" sz="2000" i="1" dirty="0">
                <a:sym typeface="+mn-ea"/>
              </a:rPr>
              <a:t>Algorithms</a:t>
            </a:r>
            <a:r>
              <a:rPr lang="en-IN" sz="2000" i="1" dirty="0">
                <a:sym typeface="+mn-ea"/>
              </a:rPr>
              <a:t>)</a:t>
            </a:r>
            <a:r>
              <a:rPr lang="en-IN" sz="2000" dirty="0">
                <a:sym typeface="+mn-ea"/>
              </a:rPr>
              <a:t>, Vol. 30, 20</a:t>
            </a:r>
            <a:r>
              <a:rPr altLang="en-IN" sz="2000" dirty="0">
                <a:sym typeface="+mn-ea"/>
              </a:rPr>
              <a:t>23</a:t>
            </a:r>
            <a:r>
              <a:rPr lang="en-IN" sz="2000" dirty="0">
                <a:sym typeface="+mn-ea"/>
              </a:rPr>
              <a:t>.</a:t>
            </a:r>
            <a:endParaRPr lang="en-IN" sz="20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5</a:t>
            </a:r>
            <a:r>
              <a:rPr lang="en-IN" sz="2000" dirty="0">
                <a:sym typeface="+mn-ea"/>
              </a:rPr>
              <a:t>] I. Bello, H. Pham, Q. V. Le, M. Norouzi, and S. Bengio, "Neural Combinatorial Optimization with Reinforcement Learning," </a:t>
            </a:r>
            <a:r>
              <a:rPr lang="en-IN" sz="2000" i="1" dirty="0" err="1">
                <a:sym typeface="+mn-ea"/>
              </a:rPr>
              <a:t>arXiv</a:t>
            </a:r>
            <a:r>
              <a:rPr lang="en-IN" sz="2000" i="1" dirty="0">
                <a:sym typeface="+mn-ea"/>
              </a:rPr>
              <a:t> preprint arXiv:1611.09940</a:t>
            </a:r>
            <a:r>
              <a:rPr lang="en-IN" sz="2000" dirty="0">
                <a:sym typeface="+mn-ea"/>
              </a:rPr>
              <a:t>, 20</a:t>
            </a:r>
            <a:r>
              <a:rPr altLang="en-IN" sz="2000" dirty="0">
                <a:sym typeface="+mn-ea"/>
              </a:rPr>
              <a:t>21</a:t>
            </a:r>
            <a:r>
              <a:rPr lang="en-IN" sz="2000" dirty="0">
                <a:sym typeface="+mn-ea"/>
              </a:rPr>
              <a:t>.</a:t>
            </a:r>
            <a:r>
              <a:rPr altLang="en-US" sz="2000">
                <a:sym typeface="+mn-ea"/>
              </a:rPr>
              <a:t> </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sym typeface="+mn-ea"/>
              </a:rPr>
              <a:t>[6]P. Penava and R. Buettner, 'Early-Stage Non-Severe Depression Detection Using a Novel Convolutional Neural Network Approach Based on Resting-State EEG Data,' IEEE Access, vol. 12, pp. 173380-173389, 2024.</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[7] A. Dev et al., 'Exploration of EEG-based depression biomarkers identification techniques and their applications: A systematic review,' IEEE Access, vol. 10, pp. 16756-16781, 2022</a:t>
            </a:r>
            <a:endParaRPr lang="en-US" altLang="en-US" sz="200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200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6990" y="116840"/>
            <a:ext cx="2787650" cy="77660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Conclusion:</a:t>
            </a:r>
            <a:endParaRPr lang="en-IN" sz="3600" b="1" u="none" strike="noStrike">
              <a:solidFill>
                <a:srgbClr val="FF0000"/>
              </a:solidFill>
              <a:effectLst/>
              <a:uFillTx/>
              <a:latin typeface="Times New Roman" panose="02020603050405020304"/>
            </a:endParaRPr>
          </a:p>
        </p:txBody>
      </p:sp>
      <p:sp>
        <p:nvSpPr>
          <p:cNvPr id="88" name="PlaceHolder 2"/>
          <p:cNvSpPr>
            <a:spLocks noGrp="1"/>
          </p:cNvSpPr>
          <p:nvPr>
            <p:ph/>
          </p:nvPr>
        </p:nvSpPr>
        <p:spPr>
          <a:xfrm>
            <a:off x="408940" y="1023620"/>
            <a:ext cx="10944225" cy="4810125"/>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altLang="en-US" sz="2000" b="0" u="none" strike="noStrike">
                <a:solidFill>
                  <a:schemeClr val="dk1"/>
                </a:solidFill>
                <a:effectLst/>
                <a:uFillTx/>
                <a:latin typeface="Calibri" panose="020F0502020204030204"/>
              </a:rPr>
              <a:t>This prototype is currently around 35% complete, with the core architecture — BERT/DistilBERT encoder, tokenizer, 4-class risk classification head, and a working FastAPI/Streamlit interface — fully functional end-to-end. However, the classification head remains untrained on labeled clinical data, so the system cannot yet produce a reliable, clinically validated accuracy figure; the 70% (fine-tuned model) and 90% (full system) numbers referenced in this report are roadmap targets rather than achieved results. Explainability is only partially realized: attention-based and basic SHAP-style token scoring are functional, but deeper techniques such as full SHAP, BertViz, and TCAV concept probing are not yet implemented, limiting how completely the model's reasoning can currently be audited. Combined with the lack of dataset diversity, clinical validation, and on-device deployment optimization, this means the system is not yet suitable for real-world or clinical use. Closing these gaps — through supervised fine-tuning, expanded XAI coverage, model compression for on-device inference, and structured clinical evaluation — is the necessary next phase before this prototype can responsibly function as a decision-support tool.</a:t>
            </a:r>
            <a:endParaRPr lang="en-US" altLang="en-US" sz="20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12854</Words>
  <Application>WPS Presentation</Application>
  <PresentationFormat/>
  <Paragraphs>315</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MODEL EXPLANATION:</vt:lpstr>
      <vt:lpstr>LIVE DEMO: RISK PREDICTION OUTPUT</vt:lpstr>
      <vt:lpstr>DEMO: MULTI-LAYER EXPLAINABILITY</vt:lpstr>
      <vt:lpstr>EXPECTED OUTPUT:</vt:lpstr>
      <vt:lpstr>LITERATURE ANALYSIS:</vt:lpstr>
      <vt:lpstr>Research Limitations:</vt:lpstr>
      <vt:lpstr>References: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 Dhar</cp:lastModifiedBy>
  <cp:revision>207</cp:revision>
  <dcterms:created xsi:type="dcterms:W3CDTF">2006-08-16T00:00:00Z</dcterms:created>
  <dcterms:modified xsi:type="dcterms:W3CDTF">2026-09-16T12:04:13Z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1A001A3F13EA4F869DD0C48C46A91FF0_13</vt:lpwstr>
  </property>
  <property fmtid="{D5CDD505-2E9C-101B-9397-08002B2CF9AE}" pid="4" name="KSOProductBuildVer">
    <vt:lpwstr>1033-12.1.0.28485</vt:lpwstr>
  </property>
  <property fmtid="{D5CDD505-2E9C-101B-9397-08002B2CF9AE}" pid="5" name="PresentationFormat">
    <vt:lpwstr>Widescreen</vt:lpwstr>
  </property>
  <property fmtid="{D5CDD505-2E9C-101B-9397-08002B2CF9AE}" pid="6" name="Slides">
    <vt:i4>13</vt:i4>
  </property>
</Properties>
</file>